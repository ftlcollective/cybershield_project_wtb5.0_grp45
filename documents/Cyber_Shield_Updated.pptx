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0" y="0"/>
                </a:moveTo>
                <a:lnTo>
                  <a:pt x="0" y="0"/>
                </a:lnTo>
                <a:lnTo>
                  <a:pt x="0" y="7560000"/>
                </a:lnTo>
                <a:lnTo>
                  <a:pt x="10692000" y="7560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505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4000" y="287999"/>
            <a:ext cx="6984000" cy="6984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0692130" cy="504190"/>
          </a:xfrm>
          <a:custGeom>
            <a:avLst/>
            <a:gdLst/>
            <a:ahLst/>
            <a:cxnLst/>
            <a:rect l="l" t="t" r="r" b="b"/>
            <a:pathLst>
              <a:path w="10692130" h="504190">
                <a:moveTo>
                  <a:pt x="10692000" y="0"/>
                </a:moveTo>
                <a:lnTo>
                  <a:pt x="0" y="0"/>
                </a:lnTo>
                <a:lnTo>
                  <a:pt x="0" y="504000"/>
                </a:lnTo>
                <a:lnTo>
                  <a:pt x="10692000" y="504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303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3299" y="7352575"/>
            <a:ext cx="31959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905179" y="7352575"/>
            <a:ext cx="2241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mailto:Osazeeaimua@gmail.com" TargetMode="External"/><Relationship Id="rId5" Type="http://schemas.openxmlformats.org/officeDocument/2006/relationships/hyperlink" Target="mailto:alinafemanyamba03@gmail.com" TargetMode="External"/><Relationship Id="rId6" Type="http://schemas.openxmlformats.org/officeDocument/2006/relationships/hyperlink" Target="mailto:Hafsatmuhammad2020@gmail.com" TargetMode="External"/><Relationship Id="rId7" Type="http://schemas.openxmlformats.org/officeDocument/2006/relationships/hyperlink" Target="mailto:Mariamdamoladamola@gmail.com" TargetMode="External"/><Relationship Id="rId8" Type="http://schemas.openxmlformats.org/officeDocument/2006/relationships/hyperlink" Target="mailto:Fathiabello48@gmail.com" TargetMode="External"/><Relationship Id="rId9" Type="http://schemas.openxmlformats.org/officeDocument/2006/relationships/hyperlink" Target="mailto:dyakoputumeka36@gmail.com" TargetMode="External"/><Relationship Id="rId10" Type="http://schemas.openxmlformats.org/officeDocument/2006/relationships/hyperlink" Target="mailto:tasneem@live.com" TargetMode="External"/><Relationship Id="rId11" Type="http://schemas.openxmlformats.org/officeDocument/2006/relationships/hyperlink" Target="mailto:tinotendaphyllis@gmail.com" TargetMode="External"/><Relationship Id="rId12" Type="http://schemas.openxmlformats.org/officeDocument/2006/relationships/hyperlink" Target="mailto:Agwunchacynthia12@gmail.com" TargetMode="External"/><Relationship Id="rId13" Type="http://schemas.openxmlformats.org/officeDocument/2006/relationships/hyperlink" Target="mailto:Njemanzeadaobi@gmail.com" TargetMode="External"/><Relationship Id="rId14" Type="http://schemas.openxmlformats.org/officeDocument/2006/relationships/hyperlink" Target="mailto:deejonsen23@gmail.com" TargetMode="External"/><Relationship Id="rId15" Type="http://schemas.openxmlformats.org/officeDocument/2006/relationships/hyperlink" Target="mailto:julietchidiogo3@gmail.com" TargetMode="External"/><Relationship Id="rId16" Type="http://schemas.openxmlformats.org/officeDocument/2006/relationships/hyperlink" Target="mailto:bububekee@gmail.com" TargetMode="External"/><Relationship Id="rId17" Type="http://schemas.openxmlformats.org/officeDocument/2006/relationships/hyperlink" Target="mailto:nanamasante@hmail.com" TargetMode="External"/><Relationship Id="rId18" Type="http://schemas.openxmlformats.org/officeDocument/2006/relationships/hyperlink" Target="mailto:purinewambita@gmail.com" TargetMode="Externa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_contrib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01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2540" y="1619998"/>
            <a:ext cx="10697210" cy="5940425"/>
            <a:chOff x="-2540" y="1619998"/>
            <a:chExt cx="10697210" cy="594042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9999" y="1619998"/>
              <a:ext cx="1872000" cy="1872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8820" y="3521699"/>
            <a:ext cx="222059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WOMEN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TECHSTERS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BOOTCAMP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BY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A78AF9"/>
                </a:solidFill>
                <a:latin typeface="Courier New"/>
                <a:cs typeface="Courier New"/>
              </a:rPr>
              <a:t>TECH4DEV</a:t>
            </a:r>
            <a:endParaRPr sz="800">
              <a:latin typeface="Courier New"/>
              <a:cs typeface="Courier New"/>
            </a:endParaRPr>
          </a:p>
          <a:p>
            <a:pPr algn="r" marR="3175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GROUP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45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CAPSTONE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PROJECT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3685" y="3521699"/>
            <a:ext cx="86042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·</a:t>
            </a:r>
            <a:r>
              <a:rPr dirty="0" sz="800" spc="49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COHORT</a:t>
            </a:r>
            <a:r>
              <a:rPr dirty="0" sz="800" spc="1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25">
                <a:solidFill>
                  <a:srgbClr val="A78AF9"/>
                </a:solidFill>
                <a:latin typeface="Courier New"/>
                <a:cs typeface="Courier New"/>
              </a:rPr>
              <a:t>5.0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4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6474" y="4022474"/>
            <a:ext cx="4339590" cy="19050"/>
            <a:chOff x="3176474" y="4022474"/>
            <a:chExt cx="4339590" cy="19050"/>
          </a:xfrm>
        </p:grpSpPr>
        <p:sp>
          <p:nvSpPr>
            <p:cNvPr id="12" name="object 12"/>
            <p:cNvSpPr/>
            <p:nvPr/>
          </p:nvSpPr>
          <p:spPr>
            <a:xfrm>
              <a:off x="318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1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2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8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8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4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4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1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2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7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8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5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0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86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1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6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2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7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3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8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3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9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4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0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5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0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6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7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2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7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83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8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04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1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1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2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31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3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42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47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58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64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6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5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8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8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91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9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1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07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1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18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2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2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34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3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45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2874961" y="3898899"/>
            <a:ext cx="49428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7615" algn="l"/>
              </a:tabLst>
            </a:pP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5200" b="1">
                <a:solidFill>
                  <a:srgbClr val="00C8FF"/>
                </a:solidFill>
                <a:latin typeface="Arial"/>
                <a:cs typeface="Arial"/>
              </a:rPr>
              <a:t xml:space="preserve">	</a:t>
            </a: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SHIELD</a:t>
            </a:r>
            <a:endParaRPr sz="5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282189" y="4744379"/>
            <a:ext cx="5051425" cy="2315845"/>
            <a:chOff x="2282189" y="4744379"/>
            <a:chExt cx="5051425" cy="2315845"/>
          </a:xfrm>
        </p:grpSpPr>
        <p:sp>
          <p:nvSpPr>
            <p:cNvPr id="94" name="object 94"/>
            <p:cNvSpPr/>
            <p:nvPr/>
          </p:nvSpPr>
          <p:spPr>
            <a:xfrm>
              <a:off x="336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1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46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51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56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61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66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71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76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1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6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1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5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0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5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10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158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20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5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30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35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40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45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504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55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60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65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70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75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80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85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90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95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99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04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098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14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19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24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29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34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39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445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49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54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59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64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69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74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79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841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89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93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8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03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08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13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618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23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28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33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38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43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48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53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58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63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68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73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78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83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88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93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97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702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07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717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722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27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4071936" y="4898199"/>
            <a:ext cx="2548255" cy="50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A78AF9"/>
                </a:solidFill>
                <a:latin typeface="Arial"/>
                <a:cs typeface="Arial"/>
              </a:rPr>
              <a:t xml:space="preserve">HUMAN FIREWALL </a:t>
            </a:r>
            <a:r>
              <a:rPr dirty="0" sz="1300" spc="-1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AI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Scam Simulator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+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Immunity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 spc="-10">
                <a:solidFill>
                  <a:srgbClr val="336687"/>
                </a:solidFill>
                <a:latin typeface="Arial"/>
                <a:cs typeface="Arial"/>
              </a:rPr>
              <a:t>Trainer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788099" y="6840049"/>
            <a:ext cx="9404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SDG 4</a:t>
            </a:r>
            <a:r>
              <a:rPr dirty="0" sz="750" spc="4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EDUCATION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4370189" y="6728190"/>
            <a:ext cx="1951989" cy="332105"/>
            <a:chOff x="4370189" y="6728190"/>
            <a:chExt cx="1951989" cy="332105"/>
          </a:xfrm>
        </p:grpSpPr>
        <p:sp>
          <p:nvSpPr>
            <p:cNvPr id="179" name="object 179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4847525" y="6840049"/>
            <a:ext cx="9975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A854F6"/>
                </a:solidFill>
                <a:latin typeface="Courier New"/>
                <a:cs typeface="Courier New"/>
              </a:rPr>
              <a:t>SDG 9</a:t>
            </a:r>
            <a:r>
              <a:rPr dirty="0" sz="750" spc="450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A854F6"/>
                </a:solidFill>
                <a:latin typeface="Courier New"/>
                <a:cs typeface="Courier New"/>
              </a:rPr>
              <a:t>INNOVATION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6458189" y="6728190"/>
            <a:ext cx="1951989" cy="332105"/>
            <a:chOff x="6458189" y="6728190"/>
            <a:chExt cx="1951989" cy="332105"/>
          </a:xfrm>
        </p:grpSpPr>
        <p:sp>
          <p:nvSpPr>
            <p:cNvPr id="183" name="object 183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19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6992674" y="6840049"/>
            <a:ext cx="8832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5B5D4"/>
                </a:solidFill>
                <a:latin typeface="Courier New"/>
                <a:cs typeface="Courier New"/>
              </a:rPr>
              <a:t>SDG 16</a:t>
            </a:r>
            <a:r>
              <a:rPr dirty="0" sz="750" spc="450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5B5D4"/>
                </a:solidFill>
                <a:latin typeface="Courier New"/>
                <a:cs typeface="Courier New"/>
              </a:rPr>
              <a:t>JUSTICE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6" name="object 1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87" name="object 1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0" cy="7559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4000" y="287999"/>
              <a:ext cx="6984000" cy="698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692130" cy="504190"/>
            </a:xfrm>
            <a:custGeom>
              <a:avLst/>
              <a:gdLst/>
              <a:ahLst/>
              <a:cxnLst/>
              <a:rect l="l" t="t" r="r" b="b"/>
              <a:pathLst>
                <a:path w="10692130" h="504190">
                  <a:moveTo>
                    <a:pt x="1069200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10692000" y="504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02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11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7273659"/>
            <a:ext cx="10692130" cy="286385"/>
            <a:chOff x="0" y="7273659"/>
            <a:chExt cx="10692130" cy="286385"/>
          </a:xfrm>
        </p:grpSpPr>
        <p:sp>
          <p:nvSpPr>
            <p:cNvPr id="11" name="object 11"/>
            <p:cNvSpPr/>
            <p:nvPr/>
          </p:nvSpPr>
          <p:spPr>
            <a:xfrm>
              <a:off x="0" y="7276199"/>
              <a:ext cx="10692130" cy="283845"/>
            </a:xfrm>
            <a:custGeom>
              <a:avLst/>
              <a:gdLst/>
              <a:ahLst/>
              <a:cxnLst/>
              <a:rect l="l" t="t" r="r" b="b"/>
              <a:pathLst>
                <a:path w="10692130" h="283845">
                  <a:moveTo>
                    <a:pt x="10692000" y="0"/>
                  </a:moveTo>
                  <a:lnTo>
                    <a:pt x="0" y="0"/>
                  </a:lnTo>
                  <a:lnTo>
                    <a:pt x="0" y="283800"/>
                  </a:lnTo>
                  <a:lnTo>
                    <a:pt x="10692000" y="2838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72761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3299" y="524869"/>
            <a:ext cx="1966595" cy="5162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//</a:t>
            </a:r>
            <a:r>
              <a:rPr dirty="0" sz="800" spc="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GROUP</a:t>
            </a:r>
            <a:r>
              <a:rPr dirty="0" sz="800" spc="1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00" spc="49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—</a:t>
            </a:r>
            <a:r>
              <a:rPr dirty="0" sz="800" spc="49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00C8FF"/>
                </a:solidFill>
                <a:latin typeface="Courier New"/>
                <a:cs typeface="Courier New"/>
              </a:rPr>
              <a:t>TEAM</a:t>
            </a:r>
            <a:r>
              <a:rPr dirty="0" sz="800" spc="1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00C8FF"/>
                </a:solidFill>
                <a:latin typeface="Courier New"/>
                <a:cs typeface="Courier New"/>
              </a:rPr>
              <a:t>MEMBERS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Meet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200" spc="-4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200" spc="-20" b="1">
                <a:solidFill>
                  <a:srgbClr val="00C8FF"/>
                </a:solidFill>
                <a:latin typeface="Arial"/>
                <a:cs typeface="Arial"/>
              </a:rPr>
              <a:t>Team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86919" y="1036379"/>
            <a:ext cx="730250" cy="15240"/>
            <a:chOff x="1786919" y="1036379"/>
            <a:chExt cx="730250" cy="15240"/>
          </a:xfrm>
        </p:grpSpPr>
        <p:sp>
          <p:nvSpPr>
            <p:cNvPr id="15" name="object 15"/>
            <p:cNvSpPr/>
            <p:nvPr/>
          </p:nvSpPr>
          <p:spPr>
            <a:xfrm>
              <a:off x="178691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9604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0516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1428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2340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3253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4165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5077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5989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6902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7814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8726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9638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0551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1463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2375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93287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4200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5112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6024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6936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7848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8761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9673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00585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01497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02410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03322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04234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5146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6059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6971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7883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8795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9708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10620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11532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12444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3357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4269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5181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6093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7006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7918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8830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9742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20655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21567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2479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3391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4303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5216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6128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7040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952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865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777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689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601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14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426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3386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250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1631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075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7987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88998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39812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07243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1636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2548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34610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4373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52855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6197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47109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480222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489344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498467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507589" y="1036379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9122" y="15240"/>
                  </a:lnTo>
                  <a:lnTo>
                    <a:pt x="9122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5" name="object 95"/>
          <p:cNvGraphicFramePr>
            <a:graphicFrameLocks noGrp="1"/>
          </p:cNvGraphicFramePr>
          <p:nvPr/>
        </p:nvGraphicFramePr>
        <p:xfrm>
          <a:off x="575999" y="1366095"/>
          <a:ext cx="9616440" cy="429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75"/>
                <a:gridCol w="2273935"/>
                <a:gridCol w="3306445"/>
                <a:gridCol w="3738879"/>
              </a:tblGrid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 xml:space="preserve">FULL </a:t>
                      </a:r>
                      <a:r>
                        <a:rPr dirty="0" sz="750" spc="-2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 xml:space="preserve">EMAIL </a:t>
                      </a:r>
                      <a:r>
                        <a:rPr dirty="0" sz="750" spc="-1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ADDRESS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 xml:space="preserve">STUDENT </a:t>
                      </a: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solidFill>
                      <a:srgbClr val="002144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Osazee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Osaghae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32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4"/>
                        </a:rPr>
                        <a:t>Osazeeaimua@gmail.com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WTB/2026/5.0/1183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6675"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Alinafe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Milley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Manyamba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5"/>
                        </a:rPr>
                        <a:t>alinafemanyamba03@gmail.com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WTB/2026/5.0/0135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Muhammad</a:t>
                      </a:r>
                      <a:r>
                        <a:rPr dirty="0" sz="8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Hafsat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6"/>
                        </a:rPr>
                        <a:t>Hafsatmuhammad2020@gmail.com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WTB/2026/5.0/0184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Oyedunmade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Mariam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Damola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7"/>
                        </a:rPr>
                        <a:t>Mariamdamoladamola@gmail.com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WTB/2026/5.0/1891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Bello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Fathia</a:t>
                      </a:r>
                      <a:r>
                        <a:rPr dirty="0" sz="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Ayomide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8"/>
                        </a:rPr>
                        <a:t>Fathiabello48@gmail.com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WTB/2026/5.0/1439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Tumeka</a:t>
                      </a:r>
                      <a:r>
                        <a:rPr dirty="0" sz="8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Dyakopu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9"/>
                        </a:rPr>
                        <a:t>dyakoputumeka36@gmail.com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WTB/2026/5.0/1075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Tasneem</a:t>
                      </a:r>
                      <a:r>
                        <a:rPr dirty="0" sz="8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Mahomed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0"/>
                        </a:rPr>
                        <a:t>tasneem@live.com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WTB/2026/5.0/0046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Machiridza</a:t>
                      </a:r>
                      <a:r>
                        <a:rPr dirty="0" sz="8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Tinotenda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1"/>
                        </a:rPr>
                        <a:t>tinotendaphyllis@gmail.com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WTB/2026/5.0/2719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Cynthia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Agwuncha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2"/>
                        </a:rPr>
                        <a:t>Agwunchacynthia12@gmail.com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WTB/2026/5.0/2313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Njemanze</a:t>
                      </a:r>
                      <a:r>
                        <a:rPr dirty="0" sz="8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Adadobi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3"/>
                        </a:rPr>
                        <a:t>Njemanzeadaobi@gmail.com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WTB/2026/5.0/2601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Dorcas</a:t>
                      </a:r>
                      <a:r>
                        <a:rPr dirty="0" sz="8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Johnson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4"/>
                        </a:rPr>
                        <a:t>deejonsen23@gmail.com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WTB/2026/5.0/2663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Juliet</a:t>
                      </a:r>
                      <a:r>
                        <a:rPr dirty="0" sz="8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Chidiogo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Okonkwo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5"/>
                        </a:rPr>
                        <a:t>julietchidiogo3@gmail.com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WTB/2026/5.0/1691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Chibuzor</a:t>
                      </a:r>
                      <a:r>
                        <a:rPr dirty="0" sz="8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Stella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Bekee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6"/>
                        </a:rPr>
                        <a:t>bububekee@gmail.com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WTB/2026/5.0/0018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Agnes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Asante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7"/>
                        </a:rPr>
                        <a:t>nanamasante@hmail.com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WTB/2026/5.0/0651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Purine</a:t>
                      </a: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 xml:space="preserve"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Wambita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  <a:hlinkClick r:id="rId18"/>
                        </a:rPr>
                        <a:t>purinewambita@gmail.com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WTB/2026/5.0/2460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Helen Amuche Okeke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</a:rPr>
                        <a:t>nellie869@yahoo.com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WTB/2026/5.0/2158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0C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Daramola Opeyemi Oyindamolami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</a:rPr>
                        <a:t>daramolaopeyemi65@gmail.com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WTB/2026/5.0/2146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3175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25">
                          <a:solidFill>
                            <a:srgbClr val="00C8FF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Odumade Aishat Abiola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AACCED"/>
                          </a:solidFill>
                          <a:latin typeface="Arial"/>
                          <a:cs typeface="Arial"/>
                        </a:rPr>
                        <a:t>orilonise1986@gmail.com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  <a:tc>
                  <a:txBody>
                    <a:bodyPr/>
                    <a:lstStyle/>
                    <a:p>
                      <a:pPr marL="103949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750" spc="-10">
                          <a:solidFill>
                            <a:srgbClr val="05B5D4"/>
                          </a:solidFill>
                          <a:latin typeface="Courier New"/>
                          <a:cs typeface="Courier New"/>
                        </a:rPr>
                        <a:t>WTB/2026/5.0/0077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7310">
                    <a:lnT w="3175">
                      <a:solidFill>
                        <a:srgbClr val="0A2A3F"/>
                      </a:solidFill>
                      <a:prstDash val="solid"/>
                    </a:lnT>
                    <a:lnB w="6350">
                      <a:solidFill>
                        <a:srgbClr val="0A2A3F"/>
                      </a:solidFill>
                      <a:prstDash val="solid"/>
                    </a:lnB>
                    <a:solidFill>
                      <a:srgbClr val="00182F"/>
                    </a:solidFill>
                  </a:tcPr>
                </a:tc>
              </a:tr>
            </a:tbl>
          </a:graphicData>
        </a:graphic>
      </p:graphicFrame>
      <p:sp>
        <p:nvSpPr>
          <p:cNvPr id="96" name="object 9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8280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page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  <p:sp>
        <p:nvSpPr>
          <p:cNvPr id="10" name="new_members_overlay"/>
          <p:cNvSpPr txBox="1"/>
          <p:nvPr/>
        </p:nvSpPr>
        <p:spPr>
          <a:xfrm>
            <a:off x="254000" y="5334000"/>
            <a:ext cx="10185400" cy="2100000"/>
          </a:xfrm>
          <a:prstGeom prst="rect">
            <a:avLst/>
          </a:prstGeom>
          <a:solidFill>
            <a:srgbClr val="010C1A">
              <a:alpha val="92000"/>
            </a:srgbClr>
          </a:solidFill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700" b="1">
                <a:solidFill>
                  <a:srgbClr val="00C8FF"/>
                </a:solidFill>
                <a:latin typeface="Arial"/>
              </a:rPr>
              <a:t>Helen Amuche Okeke</a:t>
            </a:r>
            <a:r>
              <a:rPr dirty="0" sz="650">
                <a:solidFill>
                  <a:srgbClr val="AACCED"/>
                </a:solidFill>
                <a:latin typeface="Arial"/>
              </a:rPr>
              <a:t xml:space="preserve">    Actively participated throughout the project, contributed ideas and input, helped shape the game concept, and made consistent effort to attend and engage in meetings.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700" b="1">
                <a:solidFill>
                  <a:srgbClr val="00C8FF"/>
                </a:solidFill>
                <a:latin typeface="Arial"/>
              </a:rPr>
              <a:t>Daramola Opeyemi Oyindamolami</a:t>
            </a:r>
            <a:r>
              <a:rPr dirty="0" sz="650">
                <a:solidFill>
                  <a:srgbClr val="AACCED"/>
                </a:solidFill>
                <a:latin typeface="Arial"/>
              </a:rPr>
              <a:t xml:space="preserve">    Actively participated throughout the project, contributed ideas and input, helped shape the game concept, and made consistent effort to attend and engage in meetings.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700" b="1">
                <a:solidFill>
                  <a:srgbClr val="00C8FF"/>
                </a:solidFill>
                <a:latin typeface="Arial"/>
              </a:rPr>
              <a:t>Odumade Aishat Abiola</a:t>
            </a:r>
            <a:r>
              <a:rPr dirty="0" sz="650">
                <a:solidFill>
                  <a:srgbClr val="AACCED"/>
                </a:solidFill>
                <a:latin typeface="Arial"/>
              </a:rPr>
              <a:t xml:space="preserve">    Actively participated throughout the project, contributed ideas and input, helped shape the game concept, and made consistent effort to attend and engage in meetings.</a:t>
            </a:r>
          </a:p>
        </p:txBody>
      </p:sp>
    </p:spTree>
  </p:cSld>
  <p:clrMapOvr>
    <a:masterClr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03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3959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THE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PROBLEM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5540" y="1127649"/>
            <a:ext cx="1101090" cy="12700"/>
            <a:chOff x="2845540" y="1127649"/>
            <a:chExt cx="1101090" cy="12700"/>
          </a:xfrm>
        </p:grpSpPr>
        <p:sp>
          <p:nvSpPr>
            <p:cNvPr id="10" name="object 10"/>
            <p:cNvSpPr/>
            <p:nvPr/>
          </p:nvSpPr>
          <p:spPr>
            <a:xfrm>
              <a:off x="28455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592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730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68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005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143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808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4184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5560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93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831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968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06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243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381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519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656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7942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9318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069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206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44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1482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619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757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894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032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170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307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445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582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20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2857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2995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133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3270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408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3545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3683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820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958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096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233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371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508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646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784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921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059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196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334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471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5609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747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5884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022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159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297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6434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6572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6710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847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985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7122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7260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7398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535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7673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810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79483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80859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82235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361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8498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636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8773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911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9048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186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324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819213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Online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becoming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increasingly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sophisticated.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human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factor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remains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weakest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link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most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training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boring,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passive,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forgettable.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3090545" cy="1374775"/>
            <a:chOff x="572824" y="2048824"/>
            <a:chExt cx="3090545" cy="1374775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>FINANCIAL</a:t>
            </a:r>
            <a:r>
              <a:rPr dirty="0" sz="85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LOSSES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Cybercrime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costs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Africa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billions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annually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 xml:space="preserve">phishing,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identity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theft.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800825" y="2048824"/>
            <a:ext cx="3090545" cy="1374775"/>
            <a:chOff x="3800825" y="2048824"/>
            <a:chExt cx="3090545" cy="1374775"/>
          </a:xfrm>
        </p:grpSpPr>
        <p:sp>
          <p:nvSpPr>
            <p:cNvPr id="178" name="object 178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804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840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 xml:space="preserve">HUMAN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ERROR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Over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70%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of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attacks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exploit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not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technical</a:t>
            </a:r>
            <a:r>
              <a:rPr dirty="0" sz="800" spc="-3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vulnerabilities.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7028825" y="2048824"/>
            <a:ext cx="3090545" cy="1374775"/>
            <a:chOff x="7028825" y="2048824"/>
            <a:chExt cx="3090545" cy="1374775"/>
          </a:xfrm>
        </p:grpSpPr>
        <p:sp>
          <p:nvSpPr>
            <p:cNvPr id="183" name="object 183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7032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7068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Arial"/>
                <a:cs typeface="Arial"/>
              </a:rPr>
              <a:t xml:space="preserve">INEFFECTIVE </a:t>
            </a: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TRAINING</a:t>
            </a:r>
            <a:endParaRPr sz="850">
              <a:latin typeface="Arial"/>
              <a:cs typeface="Arial"/>
            </a:endParaRPr>
          </a:p>
          <a:p>
            <a:pPr marL="142875" marR="331470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awareness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static,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theoretical,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fails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to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create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lasting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change.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72189" y="3632189"/>
            <a:ext cx="9547860" cy="584200"/>
            <a:chOff x="572189" y="3632189"/>
            <a:chExt cx="9547860" cy="584200"/>
          </a:xfrm>
        </p:grpSpPr>
        <p:sp>
          <p:nvSpPr>
            <p:cNvPr id="188" name="object 188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38100" y="576000"/>
                  </a:move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close/>
                </a:path>
              </a:pathLst>
            </a:custGeom>
            <a:ln w="7619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3039984" y="3844650"/>
            <a:ext cx="46120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 i="1">
                <a:solidFill>
                  <a:srgbClr val="00FF9C"/>
                </a:solidFill>
                <a:latin typeface="Arial"/>
                <a:cs typeface="Arial"/>
              </a:rPr>
              <a:t xml:space="preserve">"People learn best through realistic, high-stakes experience — not </a:t>
            </a:r>
            <a:r>
              <a:rPr dirty="0" sz="950" spc="-10" b="1" i="1">
                <a:solidFill>
                  <a:srgbClr val="00FF9C"/>
                </a:solidFill>
                <a:latin typeface="Arial"/>
                <a:cs typeface="Arial"/>
              </a:rPr>
              <a:t>slideshows."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191" name="object 1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2" name="object 1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04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24358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OUR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SOLUTION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Shield?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44602" y="1127649"/>
            <a:ext cx="2049780" cy="12700"/>
            <a:chOff x="1744602" y="1127649"/>
            <a:chExt cx="2049780" cy="12700"/>
          </a:xfrm>
        </p:grpSpPr>
        <p:sp>
          <p:nvSpPr>
            <p:cNvPr id="10" name="object 10"/>
            <p:cNvSpPr/>
            <p:nvPr/>
          </p:nvSpPr>
          <p:spPr>
            <a:xfrm>
              <a:off x="174460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02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9583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14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4707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726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9831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2393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4955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516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07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2640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20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764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0326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2887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5449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8011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0573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313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5697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825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0820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3382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5944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8506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106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3630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619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8753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51315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53877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6439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9001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1562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6412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6686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924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1810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437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6934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949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82057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8461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7181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9743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92305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4866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742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9990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0255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5114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7676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10238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2799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15361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7923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2048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23047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2560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8170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30732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33294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5856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841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40980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4354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46103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8665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51227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53789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56351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8913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147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4036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659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9160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71722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74284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6845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55880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AI-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powered,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gamified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escape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room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builds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genuine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immunity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against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through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simulation.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726440"/>
            <a:chOff x="572824" y="2048824"/>
            <a:chExt cx="4704715" cy="72644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PHISHING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SIMULATIONS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Realistic email,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WhatsApp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login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scenarios.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726440"/>
            <a:chOff x="5414825" y="2048824"/>
            <a:chExt cx="4704715" cy="72644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ESCAPE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ROOM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GAMEPLAY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5 escalating levels with countdown timer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pressure.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876825"/>
            <a:ext cx="4704715" cy="726440"/>
            <a:chOff x="572824" y="2876825"/>
            <a:chExt cx="4704715" cy="726440"/>
          </a:xfrm>
        </p:grpSpPr>
        <p:sp>
          <p:nvSpPr>
            <p:cNvPr id="183" name="object 183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AI BEHAVIOURAL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ENGINE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Tracks decisions and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computes your Human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Risk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Score.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876825"/>
            <a:ext cx="4704715" cy="726440"/>
            <a:chOff x="5414825" y="2876825"/>
            <a:chExt cx="4704715" cy="726440"/>
          </a:xfrm>
        </p:grpSpPr>
        <p:sp>
          <p:nvSpPr>
            <p:cNvPr id="188" name="object 188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 xml:space="preserve">REAL-TIME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FEEDBACK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Instant explanation after every decision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tips.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704824"/>
            <a:ext cx="4704715" cy="726440"/>
            <a:chOff x="572824" y="3704824"/>
            <a:chExt cx="4704715" cy="726440"/>
          </a:xfrm>
        </p:grpSpPr>
        <p:sp>
          <p:nvSpPr>
            <p:cNvPr id="193" name="object 193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BADGES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LEADERBOARD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Gamified progression system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achievements.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5414825" y="3704824"/>
            <a:ext cx="4704715" cy="726440"/>
            <a:chOff x="5414825" y="3704824"/>
            <a:chExt cx="4704715" cy="726440"/>
          </a:xfrm>
        </p:grpSpPr>
        <p:sp>
          <p:nvSpPr>
            <p:cNvPr id="198" name="object 198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418000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5454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VIRTUAL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STAKES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$50,000 in virtual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money at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— decisions have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real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cost.</a:t>
            </a:r>
            <a:endParaRPr sz="750">
              <a:latin typeface="Arial"/>
              <a:cs typeface="Arial"/>
            </a:endParaRPr>
          </a:p>
        </p:txBody>
      </p:sp>
      <p:sp>
        <p:nvSpPr>
          <p:cNvPr id="202" name="object 2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3" name="object 2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05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1762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GAME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DESIGN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5-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Escape</a:t>
            </a:r>
            <a:r>
              <a:rPr dirty="0" sz="2400" spc="-6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Room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11074" y="1127649"/>
            <a:ext cx="2016125" cy="12700"/>
            <a:chOff x="1711074" y="1127649"/>
            <a:chExt cx="2016125" cy="12700"/>
          </a:xfrm>
        </p:grpSpPr>
        <p:sp>
          <p:nvSpPr>
            <p:cNvPr id="10" name="object 10"/>
            <p:cNvSpPr/>
            <p:nvPr/>
          </p:nvSpPr>
          <p:spPr>
            <a:xfrm>
              <a:off x="171107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62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6146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866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1185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705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622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874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26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3783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630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8822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134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3861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6381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8900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1420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3939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6459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8978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1498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4018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6537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9057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1576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4096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6615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9135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1654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4174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6694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9213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1733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4252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56772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9291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1811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4330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66850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69370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1889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4409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928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9448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1967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4487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87006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89526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2046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4565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7085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99604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2124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4643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07163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09682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2202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14722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7241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19761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2280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24800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27319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29839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2358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34878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37397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9917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243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44956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4747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49995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2515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503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755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007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2593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511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67632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015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7955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level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presents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realistic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scenario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timer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pressure,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multiple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choices,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consequences.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9546590" cy="546735"/>
            <a:chOff x="572824" y="1976824"/>
            <a:chExt cx="9546590" cy="54673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719999" y="2088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883979" y="2184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C8FF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0C8FF"/>
                </a:solidFill>
                <a:latin typeface="Courier New"/>
                <a:cs typeface="Courier New"/>
              </a:rPr>
              <a:t>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511999" y="2050988"/>
            <a:ext cx="143065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PHISHING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EMAIL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PayPal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suspension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notice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4536000" y="2195999"/>
            <a:ext cx="4860290" cy="108585"/>
            <a:chOff x="4536000" y="2195999"/>
            <a:chExt cx="4860290" cy="108585"/>
          </a:xfrm>
        </p:grpSpPr>
        <p:sp>
          <p:nvSpPr>
            <p:cNvPr id="180" name="object 180"/>
            <p:cNvSpPr/>
            <p:nvPr/>
          </p:nvSpPr>
          <p:spPr>
            <a:xfrm>
              <a:off x="4536000" y="2195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536000" y="2195999"/>
              <a:ext cx="972185" cy="108585"/>
            </a:xfrm>
            <a:custGeom>
              <a:avLst/>
              <a:gdLst/>
              <a:ahLst/>
              <a:cxnLst/>
              <a:rect l="l" t="t" r="r" b="b"/>
              <a:pathLst>
                <a:path w="972185" h="108585">
                  <a:moveTo>
                    <a:pt x="952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952949" y="107999"/>
                  </a:lnTo>
                  <a:lnTo>
                    <a:pt x="960368" y="106503"/>
                  </a:lnTo>
                  <a:lnTo>
                    <a:pt x="966423" y="102423"/>
                  </a:lnTo>
                  <a:lnTo>
                    <a:pt x="970503" y="96368"/>
                  </a:lnTo>
                  <a:lnTo>
                    <a:pt x="971999" y="88949"/>
                  </a:lnTo>
                  <a:lnTo>
                    <a:pt x="971999" y="19050"/>
                  </a:lnTo>
                  <a:lnTo>
                    <a:pt x="970503" y="11630"/>
                  </a:lnTo>
                  <a:lnTo>
                    <a:pt x="966423" y="5575"/>
                  </a:lnTo>
                  <a:lnTo>
                    <a:pt x="960368" y="1495"/>
                  </a:lnTo>
                  <a:lnTo>
                    <a:pt x="952949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9655379" y="2165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50" spc="-15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0C8FF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572824" y="2624824"/>
            <a:ext cx="9546590" cy="546735"/>
            <a:chOff x="572824" y="2624824"/>
            <a:chExt cx="9546590" cy="546735"/>
          </a:xfrm>
        </p:grpSpPr>
        <p:sp>
          <p:nvSpPr>
            <p:cNvPr id="184" name="object 184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75999" y="2627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19999" y="2736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883979" y="2832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A854F6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A854F6"/>
                </a:solidFill>
                <a:latin typeface="Courier New"/>
                <a:cs typeface="Courier New"/>
              </a:rPr>
              <a:t>02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511999" y="2698989"/>
            <a:ext cx="133921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FAKE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'Hi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Mum'</a:t>
            </a:r>
            <a:r>
              <a:rPr dirty="0" sz="800" spc="-1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impersonation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4536000" y="2843999"/>
            <a:ext cx="4860290" cy="108585"/>
            <a:chOff x="4536000" y="2843999"/>
            <a:chExt cx="4860290" cy="108585"/>
          </a:xfrm>
        </p:grpSpPr>
        <p:sp>
          <p:nvSpPr>
            <p:cNvPr id="191" name="object 191"/>
            <p:cNvSpPr/>
            <p:nvPr/>
          </p:nvSpPr>
          <p:spPr>
            <a:xfrm>
              <a:off x="4536000" y="2843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536000" y="2843999"/>
              <a:ext cx="2187575" cy="108585"/>
            </a:xfrm>
            <a:custGeom>
              <a:avLst/>
              <a:gdLst/>
              <a:ahLst/>
              <a:cxnLst/>
              <a:rect l="l" t="t" r="r" b="b"/>
              <a:pathLst>
                <a:path w="2187575" h="108585">
                  <a:moveTo>
                    <a:pt x="2167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167949" y="108000"/>
                  </a:lnTo>
                  <a:lnTo>
                    <a:pt x="2175368" y="106505"/>
                  </a:lnTo>
                  <a:lnTo>
                    <a:pt x="2181423" y="102424"/>
                  </a:lnTo>
                  <a:lnTo>
                    <a:pt x="2185504" y="96370"/>
                  </a:lnTo>
                  <a:lnTo>
                    <a:pt x="2186999" y="88950"/>
                  </a:lnTo>
                  <a:lnTo>
                    <a:pt x="2186999" y="19050"/>
                  </a:lnTo>
                  <a:lnTo>
                    <a:pt x="2185504" y="11630"/>
                  </a:lnTo>
                  <a:lnTo>
                    <a:pt x="2181423" y="5575"/>
                  </a:lnTo>
                  <a:lnTo>
                    <a:pt x="2175368" y="1495"/>
                  </a:lnTo>
                  <a:lnTo>
                    <a:pt x="2167949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9655379" y="2813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Courier New"/>
                <a:cs typeface="Courier New"/>
              </a:rPr>
              <a:t>35</a:t>
            </a:r>
            <a:r>
              <a:rPr dirty="0" sz="850" spc="-15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A854F6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572824" y="3272825"/>
            <a:ext cx="9546590" cy="546735"/>
            <a:chOff x="572824" y="3272825"/>
            <a:chExt cx="9546590" cy="546735"/>
          </a:xfrm>
        </p:grpSpPr>
        <p:sp>
          <p:nvSpPr>
            <p:cNvPr id="195" name="object 195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75999" y="3276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19999" y="3383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883979" y="3480400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5B5D4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5B5D4"/>
                </a:solidFill>
                <a:latin typeface="Courier New"/>
                <a:cs typeface="Courier New"/>
              </a:rPr>
              <a:t>03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511999" y="3346990"/>
            <a:ext cx="1029969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FAKE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Fraudulent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bank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portal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536000" y="3491999"/>
            <a:ext cx="4860290" cy="108585"/>
            <a:chOff x="4536000" y="3491999"/>
            <a:chExt cx="4860290" cy="108585"/>
          </a:xfrm>
        </p:grpSpPr>
        <p:sp>
          <p:nvSpPr>
            <p:cNvPr id="202" name="object 202"/>
            <p:cNvSpPr/>
            <p:nvPr/>
          </p:nvSpPr>
          <p:spPr>
            <a:xfrm>
              <a:off x="4536000" y="3491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536000" y="3491999"/>
              <a:ext cx="2819400" cy="108585"/>
            </a:xfrm>
            <a:custGeom>
              <a:avLst/>
              <a:gdLst/>
              <a:ahLst/>
              <a:cxnLst/>
              <a:rect l="l" t="t" r="r" b="b"/>
              <a:pathLst>
                <a:path w="2819400" h="108585">
                  <a:moveTo>
                    <a:pt x="2799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799749" y="108000"/>
                  </a:lnTo>
                  <a:lnTo>
                    <a:pt x="2807168" y="106505"/>
                  </a:lnTo>
                  <a:lnTo>
                    <a:pt x="2813223" y="102424"/>
                  </a:lnTo>
                  <a:lnTo>
                    <a:pt x="2817303" y="96370"/>
                  </a:lnTo>
                  <a:lnTo>
                    <a:pt x="2818799" y="88950"/>
                  </a:lnTo>
                  <a:lnTo>
                    <a:pt x="2818799" y="19050"/>
                  </a:lnTo>
                  <a:lnTo>
                    <a:pt x="2817303" y="11630"/>
                  </a:lnTo>
                  <a:lnTo>
                    <a:pt x="2813223" y="5575"/>
                  </a:lnTo>
                  <a:lnTo>
                    <a:pt x="2807168" y="1495"/>
                  </a:lnTo>
                  <a:lnTo>
                    <a:pt x="2799749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9655379" y="3461350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Courier New"/>
                <a:cs typeface="Courier New"/>
              </a:rPr>
              <a:t>40</a:t>
            </a:r>
            <a:r>
              <a:rPr dirty="0" sz="850" spc="-15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5B5D4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572824" y="3920825"/>
            <a:ext cx="9546590" cy="546735"/>
            <a:chOff x="572824" y="3920825"/>
            <a:chExt cx="9546590" cy="546735"/>
          </a:xfrm>
        </p:grpSpPr>
        <p:sp>
          <p:nvSpPr>
            <p:cNvPr id="206" name="object 206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5999" y="3924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19999" y="4031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883979" y="4128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9CC15"/>
                </a:solidFill>
                <a:latin typeface="Courier New"/>
                <a:cs typeface="Courier New"/>
              </a:rPr>
              <a:t>04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511999" y="3994989"/>
            <a:ext cx="117602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VISHING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Tax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authority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arrest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threat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536000" y="4140000"/>
            <a:ext cx="4860290" cy="108585"/>
            <a:chOff x="4536000" y="4140000"/>
            <a:chExt cx="4860290" cy="108585"/>
          </a:xfrm>
        </p:grpSpPr>
        <p:sp>
          <p:nvSpPr>
            <p:cNvPr id="213" name="object 213"/>
            <p:cNvSpPr/>
            <p:nvPr/>
          </p:nvSpPr>
          <p:spPr>
            <a:xfrm>
              <a:off x="4536000" y="4140000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4536000" y="4140000"/>
              <a:ext cx="3499485" cy="108585"/>
            </a:xfrm>
            <a:custGeom>
              <a:avLst/>
              <a:gdLst/>
              <a:ahLst/>
              <a:cxnLst/>
              <a:rect l="l" t="t" r="r" b="b"/>
              <a:pathLst>
                <a:path w="3499484" h="108585">
                  <a:moveTo>
                    <a:pt x="34801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3480149" y="107999"/>
                  </a:lnTo>
                  <a:lnTo>
                    <a:pt x="3487568" y="106503"/>
                  </a:lnTo>
                  <a:lnTo>
                    <a:pt x="3493623" y="102423"/>
                  </a:lnTo>
                  <a:lnTo>
                    <a:pt x="3497703" y="96368"/>
                  </a:lnTo>
                  <a:lnTo>
                    <a:pt x="3499199" y="88949"/>
                  </a:lnTo>
                  <a:lnTo>
                    <a:pt x="3499199" y="19050"/>
                  </a:lnTo>
                  <a:lnTo>
                    <a:pt x="3497703" y="11630"/>
                  </a:lnTo>
                  <a:lnTo>
                    <a:pt x="3493623" y="5575"/>
                  </a:lnTo>
                  <a:lnTo>
                    <a:pt x="3487568" y="1495"/>
                  </a:lnTo>
                  <a:lnTo>
                    <a:pt x="3480149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9655379" y="4109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Courier New"/>
                <a:cs typeface="Courier New"/>
              </a:rPr>
              <a:t>30</a:t>
            </a:r>
            <a:r>
              <a:rPr dirty="0" sz="850" spc="-15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9CC15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572824" y="4568824"/>
            <a:ext cx="9546590" cy="546735"/>
            <a:chOff x="572824" y="4568824"/>
            <a:chExt cx="9546590" cy="546735"/>
          </a:xfrm>
        </p:grpSpPr>
        <p:sp>
          <p:nvSpPr>
            <p:cNvPr id="217" name="object 217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75999" y="4571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719999" y="4679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601"/>
                  </a:lnTo>
                  <a:lnTo>
                    <a:pt x="1994" y="308493"/>
                  </a:lnTo>
                  <a:lnTo>
                    <a:pt x="7434" y="316566"/>
                  </a:lnTo>
                  <a:lnTo>
                    <a:pt x="15507" y="322006"/>
                  </a:lnTo>
                  <a:lnTo>
                    <a:pt x="25400" y="324001"/>
                  </a:lnTo>
                  <a:lnTo>
                    <a:pt x="622599" y="324001"/>
                  </a:lnTo>
                  <a:lnTo>
                    <a:pt x="632491" y="322006"/>
                  </a:lnTo>
                  <a:lnTo>
                    <a:pt x="640565" y="316566"/>
                  </a:lnTo>
                  <a:lnTo>
                    <a:pt x="646005" y="308493"/>
                  </a:lnTo>
                  <a:lnTo>
                    <a:pt x="647999" y="298601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883979" y="4776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F3B3B"/>
                </a:solidFill>
                <a:latin typeface="Courier New"/>
                <a:cs typeface="Courier New"/>
              </a:rPr>
              <a:t>05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511999" y="4642987"/>
            <a:ext cx="113411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850" spc="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ATTACK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recruitment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3" name="object 223"/>
          <p:cNvGrpSpPr/>
          <p:nvPr/>
        </p:nvGrpSpPr>
        <p:grpSpPr>
          <a:xfrm>
            <a:off x="4536000" y="4787999"/>
            <a:ext cx="4860290" cy="108585"/>
            <a:chOff x="4536000" y="4787999"/>
            <a:chExt cx="4860290" cy="108585"/>
          </a:xfrm>
        </p:grpSpPr>
        <p:sp>
          <p:nvSpPr>
            <p:cNvPr id="224" name="object 224"/>
            <p:cNvSpPr/>
            <p:nvPr/>
          </p:nvSpPr>
          <p:spPr>
            <a:xfrm>
              <a:off x="4536000" y="4787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36000" y="4787999"/>
              <a:ext cx="4277360" cy="108585"/>
            </a:xfrm>
            <a:custGeom>
              <a:avLst/>
              <a:gdLst/>
              <a:ahLst/>
              <a:cxnLst/>
              <a:rect l="l" t="t" r="r" b="b"/>
              <a:pathLst>
                <a:path w="4277359" h="108585">
                  <a:moveTo>
                    <a:pt x="4257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257749" y="107999"/>
                  </a:lnTo>
                  <a:lnTo>
                    <a:pt x="4265169" y="106503"/>
                  </a:lnTo>
                  <a:lnTo>
                    <a:pt x="4271223" y="102423"/>
                  </a:lnTo>
                  <a:lnTo>
                    <a:pt x="4275304" y="96368"/>
                  </a:lnTo>
                  <a:lnTo>
                    <a:pt x="4276799" y="88949"/>
                  </a:lnTo>
                  <a:lnTo>
                    <a:pt x="4276799" y="19050"/>
                  </a:lnTo>
                  <a:lnTo>
                    <a:pt x="4275304" y="11630"/>
                  </a:lnTo>
                  <a:lnTo>
                    <a:pt x="4271223" y="5575"/>
                  </a:lnTo>
                  <a:lnTo>
                    <a:pt x="4265169" y="1495"/>
                  </a:lnTo>
                  <a:lnTo>
                    <a:pt x="4257749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9655379" y="4757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3B3B"/>
                </a:solidFill>
                <a:latin typeface="Courier New"/>
                <a:cs typeface="Courier New"/>
              </a:rPr>
              <a:t>55</a:t>
            </a:r>
            <a:r>
              <a:rPr dirty="0" sz="850" spc="-15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F3B3B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7" name="object 2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28" name="object 2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06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420941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COMPONENT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Behavioural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Analysis</a:t>
            </a:r>
            <a:r>
              <a:rPr dirty="0" sz="240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Engine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05409" y="1127649"/>
            <a:ext cx="2354580" cy="12700"/>
            <a:chOff x="2405409" y="1127649"/>
            <a:chExt cx="2354580" cy="12700"/>
          </a:xfrm>
        </p:grpSpPr>
        <p:sp>
          <p:nvSpPr>
            <p:cNvPr id="10" name="object 10"/>
            <p:cNvSpPr/>
            <p:nvPr/>
          </p:nvSpPr>
          <p:spPr>
            <a:xfrm>
              <a:off x="240540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348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642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37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2313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525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820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114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4086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702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997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291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5859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880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8174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468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7632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57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351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646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9405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0234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529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823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1178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412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1706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000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2951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589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883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178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472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66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061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355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649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944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238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532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5826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121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415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6709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004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298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592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7887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181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475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8770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90645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9358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9653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9947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02418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0536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0830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1124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4191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1713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007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2302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25964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890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85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3479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3773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4068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4362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4656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49509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245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539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833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61282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6422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6716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011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73055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189729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system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tracks,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analyses,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scores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every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player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decision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time.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4704715" cy="870585"/>
            <a:chOff x="572824" y="1976824"/>
            <a:chExt cx="4704715" cy="87058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49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30399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01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SCENARIO</a:t>
            </a:r>
            <a:r>
              <a:rPr dirty="0" sz="800" spc="-4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800">
              <a:latin typeface="Arial"/>
              <a:cs typeface="Arial"/>
            </a:endParaRPr>
          </a:p>
          <a:p>
            <a:pPr marL="142875" marR="15113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Structured intelligent variation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creates realistic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phishing emails,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messages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fake pages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</a:t>
            </a:r>
            <a:r>
              <a:rPr dirty="0" sz="750" spc="-50">
                <a:solidFill>
                  <a:srgbClr val="667787"/>
                </a:solidFill>
                <a:latin typeface="Arial"/>
                <a:cs typeface="Arial"/>
              </a:rPr>
              <a:t>5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threat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levels.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1976824"/>
            <a:ext cx="4704715" cy="870585"/>
            <a:chOff x="5414825" y="1976824"/>
            <a:chExt cx="4704715" cy="870585"/>
          </a:xfrm>
        </p:grpSpPr>
        <p:sp>
          <p:nvSpPr>
            <p:cNvPr id="178" name="object 178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6100" y="2130399"/>
            <a:ext cx="4636770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02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160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 xml:space="preserve">BEHAVIOURAL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Monitors click patterns, hesitation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time, authority bias,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and urgency susceptibility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all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decisions.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948825"/>
            <a:ext cx="4704715" cy="870585"/>
            <a:chOff x="572824" y="2948825"/>
            <a:chExt cx="4704715" cy="870585"/>
          </a:xfrm>
        </p:grpSpPr>
        <p:sp>
          <p:nvSpPr>
            <p:cNvPr id="183" name="object 183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102400"/>
            <a:ext cx="4638675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03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HUMAN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RISK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SCORE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Calculates a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personalised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score (0-100)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showing exactly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how vulnerable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the user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is 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attacks.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948825"/>
            <a:ext cx="4704715" cy="870585"/>
            <a:chOff x="5414825" y="2948825"/>
            <a:chExt cx="4704715" cy="870585"/>
          </a:xfrm>
        </p:grpSpPr>
        <p:sp>
          <p:nvSpPr>
            <p:cNvPr id="188" name="object 188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102400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04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PERSONALISED</a:t>
            </a:r>
            <a:r>
              <a:rPr dirty="0" sz="800" spc="5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TRAINING</a:t>
            </a:r>
            <a:endParaRPr sz="800">
              <a:latin typeface="Arial"/>
              <a:cs typeface="Arial"/>
            </a:endParaRPr>
          </a:p>
          <a:p>
            <a:pPr marL="142875" marR="37846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Recommends tailored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tips and security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insights based 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detected weaknesses after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every decision.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189" y="4064190"/>
            <a:ext cx="2338705" cy="584200"/>
            <a:chOff x="572189" y="4064190"/>
            <a:chExt cx="2338705" cy="584200"/>
          </a:xfrm>
        </p:grpSpPr>
        <p:sp>
          <p:nvSpPr>
            <p:cNvPr id="193" name="object 193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671300" y="4182399"/>
            <a:ext cx="7766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FF9C"/>
                </a:solidFill>
                <a:latin typeface="Arial"/>
                <a:cs typeface="Arial"/>
              </a:rPr>
              <a:t>HYPER-</a:t>
            </a:r>
            <a:r>
              <a:rPr dirty="0" sz="700" spc="-10" b="1">
                <a:solidFill>
                  <a:srgbClr val="00FF9C"/>
                </a:solidFill>
                <a:latin typeface="Arial"/>
                <a:cs typeface="Arial"/>
              </a:rPr>
              <a:t>VIGILANT</a:t>
            </a:r>
            <a:endParaRPr sz="7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71300" y="4398399"/>
            <a:ext cx="13500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0%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wrong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Elite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defender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2975189" y="4064190"/>
            <a:ext cx="2338705" cy="584200"/>
            <a:chOff x="2975189" y="4064190"/>
            <a:chExt cx="2338705" cy="584200"/>
          </a:xfrm>
        </p:grpSpPr>
        <p:sp>
          <p:nvSpPr>
            <p:cNvPr id="198" name="object 198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3074300" y="4182399"/>
            <a:ext cx="13296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Arial"/>
                <a:cs typeface="Arial"/>
              </a:rPr>
              <a:t xml:space="preserve">CAUTIOUS BUT </a:t>
            </a:r>
            <a:r>
              <a:rPr dirty="0" sz="700" spc="-10" b="1">
                <a:solidFill>
                  <a:srgbClr val="F9CC15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074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30% wrong — Generally </a:t>
            </a:r>
            <a:r>
              <a:rPr dirty="0" sz="700" spc="-20">
                <a:solidFill>
                  <a:srgbClr val="667787"/>
                </a:solidFill>
                <a:latin typeface="Arial"/>
                <a:cs typeface="Arial"/>
              </a:rPr>
              <a:t>safe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5378189" y="4064190"/>
            <a:ext cx="2338705" cy="584200"/>
            <a:chOff x="5378189" y="4064190"/>
            <a:chExt cx="2338705" cy="584200"/>
          </a:xfrm>
        </p:grpSpPr>
        <p:sp>
          <p:nvSpPr>
            <p:cNvPr id="203" name="object 203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72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477300" y="4182399"/>
            <a:ext cx="6972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7216"/>
                </a:solidFill>
                <a:latin typeface="Arial"/>
                <a:cs typeface="Arial"/>
              </a:rPr>
              <a:t>TOO</a:t>
            </a:r>
            <a:r>
              <a:rPr dirty="0" sz="700" spc="-20" b="1">
                <a:solidFill>
                  <a:srgbClr val="F97216"/>
                </a:solidFill>
                <a:latin typeface="Arial"/>
                <a:cs typeface="Arial"/>
              </a:rPr>
              <a:t xml:space="preserve"> </a:t>
            </a:r>
            <a:r>
              <a:rPr dirty="0" sz="700" spc="-10" b="1">
                <a:solidFill>
                  <a:srgbClr val="F97216"/>
                </a:solidFill>
                <a:latin typeface="Arial"/>
                <a:cs typeface="Arial"/>
              </a:rPr>
              <a:t>TRUSTING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477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60% wrong — Needs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7781189" y="4064190"/>
            <a:ext cx="2338705" cy="584200"/>
            <a:chOff x="7781189" y="4064190"/>
            <a:chExt cx="2338705" cy="584200"/>
          </a:xfrm>
        </p:grpSpPr>
        <p:sp>
          <p:nvSpPr>
            <p:cNvPr id="208" name="object 208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7880300" y="4182399"/>
            <a:ext cx="10433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Arial"/>
                <a:cs typeface="Arial"/>
              </a:rPr>
              <a:t xml:space="preserve">HIGH RISK </a:t>
            </a:r>
            <a:r>
              <a:rPr dirty="0" sz="700" spc="-10" b="1">
                <a:solidFill>
                  <a:srgbClr val="FF3B3B"/>
                </a:solidFill>
                <a:latin typeface="Arial"/>
                <a:cs typeface="Arial"/>
              </a:rPr>
              <a:t>BEHAVIOUR</a:t>
            </a:r>
            <a:endParaRPr sz="700">
              <a:latin typeface="Arial"/>
              <a:cs typeface="Arial"/>
            </a:endParaRPr>
          </a:p>
        </p:txBody>
      </p:sp>
      <p:sp>
        <p:nvSpPr>
          <p:cNvPr id="212" name="object 2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13" name="object 2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11" name="object 211"/>
          <p:cNvSpPr txBox="1"/>
          <p:nvPr/>
        </p:nvSpPr>
        <p:spPr>
          <a:xfrm>
            <a:off x="7880300" y="4398399"/>
            <a:ext cx="13423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60%+ wrong — Highly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07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5483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IMPACT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SDG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ALIGNMENT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Protect?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62304" y="1127649"/>
            <a:ext cx="1236345" cy="12700"/>
            <a:chOff x="2862304" y="1127649"/>
            <a:chExt cx="1236345" cy="12700"/>
          </a:xfrm>
        </p:grpSpPr>
        <p:sp>
          <p:nvSpPr>
            <p:cNvPr id="10" name="object 10"/>
            <p:cNvSpPr/>
            <p:nvPr/>
          </p:nvSpPr>
          <p:spPr>
            <a:xfrm>
              <a:off x="28623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775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932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086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411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395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550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7047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59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013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1683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322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4774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631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786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941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095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250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404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559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713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868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22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177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331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486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640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795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949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104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3259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413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568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22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877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031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186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340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4495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649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804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958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5113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5267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5422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577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5731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886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040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6195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6349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504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658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813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967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7122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276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431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585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7740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895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8049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8204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358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513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667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88222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8976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9131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2858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9440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594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7494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903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0058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02130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0367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052213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0676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0831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16825"/>
            <a:ext cx="2337435" cy="1086485"/>
            <a:chOff x="572824" y="1616825"/>
            <a:chExt cx="2337435" cy="1086485"/>
          </a:xfrm>
        </p:grpSpPr>
        <p:sp>
          <p:nvSpPr>
            <p:cNvPr id="172" name="object 172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612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COMPANIES</a:t>
            </a:r>
            <a:endParaRPr sz="850">
              <a:latin typeface="Arial"/>
              <a:cs typeface="Arial"/>
            </a:endParaRPr>
          </a:p>
          <a:p>
            <a:pPr marL="107314" marR="318770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Staff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cybersecurity awareness and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phishing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resistance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975824" y="1616825"/>
            <a:ext cx="2337435" cy="1086485"/>
            <a:chOff x="2975824" y="1616825"/>
            <a:chExt cx="2337435" cy="1086485"/>
          </a:xfrm>
        </p:grpSpPr>
        <p:sp>
          <p:nvSpPr>
            <p:cNvPr id="177" name="object 177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978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0" name="object 180"/>
          <p:cNvSpPr txBox="1"/>
          <p:nvPr/>
        </p:nvSpPr>
        <p:spPr>
          <a:xfrm>
            <a:off x="3015512" y="1787349"/>
            <a:ext cx="227139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SCHOOLS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education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integrated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curricula.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378824" y="1616825"/>
            <a:ext cx="2337435" cy="1086485"/>
            <a:chOff x="5378824" y="1616825"/>
            <a:chExt cx="2337435" cy="1086485"/>
          </a:xfrm>
        </p:grpSpPr>
        <p:sp>
          <p:nvSpPr>
            <p:cNvPr id="182" name="object 182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381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5418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FAMILIES</a:t>
            </a:r>
            <a:endParaRPr sz="850">
              <a:latin typeface="Arial"/>
              <a:cs typeface="Arial"/>
            </a:endParaRPr>
          </a:p>
          <a:p>
            <a:pPr marL="107314" marR="49847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Child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online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protection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parental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guidance.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7781825" y="1616825"/>
            <a:ext cx="2337435" cy="1086485"/>
            <a:chOff x="7781825" y="1616825"/>
            <a:chExt cx="2337435" cy="1086485"/>
          </a:xfrm>
        </p:grpSpPr>
        <p:sp>
          <p:nvSpPr>
            <p:cNvPr id="187" name="object 187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7785000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7821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ELDERLY</a:t>
            </a:r>
            <a:endParaRPr sz="850">
              <a:latin typeface="Arial"/>
              <a:cs typeface="Arial"/>
            </a:endParaRPr>
          </a:p>
          <a:p>
            <a:pPr marL="107314" marR="42989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Accessible scam awareness for the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vulnerable.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71554" y="2983554"/>
            <a:ext cx="3141345" cy="1017269"/>
            <a:chOff x="571554" y="2983554"/>
            <a:chExt cx="3141345" cy="1017269"/>
          </a:xfrm>
        </p:grpSpPr>
        <p:sp>
          <p:nvSpPr>
            <p:cNvPr id="192" name="object 192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707299" y="3193499"/>
            <a:ext cx="110363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C8FF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00C8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QUALITY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EDUCATION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07299" y="3744049"/>
            <a:ext cx="2233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literacy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interactive,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gamified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learning.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75555" y="2983554"/>
            <a:ext cx="3141345" cy="1017269"/>
            <a:chOff x="3775555" y="2983554"/>
            <a:chExt cx="3141345" cy="1017269"/>
          </a:xfrm>
        </p:grpSpPr>
        <p:sp>
          <p:nvSpPr>
            <p:cNvPr id="197" name="object 197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911300" y="3193499"/>
            <a:ext cx="66357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A854F6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A854F6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INNOVATION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911300" y="3744049"/>
            <a:ext cx="18205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AI-driven cybersecurity training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innovation.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6979555" y="2983554"/>
            <a:ext cx="3141345" cy="1017269"/>
            <a:chOff x="6979555" y="2983554"/>
            <a:chExt cx="3141345" cy="1017269"/>
          </a:xfrm>
        </p:grpSpPr>
        <p:sp>
          <p:nvSpPr>
            <p:cNvPr id="202" name="object 202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115299" y="3193499"/>
            <a:ext cx="934719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5B5D4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1400" spc="-25" b="1">
                <a:solidFill>
                  <a:srgbClr val="05B5D4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PEACE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JUSTICE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05" name="object 205"/>
          <p:cNvSpPr txBox="1"/>
          <p:nvPr/>
        </p:nvSpPr>
        <p:spPr>
          <a:xfrm>
            <a:off x="7115299" y="3744049"/>
            <a:ext cx="2408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Reducing cybercrime by strengthening human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defences.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08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268414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TOOLS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RESEARCH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METHODOLOGY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 xml:space="preserve">How We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 xml:space="preserve">Built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This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6101" y="1127649"/>
            <a:ext cx="1388745" cy="12700"/>
            <a:chOff x="1846101" y="1127649"/>
            <a:chExt cx="1388745" cy="12700"/>
          </a:xfrm>
        </p:grpSpPr>
        <p:sp>
          <p:nvSpPr>
            <p:cNvPr id="10" name="object 10"/>
            <p:cNvSpPr/>
            <p:nvPr/>
          </p:nvSpPr>
          <p:spPr>
            <a:xfrm>
              <a:off x="18461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634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081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981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553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328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502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6760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849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023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1968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370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44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17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891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064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238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411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585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59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932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106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279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453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627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00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974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147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321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3494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3668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3842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4015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189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4362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536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4710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4883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057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230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5404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5577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751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925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6098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6272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6445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6619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6793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6966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7140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7313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487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7660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7834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008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181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355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528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8702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876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9049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9223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9396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9570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743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917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0091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0264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4382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0611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0785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09590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1132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1306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14797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1653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1826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2000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174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78384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This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project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was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using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combination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of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tools,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research,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collaborative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development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contributing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unique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strength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final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product.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1014730"/>
            <a:chOff x="572824" y="2048824"/>
            <a:chExt cx="4704715" cy="101473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 xml:space="preserve">CLAUDE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(ANTHROPIC)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PRIMARY DEVELOPMENT </a:t>
            </a:r>
            <a:r>
              <a:rPr dirty="0" sz="650" spc="-25">
                <a:solidFill>
                  <a:srgbClr val="445466"/>
                </a:solidFill>
                <a:latin typeface="Courier New"/>
                <a:cs typeface="Courier New"/>
              </a:rPr>
              <a:t>AI</a:t>
            </a:r>
            <a:endParaRPr sz="650">
              <a:latin typeface="Courier New"/>
              <a:cs typeface="Courier New"/>
            </a:endParaRPr>
          </a:p>
          <a:p>
            <a:pPr marL="142875" marR="25654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Frontend development, game logic, Behavioural Analysis Engine, UI/UX design, documentation, </a:t>
            </a:r>
            <a:r>
              <a:rPr dirty="0" sz="750" spc="-25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presentation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structure.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1014730"/>
            <a:chOff x="5414825" y="2048824"/>
            <a:chExt cx="4704715" cy="101473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4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21C45D"/>
                </a:solidFill>
                <a:latin typeface="Arial"/>
                <a:cs typeface="Arial"/>
              </a:rPr>
              <a:t>CHATGPT</a:t>
            </a:r>
            <a:r>
              <a:rPr dirty="0" sz="850" spc="-45" b="1">
                <a:solidFill>
                  <a:srgbClr val="21C45D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(OPENAI)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CONTENT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IDEATION</a:t>
            </a:r>
            <a:endParaRPr sz="650">
              <a:latin typeface="Courier New"/>
              <a:cs typeface="Courier New"/>
            </a:endParaRPr>
          </a:p>
          <a:p>
            <a:pPr marL="142875" marR="187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Brainstorming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scenarios, refining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problem statements,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drafting initial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proposal content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and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game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narrative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ideas.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3164824"/>
            <a:ext cx="4704715" cy="1014730"/>
            <a:chOff x="572824" y="3164824"/>
            <a:chExt cx="4704715" cy="1014730"/>
          </a:xfrm>
        </p:grpSpPr>
        <p:sp>
          <p:nvSpPr>
            <p:cNvPr id="183" name="object 183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GEMINI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RESEARCH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VALIDATION</a:t>
            </a:r>
            <a:endParaRPr sz="650">
              <a:latin typeface="Courier New"/>
              <a:cs typeface="Courier New"/>
            </a:endParaRPr>
          </a:p>
          <a:p>
            <a:pPr marL="142875" marR="314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Cross-referencing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cybersecurity statistics,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validating scam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patterns, and supporting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SDG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alignment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research across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Africa.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3164824"/>
            <a:ext cx="4704715" cy="1014730"/>
            <a:chOff x="5414825" y="3164824"/>
            <a:chExt cx="4704715" cy="1014730"/>
          </a:xfrm>
        </p:grpSpPr>
        <p:sp>
          <p:nvSpPr>
            <p:cNvPr id="188" name="object 188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F9CC15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9CC15"/>
                </a:solidFill>
                <a:latin typeface="Arial"/>
                <a:cs typeface="Arial"/>
              </a:rPr>
              <a:t>RESEARCH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DATA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STATISTICS</a:t>
            </a:r>
            <a:endParaRPr sz="650">
              <a:latin typeface="Courier New"/>
              <a:cs typeface="Courier New"/>
            </a:endParaRPr>
          </a:p>
          <a:p>
            <a:pPr marL="142875" marR="55372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Sourcing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cybercrime statistics, real-world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scam examples, and best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practices in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cybersecurity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awareness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4424824"/>
            <a:ext cx="9546590" cy="510540"/>
            <a:chOff x="572824" y="4424824"/>
            <a:chExt cx="9546590" cy="510540"/>
          </a:xfrm>
        </p:grpSpPr>
        <p:sp>
          <p:nvSpPr>
            <p:cNvPr id="193" name="object 193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38100" y="504000"/>
                  </a:move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4428000"/>
              <a:ext cx="31750" cy="504190"/>
            </a:xfrm>
            <a:custGeom>
              <a:avLst/>
              <a:gdLst/>
              <a:ahLst/>
              <a:cxnLst/>
              <a:rect l="l" t="t" r="r" b="b"/>
              <a:pathLst>
                <a:path w="31750" h="504189">
                  <a:moveTo>
                    <a:pt x="3175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31750" y="50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4506400"/>
            <a:ext cx="948055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COMBINED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AI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+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HUMAN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INTELLIGENCE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00C8FF"/>
                </a:solidFill>
                <a:latin typeface="Courier New"/>
                <a:cs typeface="Courier New"/>
              </a:rPr>
              <a:t>APPROACH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Multiple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AI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tools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were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used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collaboratively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alongside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team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research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insight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ensuring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accuracy,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realism,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impact.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97" name="object 1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8" name="object 19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09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19443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FUTURE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ROADMAP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What's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Next?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7676" y="1127649"/>
            <a:ext cx="847090" cy="12700"/>
            <a:chOff x="1647676" y="1127649"/>
            <a:chExt cx="847090" cy="12700"/>
          </a:xfrm>
        </p:grpSpPr>
        <p:sp>
          <p:nvSpPr>
            <p:cNvPr id="10" name="object 10"/>
            <p:cNvSpPr/>
            <p:nvPr/>
          </p:nvSpPr>
          <p:spPr>
            <a:xfrm>
              <a:off x="164767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5826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88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794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9001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0059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1118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17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323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429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5351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6410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7468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852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958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0643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1702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2760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381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487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593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699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805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9111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016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122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228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334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440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546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652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757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863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969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0753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181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287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392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498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604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07104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816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922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027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133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2396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345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451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557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663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768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18746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1980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086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192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298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4039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509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615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21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27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33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389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447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06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56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62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681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740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798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8856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991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4097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2032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3090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4148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520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626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732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8382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88825"/>
            <a:ext cx="9546590" cy="618490"/>
            <a:chOff x="572824" y="1688825"/>
            <a:chExt cx="9546590" cy="618490"/>
          </a:xfrm>
        </p:grpSpPr>
        <p:sp>
          <p:nvSpPr>
            <p:cNvPr id="172" name="object 172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9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00" y="1872000"/>
              <a:ext cx="252000" cy="2519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116000" y="179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587112" y="192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21C45D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21C45D"/>
                </a:solidFill>
                <a:latin typeface="Courier New"/>
                <a:cs typeface="Courier New"/>
              </a:rPr>
              <a:t>1</a:t>
            </a: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Current: 5-level game with Behavioural Analysis Engine — fully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functional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572824" y="2408825"/>
            <a:ext cx="9546590" cy="618490"/>
            <a:chOff x="572824" y="2408825"/>
            <a:chExt cx="9546590" cy="618490"/>
          </a:xfrm>
        </p:grpSpPr>
        <p:sp>
          <p:nvSpPr>
            <p:cNvPr id="179" name="object 179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75999" y="241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00" y="2591999"/>
              <a:ext cx="252000" cy="25199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116000" y="251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587112" y="264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00C8FF"/>
                </a:solidFill>
                <a:latin typeface="Courier New"/>
                <a:cs typeface="Courier New"/>
              </a:rPr>
              <a:t>2</a:t>
            </a: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Real-time AI via Claude API for dynamic scenario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72824" y="3128824"/>
            <a:ext cx="9546590" cy="618490"/>
            <a:chOff x="572824" y="3128824"/>
            <a:chExt cx="9546590" cy="618490"/>
          </a:xfrm>
        </p:grpSpPr>
        <p:sp>
          <p:nvSpPr>
            <p:cNvPr id="186" name="object 186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75999" y="313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00" y="3311999"/>
              <a:ext cx="252000" cy="251999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116000" y="323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87112" y="336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A854F6"/>
                </a:solidFill>
                <a:latin typeface="Courier New"/>
                <a:cs typeface="Courier New"/>
              </a:rPr>
              <a:t>3</a:t>
            </a: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Multiplayer competitive mode — teams compete in real </a:t>
            </a:r>
            <a:r>
              <a:rPr dirty="0" sz="900" spc="-20">
                <a:solidFill>
                  <a:srgbClr val="E9E9E9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848824"/>
            <a:ext cx="9546590" cy="618490"/>
            <a:chOff x="572824" y="3848824"/>
            <a:chExt cx="9546590" cy="618490"/>
          </a:xfrm>
        </p:grpSpPr>
        <p:sp>
          <p:nvSpPr>
            <p:cNvPr id="193" name="object 193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85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00" y="4031999"/>
              <a:ext cx="252000" cy="25199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116000" y="395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/>
          <p:cNvSpPr txBox="1"/>
          <p:nvPr/>
        </p:nvSpPr>
        <p:spPr>
          <a:xfrm>
            <a:off x="587112" y="408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9CC15"/>
                </a:solidFill>
                <a:latin typeface="Courier New"/>
                <a:cs typeface="Courier New"/>
              </a:rPr>
              <a:t>4</a:t>
            </a: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School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curriculum integration + digital certificate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72824" y="4568824"/>
            <a:ext cx="9546590" cy="618490"/>
            <a:chOff x="572824" y="4568824"/>
            <a:chExt cx="9546590" cy="618490"/>
          </a:xfrm>
        </p:grpSpPr>
        <p:sp>
          <p:nvSpPr>
            <p:cNvPr id="200" name="object 200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75999" y="457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000" y="4751999"/>
              <a:ext cx="252000" cy="252001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16000" y="467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87112" y="480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F3B3B"/>
                </a:solidFill>
                <a:latin typeface="Courier New"/>
                <a:cs typeface="Courier New"/>
              </a:rPr>
              <a:t>5</a:t>
            </a: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React Native mobile app — available on iOS &amp;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Android</a:t>
            </a:r>
            <a:endParaRPr sz="9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10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1999" y="2267999"/>
            <a:ext cx="1367999" cy="136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0972" y="3737699"/>
            <a:ext cx="3750310" cy="87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CLOSING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334454"/>
                </a:solidFill>
                <a:latin typeface="Courier New"/>
                <a:cs typeface="Courier New"/>
              </a:rPr>
              <a:t>STATEMENT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3200" b="1">
                <a:solidFill>
                  <a:srgbClr val="00C8FF"/>
                </a:solidFill>
                <a:latin typeface="Arial"/>
                <a:cs typeface="Arial"/>
              </a:rPr>
              <a:t>HUMAN</a:t>
            </a:r>
            <a:r>
              <a:rPr dirty="0" sz="3200" spc="-1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3200" spc="-10" b="1">
                <a:solidFill>
                  <a:srgbClr val="00C8FF"/>
                </a:solidFill>
                <a:latin typeface="Arial"/>
                <a:cs typeface="Arial"/>
              </a:rPr>
              <a:t>FIREWALL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r>
              <a:rPr dirty="0" sz="1100" spc="-70">
                <a:solidFill>
                  <a:srgbClr val="A78AF9"/>
                </a:solidFill>
                <a:latin typeface="Arial"/>
                <a:cs typeface="Arial"/>
              </a:rPr>
              <a:t xml:space="preserve"> </a:t>
            </a:r>
            <a:r>
              <a:rPr dirty="0" sz="1100" spc="-10">
                <a:solidFill>
                  <a:srgbClr val="A78AF9"/>
                </a:solidFill>
                <a:latin typeface="Arial"/>
                <a:cs typeface="Arial"/>
              </a:rPr>
              <a:t>ACCEPTED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45999" y="4708380"/>
            <a:ext cx="3600450" cy="15240"/>
            <a:chOff x="3545999" y="4708380"/>
            <a:chExt cx="3600450" cy="15240"/>
          </a:xfrm>
        </p:grpSpPr>
        <p:sp>
          <p:nvSpPr>
            <p:cNvPr id="11" name="object 11"/>
            <p:cNvSpPr/>
            <p:nvPr/>
          </p:nvSpPr>
          <p:spPr>
            <a:xfrm>
              <a:off x="35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3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8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6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1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3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4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9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8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0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1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2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2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3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3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4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4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6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6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6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7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8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8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9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9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0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0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1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1291554" y="4783554"/>
            <a:ext cx="8108950" cy="728980"/>
            <a:chOff x="1291554" y="4783554"/>
            <a:chExt cx="8108950" cy="728980"/>
          </a:xfrm>
        </p:grpSpPr>
        <p:sp>
          <p:nvSpPr>
            <p:cNvPr id="92" name="object 92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8049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50800" y="719999"/>
                  </a:move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close/>
                </a:path>
              </a:pathLst>
            </a:custGeom>
            <a:ln w="889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1302438" y="4923599"/>
            <a:ext cx="8087359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"Cyber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Shield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doesn't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just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detect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scams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—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it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trains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users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to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resist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them."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—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TEAM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CYBER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SHIELD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GROUP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45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WOMEN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TECHSTERS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BOOTCAMP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COHORT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5.0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214433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3299" y="7352575"/>
            <a:ext cx="284924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10">
                <a:solidFill>
                  <a:srgbClr val="1D2F4F"/>
                </a:solidFill>
                <a:latin typeface="Courier New"/>
                <a:cs typeface="Courier New"/>
              </a:rPr>
              <a:t>github.com/ftlcollective/Cybershield_project_WTB5.0_grp45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CC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2026-03-18T07:59:05Z</dcterms:created>
  <dcterms:modified xsi:type="dcterms:W3CDTF">2026-03-18T07:59:05Z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Producer">
    <vt:lpwstr>pypdf</vt:lpwstr>
  </property>
  <property fmtid="{D5CDD505-2E9C-101B-9397-08002B2CF9AE}" pid="4" name="LastSaved">
    <vt:filetime>2026-03-18T00:00:00Z</vt:filetime>
  </property>
</Properties>
</file>