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contrib_slide2.xml" ContentType="application/vnd.openxmlformats-officedocument.presentationml.slide+xml"/>
  <Override PartName="/ppt/slides/contrib_slide3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contrib_slide4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contrib_slide1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contrib_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viewProps" Target="viewProps.xml"/><Relationship Id="rId21" Type="http://schemas.openxmlformats.org/officeDocument/2006/relationships/customXml" Target="../customXml/item3.xml"/><Relationship Id="rId7" Type="http://schemas.openxmlformats.org/officeDocument/2006/relationships/slide" Target="slides/contrib_slide1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theme" Target="theme/theme1.xml"/><Relationship Id="rId16" Type="http://schemas.openxmlformats.org/officeDocument/2006/relationships/slide" Target="slides/slide9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4.xml"/><Relationship Id="rId5" Type="http://schemas.openxmlformats.org/officeDocument/2006/relationships/tableStyles" Target="tableStyles.xml"/><Relationship Id="rId15" Type="http://schemas.openxmlformats.org/officeDocument/2006/relationships/slide" Target="slides/slide8.xml"/><Relationship Id="rId10" Type="http://schemas.openxmlformats.org/officeDocument/2006/relationships/slide" Target="slides/contrib_slide4.xml"/><Relationship Id="rId19" Type="http://schemas.openxmlformats.org/officeDocument/2006/relationships/customXml" Target="../customXml/item1.xml"/><Relationship Id="rId4" Type="http://schemas.openxmlformats.org/officeDocument/2006/relationships/presProps" Target="presProps.xml"/><Relationship Id="rId9" Type="http://schemas.openxmlformats.org/officeDocument/2006/relationships/slide" Target="slides/contrib_slide3.xml"/><Relationship Id="rId14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692130" cy="756030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10692000" y="0"/>
                </a:moveTo>
                <a:lnTo>
                  <a:pt x="0" y="0"/>
                </a:lnTo>
                <a:lnTo>
                  <a:pt x="0" y="7560000"/>
                </a:lnTo>
                <a:lnTo>
                  <a:pt x="10692000" y="7560000"/>
                </a:lnTo>
                <a:lnTo>
                  <a:pt x="10692000" y="0"/>
                </a:lnTo>
                <a:close/>
              </a:path>
            </a:pathLst>
          </a:custGeom>
          <a:solidFill>
            <a:srgbClr val="05050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54000" y="287999"/>
            <a:ext cx="6984000" cy="698400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0692130" cy="504190"/>
          </a:xfrm>
          <a:custGeom>
            <a:avLst/>
            <a:gdLst/>
            <a:ahLst/>
            <a:cxnLst/>
            <a:rect l="l" t="t" r="r" b="b"/>
            <a:pathLst>
              <a:path w="10692130" h="504190">
                <a:moveTo>
                  <a:pt x="10692000" y="0"/>
                </a:moveTo>
                <a:lnTo>
                  <a:pt x="0" y="0"/>
                </a:lnTo>
                <a:lnTo>
                  <a:pt x="0" y="504000"/>
                </a:lnTo>
                <a:lnTo>
                  <a:pt x="10692000" y="504000"/>
                </a:lnTo>
                <a:lnTo>
                  <a:pt x="10692000" y="0"/>
                </a:lnTo>
                <a:close/>
              </a:path>
            </a:pathLst>
          </a:custGeom>
          <a:solidFill>
            <a:srgbClr val="0303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503999"/>
            <a:ext cx="10692130" cy="0"/>
          </a:xfrm>
          <a:custGeom>
            <a:avLst/>
            <a:gdLst/>
            <a:ahLst/>
            <a:cxnLst/>
            <a:rect l="l" t="t" r="r" b="b"/>
            <a:pathLst>
              <a:path w="10692130" h="0">
                <a:moveTo>
                  <a:pt x="0" y="0"/>
                </a:moveTo>
                <a:lnTo>
                  <a:pt x="10692000" y="0"/>
                </a:lnTo>
              </a:path>
            </a:pathLst>
          </a:custGeom>
          <a:ln w="6350">
            <a:solidFill>
              <a:srgbClr val="0A1F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63299" y="7352575"/>
            <a:ext cx="3195954" cy="202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905179" y="7352575"/>
            <a:ext cx="224154" cy="202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1D2F4F"/>
                </a:solidFill>
                <a:latin typeface="Courier New"/>
                <a:cs typeface="Courier New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contrib_slide1.xml.rels><?xml version="1.0" encoding="UTF-8"?><Relationships xmlns="http://schemas.openxmlformats.org/package/2006/relationships"><Relationship Id="rId1" Type="http://schemas.openxmlformats.org/officeDocument/2006/relationships/image" Target="../media/contrib1.jpg"/><Relationship Id="rId2" Type="http://schemas.openxmlformats.org/officeDocument/2006/relationships/slideLayout" Target="../slideLayouts/slideLayout1.xml"/></Relationships>
</file>

<file path=ppt/slides/_rels/contrib_slide2.xml.rels><?xml version="1.0" encoding="UTF-8"?><Relationships xmlns="http://schemas.openxmlformats.org/package/2006/relationships"><Relationship Id="rId1" Type="http://schemas.openxmlformats.org/officeDocument/2006/relationships/image" Target="../media/contrib2.jpg"/><Relationship Id="rId2" Type="http://schemas.openxmlformats.org/officeDocument/2006/relationships/slideLayout" Target="../slideLayouts/slideLayout1.xml"/></Relationships>
</file>

<file path=ppt/slides/_rels/contrib_slide3.xml.rels><?xml version="1.0" encoding="UTF-8"?><Relationships xmlns="http://schemas.openxmlformats.org/package/2006/relationships"><Relationship Id="rId1" Type="http://schemas.openxmlformats.org/officeDocument/2006/relationships/image" Target="../media/contrib3.jpg"/><Relationship Id="rId2" Type="http://schemas.openxmlformats.org/officeDocument/2006/relationships/slideLayout" Target="../slideLayouts/slideLayout1.xml"/></Relationships>
</file>

<file path=ppt/slides/_rels/contrib_slide4.xml.rels><?xml version="1.0" encoding="UTF-8"?><Relationships xmlns="http://schemas.openxmlformats.org/package/2006/relationships"><Relationship Id="rId1" Type="http://schemas.openxmlformats.org/officeDocument/2006/relationships/image" Target="../media/contrib4.jpg"/><Relationship Id="rId2" Type="http://schemas.openxmlformats.org/officeDocument/2006/relationships/slideLayout" Target="../slideLayouts/slideLayout1.xml"/></Relationships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</file>

<file path=ppt/slides/contrib_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rib_image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0693400" cy="7562850"/>
          </a:xfrm>
          <a:prstGeom prst="rect">
            <a:avLst/>
          </a:prstGeom>
        </p:spPr>
      </p:pic>
    </p:spTree>
  </p:cSld>
  <p:clrMapOvr>
    <a:masterClrMapping/>
  </p:clrMapOvr>
</p:sld>
</file>

<file path=ppt/slides/contrib_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rib_image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0693400" cy="7562850"/>
          </a:xfrm>
          <a:prstGeom prst="rect">
            <a:avLst/>
          </a:prstGeom>
        </p:spPr>
      </p:pic>
    </p:spTree>
  </p:cSld>
  <p:clrMapOvr>
    <a:masterClrMapping/>
  </p:clrMapOvr>
</p:sld>
</file>

<file path=ppt/slides/contrib_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rib_image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0693400" cy="7562850"/>
          </a:xfrm>
          <a:prstGeom prst="rect">
            <a:avLst/>
          </a:prstGeom>
        </p:spPr>
      </p:pic>
    </p:spTree>
  </p:cSld>
  <p:clrMapOvr>
    <a:masterClrMapping/>
  </p:clrMapOvr>
</p:sld>
</file>

<file path=ppt/slides/contrib_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rib_image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0693400" cy="7562850"/>
          </a:xfrm>
          <a:prstGeom prst="rect">
            <a:avLst/>
          </a:prstGeom>
        </p:spPr>
      </p:pic>
    </p:spTree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 xml:space="preserve"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 xml:space="preserve"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 xml:space="preserve">01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-2540" y="1619998"/>
            <a:ext cx="10697210" cy="5940425"/>
            <a:chOff x="-2540" y="1619998"/>
            <a:chExt cx="10697210" cy="594042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09999" y="1619998"/>
              <a:ext cx="1872000" cy="187200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778820" y="3521699"/>
            <a:ext cx="2220595" cy="325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A78AF9"/>
                </a:solidFill>
                <a:latin typeface="Courier New"/>
                <a:cs typeface="Courier New"/>
              </a:rPr>
              <a:t>WOMEN</a:t>
            </a:r>
            <a:r>
              <a:rPr dirty="0" sz="800" spc="25">
                <a:solidFill>
                  <a:srgbClr val="A78AF9"/>
                </a:solidFill>
                <a:latin typeface="Courier New"/>
                <a:cs typeface="Courier New"/>
              </a:rPr>
              <a:t xml:space="preserve"> </a:t>
            </a:r>
            <a:r>
              <a:rPr dirty="0" sz="800">
                <a:solidFill>
                  <a:srgbClr val="A78AF9"/>
                </a:solidFill>
                <a:latin typeface="Courier New"/>
                <a:cs typeface="Courier New"/>
              </a:rPr>
              <a:t>TECHSTERS</a:t>
            </a:r>
            <a:r>
              <a:rPr dirty="0" sz="800" spc="30">
                <a:solidFill>
                  <a:srgbClr val="A78AF9"/>
                </a:solidFill>
                <a:latin typeface="Courier New"/>
                <a:cs typeface="Courier New"/>
              </a:rPr>
              <a:t xml:space="preserve"> </a:t>
            </a:r>
            <a:r>
              <a:rPr dirty="0" sz="800">
                <a:solidFill>
                  <a:srgbClr val="A78AF9"/>
                </a:solidFill>
                <a:latin typeface="Courier New"/>
                <a:cs typeface="Courier New"/>
              </a:rPr>
              <a:t>BOOTCAMP</a:t>
            </a:r>
            <a:r>
              <a:rPr dirty="0" sz="800" spc="30">
                <a:solidFill>
                  <a:srgbClr val="A78AF9"/>
                </a:solidFill>
                <a:latin typeface="Courier New"/>
                <a:cs typeface="Courier New"/>
              </a:rPr>
              <a:t xml:space="preserve"> </a:t>
            </a:r>
            <a:r>
              <a:rPr dirty="0" sz="800">
                <a:solidFill>
                  <a:srgbClr val="A78AF9"/>
                </a:solidFill>
                <a:latin typeface="Courier New"/>
                <a:cs typeface="Courier New"/>
              </a:rPr>
              <a:t>BY</a:t>
            </a:r>
            <a:r>
              <a:rPr dirty="0" sz="800" spc="25">
                <a:solidFill>
                  <a:srgbClr val="A78AF9"/>
                </a:solidFill>
                <a:latin typeface="Courier New"/>
                <a:cs typeface="Courier New"/>
              </a:rPr>
              <a:t xml:space="preserve"> </a:t>
            </a:r>
            <a:r>
              <a:rPr dirty="0" sz="800" spc="-10">
                <a:solidFill>
                  <a:srgbClr val="A78AF9"/>
                </a:solidFill>
                <a:latin typeface="Courier New"/>
                <a:cs typeface="Courier New"/>
              </a:rPr>
              <a:t>TECH4DEV</a:t>
            </a:r>
            <a:endParaRPr sz="800">
              <a:latin typeface="Courier New"/>
              <a:cs typeface="Courier New"/>
            </a:endParaRPr>
          </a:p>
          <a:p>
            <a:pPr algn="r" marR="31750">
              <a:lnSpc>
                <a:spcPct val="100000"/>
              </a:lnSpc>
              <a:spcBef>
                <a:spcPts val="555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//</a:t>
            </a:r>
            <a:r>
              <a:rPr dirty="0" sz="700" spc="-2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GROUP</a:t>
            </a:r>
            <a:r>
              <a:rPr dirty="0" sz="700" spc="-2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45</a:t>
            </a:r>
            <a:r>
              <a:rPr dirty="0" sz="700" spc="38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—</a:t>
            </a:r>
            <a:r>
              <a:rPr dirty="0" sz="700" spc="38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CAPSTONE</a:t>
            </a:r>
            <a:r>
              <a:rPr dirty="0" sz="700" spc="-2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10">
                <a:solidFill>
                  <a:srgbClr val="336687"/>
                </a:solidFill>
                <a:latin typeface="Courier New"/>
                <a:cs typeface="Courier New"/>
              </a:rPr>
              <a:t>PROJECT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53685" y="3521699"/>
            <a:ext cx="860425" cy="325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461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A78AF9"/>
                </a:solidFill>
                <a:latin typeface="Courier New"/>
                <a:cs typeface="Courier New"/>
              </a:rPr>
              <a:t>·</a:t>
            </a:r>
            <a:r>
              <a:rPr dirty="0" sz="800" spc="495">
                <a:solidFill>
                  <a:srgbClr val="A78AF9"/>
                </a:solidFill>
                <a:latin typeface="Courier New"/>
                <a:cs typeface="Courier New"/>
              </a:rPr>
              <a:t xml:space="preserve"> </a:t>
            </a:r>
            <a:r>
              <a:rPr dirty="0" sz="800">
                <a:solidFill>
                  <a:srgbClr val="A78AF9"/>
                </a:solidFill>
                <a:latin typeface="Courier New"/>
                <a:cs typeface="Courier New"/>
              </a:rPr>
              <a:t>COHORT</a:t>
            </a:r>
            <a:r>
              <a:rPr dirty="0" sz="800" spc="10">
                <a:solidFill>
                  <a:srgbClr val="A78AF9"/>
                </a:solidFill>
                <a:latin typeface="Courier New"/>
                <a:cs typeface="Courier New"/>
              </a:rPr>
              <a:t xml:space="preserve"> </a:t>
            </a:r>
            <a:r>
              <a:rPr dirty="0" sz="800" spc="-25">
                <a:solidFill>
                  <a:srgbClr val="A78AF9"/>
                </a:solidFill>
                <a:latin typeface="Courier New"/>
                <a:cs typeface="Courier New"/>
              </a:rPr>
              <a:t>5.0</a:t>
            </a: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—</a:t>
            </a:r>
            <a:r>
              <a:rPr dirty="0" sz="700" spc="41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20">
                <a:solidFill>
                  <a:srgbClr val="336687"/>
                </a:solidFill>
                <a:latin typeface="Courier New"/>
                <a:cs typeface="Courier New"/>
              </a:rPr>
              <a:t>2026</a:t>
            </a:r>
            <a:endParaRPr sz="700"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176474" y="4022474"/>
            <a:ext cx="4339590" cy="19050"/>
            <a:chOff x="3176474" y="4022474"/>
            <a:chExt cx="4339590" cy="19050"/>
          </a:xfrm>
        </p:grpSpPr>
        <p:sp>
          <p:nvSpPr>
            <p:cNvPr id="12" name="object 12"/>
            <p:cNvSpPr/>
            <p:nvPr/>
          </p:nvSpPr>
          <p:spPr>
            <a:xfrm>
              <a:off x="3185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239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294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347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401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45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51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563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61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67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725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78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834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887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94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99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049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103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15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211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265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32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373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427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48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53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589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644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69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751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80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86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4913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496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502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075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513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5184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5237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5291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34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40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453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550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556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615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567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5724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5777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583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588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5939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5994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604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6101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615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621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6263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6317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637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642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6479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6534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658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6641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669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6750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6803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685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691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6965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7019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7074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7127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7181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7236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7289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7343999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7398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4000" y="0"/>
                  </a:lnTo>
                </a:path>
              </a:pathLst>
            </a:custGeom>
            <a:ln w="1905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7452000" y="4031999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09" h="0">
                  <a:moveTo>
                    <a:pt x="0" y="0"/>
                  </a:moveTo>
                  <a:lnTo>
                    <a:pt x="53999" y="0"/>
                  </a:lnTo>
                </a:path>
              </a:pathLst>
            </a:custGeom>
            <a:ln w="1905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/>
          <p:cNvSpPr txBox="1"/>
          <p:nvPr/>
        </p:nvSpPr>
        <p:spPr>
          <a:xfrm>
            <a:off x="2874961" y="3898899"/>
            <a:ext cx="4942840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07615" algn="l"/>
              </a:tabLst>
            </a:pPr>
            <a:r>
              <a:rPr dirty="0" sz="5200" spc="-10" b="1">
                <a:solidFill>
                  <a:srgbClr val="00C8FF"/>
                </a:solidFill>
                <a:latin typeface="Arial"/>
                <a:cs typeface="Arial"/>
              </a:rPr>
              <a:t>CYBER</a:t>
            </a:r>
            <a:r>
              <a:rPr dirty="0" sz="5200" b="1">
                <a:solidFill>
                  <a:srgbClr val="00C8FF"/>
                </a:solidFill>
                <a:latin typeface="Arial"/>
                <a:cs typeface="Arial"/>
              </a:rPr>
              <a:t xml:space="preserve">	</a:t>
            </a:r>
            <a:r>
              <a:rPr dirty="0" sz="5200" spc="-10" b="1">
                <a:solidFill>
                  <a:srgbClr val="00C8FF"/>
                </a:solidFill>
                <a:latin typeface="Arial"/>
                <a:cs typeface="Arial"/>
              </a:rPr>
              <a:t>SHIELD</a:t>
            </a:r>
            <a:endParaRPr sz="5200">
              <a:latin typeface="Arial"/>
              <a:cs typeface="Arial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2282189" y="4744379"/>
            <a:ext cx="5051425" cy="2315845"/>
            <a:chOff x="2282189" y="4744379"/>
            <a:chExt cx="5051425" cy="2315845"/>
          </a:xfrm>
        </p:grpSpPr>
        <p:sp>
          <p:nvSpPr>
            <p:cNvPr id="94" name="object 94"/>
            <p:cNvSpPr/>
            <p:nvPr/>
          </p:nvSpPr>
          <p:spPr>
            <a:xfrm>
              <a:off x="3366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3415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3464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3514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3563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3613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3662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3712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3762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3811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3860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3910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3959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4009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4058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4108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4158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4207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4257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4306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4355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4405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4454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4504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4554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4603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4653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4702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4751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4801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4850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4900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4950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4999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5049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5098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5147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5197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5246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5296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5346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5395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5445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5494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5543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5593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5642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5692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5742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5791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5841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5890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5939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5989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6038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6088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6137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6187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6237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6286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6335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6385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6434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6484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6534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6583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6633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6682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6731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6781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6830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6880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6930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6979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70290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70784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7127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7177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7226999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500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7276500" y="4751999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 h="0">
                  <a:moveTo>
                    <a:pt x="0" y="0"/>
                  </a:moveTo>
                  <a:lnTo>
                    <a:pt x="494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2285999" y="6731999"/>
              <a:ext cx="1944370" cy="324485"/>
            </a:xfrm>
            <a:custGeom>
              <a:avLst/>
              <a:gdLst/>
              <a:ahLst/>
              <a:cxnLst/>
              <a:rect l="l" t="t" r="r" b="b"/>
              <a:pathLst>
                <a:path w="1944370" h="324484">
                  <a:moveTo>
                    <a:pt x="1905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285899"/>
                  </a:lnTo>
                  <a:lnTo>
                    <a:pt x="2991" y="300738"/>
                  </a:lnTo>
                  <a:lnTo>
                    <a:pt x="11151" y="312848"/>
                  </a:lnTo>
                  <a:lnTo>
                    <a:pt x="23261" y="321008"/>
                  </a:lnTo>
                  <a:lnTo>
                    <a:pt x="38100" y="323999"/>
                  </a:lnTo>
                  <a:lnTo>
                    <a:pt x="1905900" y="323999"/>
                  </a:lnTo>
                  <a:lnTo>
                    <a:pt x="1920738" y="321008"/>
                  </a:lnTo>
                  <a:lnTo>
                    <a:pt x="1932848" y="312848"/>
                  </a:lnTo>
                  <a:lnTo>
                    <a:pt x="1941009" y="300738"/>
                  </a:lnTo>
                  <a:lnTo>
                    <a:pt x="1944000" y="285899"/>
                  </a:lnTo>
                  <a:lnTo>
                    <a:pt x="1944000" y="38100"/>
                  </a:lnTo>
                  <a:lnTo>
                    <a:pt x="1941009" y="23261"/>
                  </a:lnTo>
                  <a:lnTo>
                    <a:pt x="1932848" y="11151"/>
                  </a:lnTo>
                  <a:lnTo>
                    <a:pt x="1920738" y="2991"/>
                  </a:lnTo>
                  <a:lnTo>
                    <a:pt x="1905900" y="0"/>
                  </a:lnTo>
                  <a:close/>
                </a:path>
              </a:pathLst>
            </a:custGeom>
            <a:solidFill>
              <a:srgbClr val="070C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2285999" y="6731999"/>
              <a:ext cx="1944370" cy="324485"/>
            </a:xfrm>
            <a:custGeom>
              <a:avLst/>
              <a:gdLst/>
              <a:ahLst/>
              <a:cxnLst/>
              <a:rect l="l" t="t" r="r" b="b"/>
              <a:pathLst>
                <a:path w="1944370" h="324484">
                  <a:moveTo>
                    <a:pt x="38100" y="323999"/>
                  </a:moveTo>
                  <a:lnTo>
                    <a:pt x="1905900" y="323999"/>
                  </a:lnTo>
                  <a:lnTo>
                    <a:pt x="1920738" y="321008"/>
                  </a:lnTo>
                  <a:lnTo>
                    <a:pt x="1932848" y="312848"/>
                  </a:lnTo>
                  <a:lnTo>
                    <a:pt x="1941009" y="300738"/>
                  </a:lnTo>
                  <a:lnTo>
                    <a:pt x="1944000" y="285899"/>
                  </a:lnTo>
                  <a:lnTo>
                    <a:pt x="1944000" y="38100"/>
                  </a:lnTo>
                  <a:lnTo>
                    <a:pt x="1941009" y="23261"/>
                  </a:lnTo>
                  <a:lnTo>
                    <a:pt x="1932848" y="11151"/>
                  </a:lnTo>
                  <a:lnTo>
                    <a:pt x="1920738" y="2991"/>
                  </a:lnTo>
                  <a:lnTo>
                    <a:pt x="1905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285899"/>
                  </a:lnTo>
                  <a:lnTo>
                    <a:pt x="2991" y="300738"/>
                  </a:lnTo>
                  <a:lnTo>
                    <a:pt x="11151" y="312848"/>
                  </a:lnTo>
                  <a:lnTo>
                    <a:pt x="23261" y="321008"/>
                  </a:lnTo>
                  <a:lnTo>
                    <a:pt x="38100" y="323999"/>
                  </a:lnTo>
                  <a:close/>
                </a:path>
              </a:pathLst>
            </a:custGeom>
            <a:ln w="762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6" name="object 176"/>
          <p:cNvSpPr txBox="1"/>
          <p:nvPr/>
        </p:nvSpPr>
        <p:spPr>
          <a:xfrm>
            <a:off x="4071936" y="4898199"/>
            <a:ext cx="2548255" cy="504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A78AF9"/>
                </a:solidFill>
                <a:latin typeface="Arial"/>
                <a:cs typeface="Arial"/>
              </a:rPr>
              <a:t xml:space="preserve">HUMAN FIREWALL </a:t>
            </a:r>
            <a:r>
              <a:rPr dirty="0" sz="1300" spc="-10">
                <a:solidFill>
                  <a:srgbClr val="A78AF9"/>
                </a:solidFill>
                <a:latin typeface="Arial"/>
                <a:cs typeface="Arial"/>
              </a:rPr>
              <a:t>CHALLENGE</a:t>
            </a:r>
            <a:endParaRPr sz="1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05"/>
              </a:spcBef>
            </a:pPr>
            <a:r>
              <a:rPr dirty="0" sz="1000">
                <a:solidFill>
                  <a:srgbClr val="336687"/>
                </a:solidFill>
                <a:latin typeface="Arial"/>
                <a:cs typeface="Arial"/>
              </a:rPr>
              <a:t>AI</a:t>
            </a:r>
            <a:r>
              <a:rPr dirty="0" sz="1000" spc="-5">
                <a:solidFill>
                  <a:srgbClr val="336687"/>
                </a:solidFill>
                <a:latin typeface="Arial"/>
                <a:cs typeface="Arial"/>
              </a:rPr>
              <a:t xml:space="preserve"> </a:t>
            </a:r>
            <a:r>
              <a:rPr dirty="0" sz="1000">
                <a:solidFill>
                  <a:srgbClr val="336687"/>
                </a:solidFill>
                <a:latin typeface="Arial"/>
                <a:cs typeface="Arial"/>
              </a:rPr>
              <a:t>Scam Simulator</a:t>
            </a:r>
            <a:r>
              <a:rPr dirty="0" sz="1000" spc="275">
                <a:solidFill>
                  <a:srgbClr val="336687"/>
                </a:solidFill>
                <a:latin typeface="Arial"/>
                <a:cs typeface="Arial"/>
              </a:rPr>
              <a:t xml:space="preserve"> </a:t>
            </a:r>
            <a:r>
              <a:rPr dirty="0" sz="1000">
                <a:solidFill>
                  <a:srgbClr val="336687"/>
                </a:solidFill>
                <a:latin typeface="Arial"/>
                <a:cs typeface="Arial"/>
              </a:rPr>
              <a:t>+</a:t>
            </a:r>
            <a:r>
              <a:rPr dirty="0" sz="1000" spc="275">
                <a:solidFill>
                  <a:srgbClr val="336687"/>
                </a:solidFill>
                <a:latin typeface="Arial"/>
                <a:cs typeface="Arial"/>
              </a:rPr>
              <a:t xml:space="preserve"> </a:t>
            </a:r>
            <a:r>
              <a:rPr dirty="0" sz="1000">
                <a:solidFill>
                  <a:srgbClr val="336687"/>
                </a:solidFill>
                <a:latin typeface="Arial"/>
                <a:cs typeface="Arial"/>
              </a:rPr>
              <a:t>Immunity</a:t>
            </a:r>
            <a:r>
              <a:rPr dirty="0" sz="1000" spc="-5">
                <a:solidFill>
                  <a:srgbClr val="336687"/>
                </a:solidFill>
                <a:latin typeface="Arial"/>
                <a:cs typeface="Arial"/>
              </a:rPr>
              <a:t xml:space="preserve"> </a:t>
            </a:r>
            <a:r>
              <a:rPr dirty="0" sz="1000" spc="-10">
                <a:solidFill>
                  <a:srgbClr val="336687"/>
                </a:solidFill>
                <a:latin typeface="Arial"/>
                <a:cs typeface="Arial"/>
              </a:rPr>
              <a:t>Trainer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2788099" y="6840049"/>
            <a:ext cx="9404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>SDG 4</a:t>
            </a:r>
            <a:r>
              <a:rPr dirty="0" sz="750" spc="450">
                <a:solidFill>
                  <a:srgbClr val="00C8FF"/>
                </a:solidFill>
                <a:latin typeface="Courier New"/>
                <a:cs typeface="Courier New"/>
              </a:rPr>
              <a:t xml:space="preserve">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EDUCATION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178" name="object 178"/>
          <p:cNvGrpSpPr/>
          <p:nvPr/>
        </p:nvGrpSpPr>
        <p:grpSpPr>
          <a:xfrm>
            <a:off x="4370189" y="6728190"/>
            <a:ext cx="1951989" cy="332105"/>
            <a:chOff x="4370189" y="6728190"/>
            <a:chExt cx="1951989" cy="332105"/>
          </a:xfrm>
        </p:grpSpPr>
        <p:sp>
          <p:nvSpPr>
            <p:cNvPr id="179" name="object 179"/>
            <p:cNvSpPr/>
            <p:nvPr/>
          </p:nvSpPr>
          <p:spPr>
            <a:xfrm>
              <a:off x="4373999" y="6732000"/>
              <a:ext cx="1944370" cy="324485"/>
            </a:xfrm>
            <a:custGeom>
              <a:avLst/>
              <a:gdLst/>
              <a:ahLst/>
              <a:cxnLst/>
              <a:rect l="l" t="t" r="r" b="b"/>
              <a:pathLst>
                <a:path w="1944370" h="324484">
                  <a:moveTo>
                    <a:pt x="1905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285899"/>
                  </a:lnTo>
                  <a:lnTo>
                    <a:pt x="2991" y="300738"/>
                  </a:lnTo>
                  <a:lnTo>
                    <a:pt x="11151" y="312848"/>
                  </a:lnTo>
                  <a:lnTo>
                    <a:pt x="23261" y="321008"/>
                  </a:lnTo>
                  <a:lnTo>
                    <a:pt x="38100" y="323999"/>
                  </a:lnTo>
                  <a:lnTo>
                    <a:pt x="1905900" y="323999"/>
                  </a:lnTo>
                  <a:lnTo>
                    <a:pt x="1920738" y="321008"/>
                  </a:lnTo>
                  <a:lnTo>
                    <a:pt x="1932848" y="312848"/>
                  </a:lnTo>
                  <a:lnTo>
                    <a:pt x="1941009" y="300738"/>
                  </a:lnTo>
                  <a:lnTo>
                    <a:pt x="1944000" y="285899"/>
                  </a:lnTo>
                  <a:lnTo>
                    <a:pt x="1944000" y="38100"/>
                  </a:lnTo>
                  <a:lnTo>
                    <a:pt x="1941009" y="23261"/>
                  </a:lnTo>
                  <a:lnTo>
                    <a:pt x="1932848" y="11151"/>
                  </a:lnTo>
                  <a:lnTo>
                    <a:pt x="1920738" y="2991"/>
                  </a:lnTo>
                  <a:lnTo>
                    <a:pt x="1905900" y="0"/>
                  </a:lnTo>
                  <a:close/>
                </a:path>
              </a:pathLst>
            </a:custGeom>
            <a:solidFill>
              <a:srgbClr val="070C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4373999" y="6732000"/>
              <a:ext cx="1944370" cy="324485"/>
            </a:xfrm>
            <a:custGeom>
              <a:avLst/>
              <a:gdLst/>
              <a:ahLst/>
              <a:cxnLst/>
              <a:rect l="l" t="t" r="r" b="b"/>
              <a:pathLst>
                <a:path w="1944370" h="324484">
                  <a:moveTo>
                    <a:pt x="38100" y="323999"/>
                  </a:moveTo>
                  <a:lnTo>
                    <a:pt x="1905900" y="323999"/>
                  </a:lnTo>
                  <a:lnTo>
                    <a:pt x="1920738" y="321008"/>
                  </a:lnTo>
                  <a:lnTo>
                    <a:pt x="1932848" y="312848"/>
                  </a:lnTo>
                  <a:lnTo>
                    <a:pt x="1941009" y="300738"/>
                  </a:lnTo>
                  <a:lnTo>
                    <a:pt x="1944000" y="285899"/>
                  </a:lnTo>
                  <a:lnTo>
                    <a:pt x="1944000" y="38100"/>
                  </a:lnTo>
                  <a:lnTo>
                    <a:pt x="1941009" y="23261"/>
                  </a:lnTo>
                  <a:lnTo>
                    <a:pt x="1932848" y="11151"/>
                  </a:lnTo>
                  <a:lnTo>
                    <a:pt x="1920738" y="2991"/>
                  </a:lnTo>
                  <a:lnTo>
                    <a:pt x="1905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285899"/>
                  </a:lnTo>
                  <a:lnTo>
                    <a:pt x="2991" y="300738"/>
                  </a:lnTo>
                  <a:lnTo>
                    <a:pt x="11151" y="312848"/>
                  </a:lnTo>
                  <a:lnTo>
                    <a:pt x="23261" y="321008"/>
                  </a:lnTo>
                  <a:lnTo>
                    <a:pt x="38100" y="323999"/>
                  </a:lnTo>
                  <a:close/>
                </a:path>
              </a:pathLst>
            </a:custGeom>
            <a:ln w="762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1" name="object 181"/>
          <p:cNvSpPr txBox="1"/>
          <p:nvPr/>
        </p:nvSpPr>
        <p:spPr>
          <a:xfrm>
            <a:off x="4847525" y="6840049"/>
            <a:ext cx="99758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A854F6"/>
                </a:solidFill>
                <a:latin typeface="Courier New"/>
                <a:cs typeface="Courier New"/>
              </a:rPr>
              <a:t>SDG 9</a:t>
            </a:r>
            <a:r>
              <a:rPr dirty="0" sz="750" spc="450">
                <a:solidFill>
                  <a:srgbClr val="A854F6"/>
                </a:solidFill>
                <a:latin typeface="Courier New"/>
                <a:cs typeface="Courier New"/>
              </a:rPr>
              <a:t xml:space="preserve"> </a:t>
            </a:r>
            <a:r>
              <a:rPr dirty="0" sz="750" spc="-10">
                <a:solidFill>
                  <a:srgbClr val="A854F6"/>
                </a:solidFill>
                <a:latin typeface="Courier New"/>
                <a:cs typeface="Courier New"/>
              </a:rPr>
              <a:t>INNOVATION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182" name="object 182"/>
          <p:cNvGrpSpPr/>
          <p:nvPr/>
        </p:nvGrpSpPr>
        <p:grpSpPr>
          <a:xfrm>
            <a:off x="6458189" y="6728190"/>
            <a:ext cx="1951989" cy="332105"/>
            <a:chOff x="6458189" y="6728190"/>
            <a:chExt cx="1951989" cy="332105"/>
          </a:xfrm>
        </p:grpSpPr>
        <p:sp>
          <p:nvSpPr>
            <p:cNvPr id="183" name="object 183"/>
            <p:cNvSpPr/>
            <p:nvPr/>
          </p:nvSpPr>
          <p:spPr>
            <a:xfrm>
              <a:off x="6461999" y="6732000"/>
              <a:ext cx="1944370" cy="324485"/>
            </a:xfrm>
            <a:custGeom>
              <a:avLst/>
              <a:gdLst/>
              <a:ahLst/>
              <a:cxnLst/>
              <a:rect l="l" t="t" r="r" b="b"/>
              <a:pathLst>
                <a:path w="1944370" h="324484">
                  <a:moveTo>
                    <a:pt x="1905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285899"/>
                  </a:lnTo>
                  <a:lnTo>
                    <a:pt x="2991" y="300738"/>
                  </a:lnTo>
                  <a:lnTo>
                    <a:pt x="11151" y="312848"/>
                  </a:lnTo>
                  <a:lnTo>
                    <a:pt x="23261" y="321008"/>
                  </a:lnTo>
                  <a:lnTo>
                    <a:pt x="38100" y="323999"/>
                  </a:lnTo>
                  <a:lnTo>
                    <a:pt x="1905900" y="323999"/>
                  </a:lnTo>
                  <a:lnTo>
                    <a:pt x="1920738" y="321008"/>
                  </a:lnTo>
                  <a:lnTo>
                    <a:pt x="1932848" y="312848"/>
                  </a:lnTo>
                  <a:lnTo>
                    <a:pt x="1941009" y="300738"/>
                  </a:lnTo>
                  <a:lnTo>
                    <a:pt x="1944000" y="285899"/>
                  </a:lnTo>
                  <a:lnTo>
                    <a:pt x="1944000" y="38100"/>
                  </a:lnTo>
                  <a:lnTo>
                    <a:pt x="1941009" y="23261"/>
                  </a:lnTo>
                  <a:lnTo>
                    <a:pt x="1932848" y="11151"/>
                  </a:lnTo>
                  <a:lnTo>
                    <a:pt x="1920738" y="2991"/>
                  </a:lnTo>
                  <a:lnTo>
                    <a:pt x="1905900" y="0"/>
                  </a:lnTo>
                  <a:close/>
                </a:path>
              </a:pathLst>
            </a:custGeom>
            <a:solidFill>
              <a:srgbClr val="070C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6461999" y="6732000"/>
              <a:ext cx="1944370" cy="324485"/>
            </a:xfrm>
            <a:custGeom>
              <a:avLst/>
              <a:gdLst/>
              <a:ahLst/>
              <a:cxnLst/>
              <a:rect l="l" t="t" r="r" b="b"/>
              <a:pathLst>
                <a:path w="1944370" h="324484">
                  <a:moveTo>
                    <a:pt x="38100" y="323999"/>
                  </a:moveTo>
                  <a:lnTo>
                    <a:pt x="1905900" y="323999"/>
                  </a:lnTo>
                  <a:lnTo>
                    <a:pt x="1920738" y="321008"/>
                  </a:lnTo>
                  <a:lnTo>
                    <a:pt x="1932848" y="312848"/>
                  </a:lnTo>
                  <a:lnTo>
                    <a:pt x="1941009" y="300738"/>
                  </a:lnTo>
                  <a:lnTo>
                    <a:pt x="1944000" y="285899"/>
                  </a:lnTo>
                  <a:lnTo>
                    <a:pt x="1944000" y="38100"/>
                  </a:lnTo>
                  <a:lnTo>
                    <a:pt x="1941009" y="23261"/>
                  </a:lnTo>
                  <a:lnTo>
                    <a:pt x="1932848" y="11151"/>
                  </a:lnTo>
                  <a:lnTo>
                    <a:pt x="1920738" y="2991"/>
                  </a:lnTo>
                  <a:lnTo>
                    <a:pt x="1905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285899"/>
                  </a:lnTo>
                  <a:lnTo>
                    <a:pt x="2991" y="300738"/>
                  </a:lnTo>
                  <a:lnTo>
                    <a:pt x="11151" y="312848"/>
                  </a:lnTo>
                  <a:lnTo>
                    <a:pt x="23261" y="321008"/>
                  </a:lnTo>
                  <a:lnTo>
                    <a:pt x="38100" y="323999"/>
                  </a:lnTo>
                  <a:close/>
                </a:path>
              </a:pathLst>
            </a:custGeom>
            <a:ln w="7619">
              <a:solidFill>
                <a:srgbClr val="05B5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5" name="object 185"/>
          <p:cNvSpPr txBox="1"/>
          <p:nvPr/>
        </p:nvSpPr>
        <p:spPr>
          <a:xfrm>
            <a:off x="6992674" y="6840049"/>
            <a:ext cx="88328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5B5D4"/>
                </a:solidFill>
                <a:latin typeface="Courier New"/>
                <a:cs typeface="Courier New"/>
              </a:rPr>
              <a:t>SDG 16</a:t>
            </a:r>
            <a:r>
              <a:rPr dirty="0" sz="750" spc="450">
                <a:solidFill>
                  <a:srgbClr val="05B5D4"/>
                </a:solidFill>
                <a:latin typeface="Courier New"/>
                <a:cs typeface="Courier New"/>
              </a:rPr>
              <a:t xml:space="preserve"> </a:t>
            </a:r>
            <a:r>
              <a:rPr dirty="0" sz="750" spc="-10">
                <a:solidFill>
                  <a:srgbClr val="05B5D4"/>
                </a:solidFill>
                <a:latin typeface="Courier New"/>
                <a:cs typeface="Courier New"/>
              </a:rPr>
              <a:t>JUSTICE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86" name="object 18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187" name="object 18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 xml:space="preserve"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 xml:space="preserve"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 xml:space="preserve">03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197459"/>
            <a:ext cx="10692130" cy="362585"/>
            <a:chOff x="0" y="7197459"/>
            <a:chExt cx="10692130" cy="36258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63299" y="690399"/>
            <a:ext cx="3395979" cy="46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05"/>
              </a:lnSpc>
              <a:spcBef>
                <a:spcPts val="100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//</a:t>
            </a:r>
            <a:r>
              <a:rPr dirty="0" sz="700" spc="-2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THE</a:t>
            </a:r>
            <a:r>
              <a:rPr dirty="0" sz="700" spc="-2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10">
                <a:solidFill>
                  <a:srgbClr val="336687"/>
                </a:solidFill>
                <a:latin typeface="Courier New"/>
                <a:cs typeface="Courier New"/>
              </a:rPr>
              <a:t>PROBLEM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2745"/>
              </a:lnSpc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Why</a:t>
            </a: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Does</a:t>
            </a: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400" spc="-10" b="1">
                <a:solidFill>
                  <a:srgbClr val="00C8FF"/>
                </a:solidFill>
                <a:latin typeface="Arial"/>
                <a:cs typeface="Arial"/>
              </a:rPr>
              <a:t>Matter?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845540" y="1127649"/>
            <a:ext cx="1101090" cy="12700"/>
            <a:chOff x="2845540" y="1127649"/>
            <a:chExt cx="1101090" cy="12700"/>
          </a:xfrm>
        </p:grpSpPr>
        <p:sp>
          <p:nvSpPr>
            <p:cNvPr id="10" name="object 10"/>
            <p:cNvSpPr/>
            <p:nvPr/>
          </p:nvSpPr>
          <p:spPr>
            <a:xfrm>
              <a:off x="2845540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859298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873056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886814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900572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914330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92808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94184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955603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969361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983119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99687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01063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024393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038151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051909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06566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079424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093182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106940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120698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134456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148214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161972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175730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189488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203246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217004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230761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69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244519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325827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27203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285793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299551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3313309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32706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34082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354583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368341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3382098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3395856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3409614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3423372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3437130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450888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464646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478404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492162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505920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3519678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353343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3547193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3560951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574709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58846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360222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615983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629741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3643499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365725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367101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3684772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3698530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3712288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3726046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3739804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3753562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3767320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3781078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3794836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3808594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3822352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3836109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384986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386362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3877383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3891141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3904899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3918657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3932415" y="113399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 h="0">
                  <a:moveTo>
                    <a:pt x="0" y="0"/>
                  </a:moveTo>
                  <a:lnTo>
                    <a:pt x="13757" y="0"/>
                  </a:lnTo>
                </a:path>
              </a:pathLst>
            </a:custGeom>
            <a:ln w="1270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/>
          <p:cNvGrpSpPr/>
          <p:nvPr/>
        </p:nvGrpSpPr>
        <p:grpSpPr>
          <a:xfrm>
            <a:off x="575999" y="1252379"/>
            <a:ext cx="2520315" cy="15240"/>
            <a:chOff x="575999" y="1252379"/>
            <a:chExt cx="2520315" cy="15240"/>
          </a:xfrm>
        </p:grpSpPr>
        <p:sp>
          <p:nvSpPr>
            <p:cNvPr id="91" name="object 91"/>
            <p:cNvSpPr/>
            <p:nvPr/>
          </p:nvSpPr>
          <p:spPr>
            <a:xfrm>
              <a:off x="57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07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3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7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701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33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6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796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2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5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890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2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5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85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01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04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079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11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4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17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20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23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26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30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33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36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39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42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45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48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52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55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58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61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64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67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71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74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77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80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83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86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89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93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96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99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02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05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208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211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215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218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221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224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227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230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234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237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240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243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246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249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252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256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259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262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265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268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71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74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278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281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284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287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290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93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297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300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303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306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/>
          <p:cNvSpPr txBox="1"/>
          <p:nvPr/>
        </p:nvSpPr>
        <p:spPr>
          <a:xfrm>
            <a:off x="563299" y="1427350"/>
            <a:ext cx="8192134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Online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scams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are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becoming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increasingly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sophisticated.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The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human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factor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remains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the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weakest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link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in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cybersecurity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—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and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most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training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is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boring,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passive,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and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 spc="-10">
                <a:solidFill>
                  <a:srgbClr val="AAAAAA"/>
                </a:solidFill>
                <a:latin typeface="Arial"/>
                <a:cs typeface="Arial"/>
              </a:rPr>
              <a:t>forgettable.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72" name="object 172"/>
          <p:cNvGrpSpPr/>
          <p:nvPr/>
        </p:nvGrpSpPr>
        <p:grpSpPr>
          <a:xfrm>
            <a:off x="572824" y="2048824"/>
            <a:ext cx="3090545" cy="1374775"/>
            <a:chOff x="572824" y="2048824"/>
            <a:chExt cx="3090545" cy="1374775"/>
          </a:xfrm>
        </p:grpSpPr>
        <p:sp>
          <p:nvSpPr>
            <p:cNvPr id="173" name="object 173"/>
            <p:cNvSpPr/>
            <p:nvPr/>
          </p:nvSpPr>
          <p:spPr>
            <a:xfrm>
              <a:off x="575999" y="2051999"/>
              <a:ext cx="3084195" cy="1368425"/>
            </a:xfrm>
            <a:custGeom>
              <a:avLst/>
              <a:gdLst/>
              <a:ahLst/>
              <a:cxnLst/>
              <a:rect l="l" t="t" r="r" b="b"/>
              <a:pathLst>
                <a:path w="3084195" h="1368425">
                  <a:moveTo>
                    <a:pt x="3045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329899"/>
                  </a:lnTo>
                  <a:lnTo>
                    <a:pt x="2991" y="1344738"/>
                  </a:lnTo>
                  <a:lnTo>
                    <a:pt x="11151" y="1356847"/>
                  </a:lnTo>
                  <a:lnTo>
                    <a:pt x="23261" y="1365008"/>
                  </a:lnTo>
                  <a:lnTo>
                    <a:pt x="38100" y="1367999"/>
                  </a:lnTo>
                  <a:lnTo>
                    <a:pt x="3045900" y="1367999"/>
                  </a:lnTo>
                  <a:lnTo>
                    <a:pt x="3060738" y="1365008"/>
                  </a:lnTo>
                  <a:lnTo>
                    <a:pt x="3072848" y="1356847"/>
                  </a:lnTo>
                  <a:lnTo>
                    <a:pt x="3081008" y="1344738"/>
                  </a:lnTo>
                  <a:lnTo>
                    <a:pt x="3084000" y="1329899"/>
                  </a:lnTo>
                  <a:lnTo>
                    <a:pt x="3084000" y="38100"/>
                  </a:lnTo>
                  <a:lnTo>
                    <a:pt x="3081008" y="23261"/>
                  </a:lnTo>
                  <a:lnTo>
                    <a:pt x="3072848" y="11151"/>
                  </a:lnTo>
                  <a:lnTo>
                    <a:pt x="3060738" y="2991"/>
                  </a:lnTo>
                  <a:lnTo>
                    <a:pt x="3045900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575999" y="2051999"/>
              <a:ext cx="3084195" cy="1368425"/>
            </a:xfrm>
            <a:custGeom>
              <a:avLst/>
              <a:gdLst/>
              <a:ahLst/>
              <a:cxnLst/>
              <a:rect l="l" t="t" r="r" b="b"/>
              <a:pathLst>
                <a:path w="3084195" h="1368425">
                  <a:moveTo>
                    <a:pt x="38100" y="1367999"/>
                  </a:moveTo>
                  <a:lnTo>
                    <a:pt x="3045900" y="1367999"/>
                  </a:lnTo>
                  <a:lnTo>
                    <a:pt x="3060738" y="1365008"/>
                  </a:lnTo>
                  <a:lnTo>
                    <a:pt x="3072848" y="1356847"/>
                  </a:lnTo>
                  <a:lnTo>
                    <a:pt x="3081008" y="1344738"/>
                  </a:lnTo>
                  <a:lnTo>
                    <a:pt x="3084000" y="1329899"/>
                  </a:lnTo>
                  <a:lnTo>
                    <a:pt x="3084000" y="38100"/>
                  </a:lnTo>
                  <a:lnTo>
                    <a:pt x="3081008" y="23261"/>
                  </a:lnTo>
                  <a:lnTo>
                    <a:pt x="3072848" y="11151"/>
                  </a:lnTo>
                  <a:lnTo>
                    <a:pt x="3060738" y="2991"/>
                  </a:lnTo>
                  <a:lnTo>
                    <a:pt x="3045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329899"/>
                  </a:lnTo>
                  <a:lnTo>
                    <a:pt x="2991" y="1344738"/>
                  </a:lnTo>
                  <a:lnTo>
                    <a:pt x="11151" y="1356847"/>
                  </a:lnTo>
                  <a:lnTo>
                    <a:pt x="23261" y="1365008"/>
                  </a:lnTo>
                  <a:lnTo>
                    <a:pt x="38100" y="1367999"/>
                  </a:lnTo>
                  <a:close/>
                </a:path>
              </a:pathLst>
            </a:custGeom>
            <a:ln w="63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575999" y="2051999"/>
              <a:ext cx="31750" cy="1368425"/>
            </a:xfrm>
            <a:custGeom>
              <a:avLst/>
              <a:gdLst/>
              <a:ahLst/>
              <a:cxnLst/>
              <a:rect l="l" t="t" r="r" b="b"/>
              <a:pathLst>
                <a:path w="31750" h="1368425">
                  <a:moveTo>
                    <a:pt x="31750" y="0"/>
                  </a:moveTo>
                  <a:lnTo>
                    <a:pt x="0" y="0"/>
                  </a:lnTo>
                  <a:lnTo>
                    <a:pt x="0" y="1367999"/>
                  </a:lnTo>
                  <a:lnTo>
                    <a:pt x="31750" y="1367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6" name="object 176"/>
          <p:cNvSpPr txBox="1"/>
          <p:nvPr/>
        </p:nvSpPr>
        <p:spPr>
          <a:xfrm>
            <a:off x="612512" y="2219350"/>
            <a:ext cx="3024505" cy="578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C8FF"/>
                </a:solidFill>
                <a:latin typeface="Arial"/>
                <a:cs typeface="Arial"/>
              </a:rPr>
              <a:t>FINANCIAL</a:t>
            </a:r>
            <a:r>
              <a:rPr dirty="0" sz="850" spc="-50" b="1">
                <a:solidFill>
                  <a:srgbClr val="00C8FF"/>
                </a:solidFill>
                <a:latin typeface="Arial"/>
                <a:cs typeface="Arial"/>
              </a:rPr>
              <a:t xml:space="preserve"> </a:t>
            </a:r>
            <a:r>
              <a:rPr dirty="0" sz="850" spc="-10" b="1">
                <a:solidFill>
                  <a:srgbClr val="00C8FF"/>
                </a:solidFill>
                <a:latin typeface="Arial"/>
                <a:cs typeface="Arial"/>
              </a:rPr>
              <a:t>LOSSES</a:t>
            </a:r>
            <a:endParaRPr sz="850">
              <a:latin typeface="Arial"/>
              <a:cs typeface="Arial"/>
            </a:endParaRPr>
          </a:p>
          <a:p>
            <a:pPr marL="142875" marR="247015">
              <a:lnSpc>
                <a:spcPct val="141700"/>
              </a:lnSpc>
              <a:spcBef>
                <a:spcPts val="610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Cybercrime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costs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Africa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billions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annually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through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 spc="-10">
                <a:solidFill>
                  <a:srgbClr val="667787"/>
                </a:solidFill>
                <a:latin typeface="Arial"/>
                <a:cs typeface="Arial"/>
              </a:rPr>
              <a:t xml:space="preserve">phishing,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fraud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and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identity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 spc="-10">
                <a:solidFill>
                  <a:srgbClr val="667787"/>
                </a:solidFill>
                <a:latin typeface="Arial"/>
                <a:cs typeface="Arial"/>
              </a:rPr>
              <a:t>theft.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77" name="object 177"/>
          <p:cNvGrpSpPr/>
          <p:nvPr/>
        </p:nvGrpSpPr>
        <p:grpSpPr>
          <a:xfrm>
            <a:off x="3800825" y="2048824"/>
            <a:ext cx="3090545" cy="1374775"/>
            <a:chOff x="3800825" y="2048824"/>
            <a:chExt cx="3090545" cy="1374775"/>
          </a:xfrm>
        </p:grpSpPr>
        <p:sp>
          <p:nvSpPr>
            <p:cNvPr id="178" name="object 178"/>
            <p:cNvSpPr/>
            <p:nvPr/>
          </p:nvSpPr>
          <p:spPr>
            <a:xfrm>
              <a:off x="3804000" y="2051999"/>
              <a:ext cx="3084195" cy="1368425"/>
            </a:xfrm>
            <a:custGeom>
              <a:avLst/>
              <a:gdLst/>
              <a:ahLst/>
              <a:cxnLst/>
              <a:rect l="l" t="t" r="r" b="b"/>
              <a:pathLst>
                <a:path w="3084195" h="1368425">
                  <a:moveTo>
                    <a:pt x="3045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329899"/>
                  </a:lnTo>
                  <a:lnTo>
                    <a:pt x="2991" y="1344738"/>
                  </a:lnTo>
                  <a:lnTo>
                    <a:pt x="11151" y="1356847"/>
                  </a:lnTo>
                  <a:lnTo>
                    <a:pt x="23261" y="1365008"/>
                  </a:lnTo>
                  <a:lnTo>
                    <a:pt x="38100" y="1367999"/>
                  </a:lnTo>
                  <a:lnTo>
                    <a:pt x="3045899" y="1367999"/>
                  </a:lnTo>
                  <a:lnTo>
                    <a:pt x="3060737" y="1365008"/>
                  </a:lnTo>
                  <a:lnTo>
                    <a:pt x="3072847" y="1356847"/>
                  </a:lnTo>
                  <a:lnTo>
                    <a:pt x="3081008" y="1344738"/>
                  </a:lnTo>
                  <a:lnTo>
                    <a:pt x="3083999" y="1329899"/>
                  </a:lnTo>
                  <a:lnTo>
                    <a:pt x="3083999" y="38100"/>
                  </a:lnTo>
                  <a:lnTo>
                    <a:pt x="3081008" y="23261"/>
                  </a:lnTo>
                  <a:lnTo>
                    <a:pt x="3072847" y="11151"/>
                  </a:lnTo>
                  <a:lnTo>
                    <a:pt x="3060737" y="2991"/>
                  </a:lnTo>
                  <a:lnTo>
                    <a:pt x="3045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3804000" y="2051999"/>
              <a:ext cx="3084195" cy="1368425"/>
            </a:xfrm>
            <a:custGeom>
              <a:avLst/>
              <a:gdLst/>
              <a:ahLst/>
              <a:cxnLst/>
              <a:rect l="l" t="t" r="r" b="b"/>
              <a:pathLst>
                <a:path w="3084195" h="1368425">
                  <a:moveTo>
                    <a:pt x="38100" y="1367999"/>
                  </a:moveTo>
                  <a:lnTo>
                    <a:pt x="3045899" y="1367999"/>
                  </a:lnTo>
                  <a:lnTo>
                    <a:pt x="3060737" y="1365008"/>
                  </a:lnTo>
                  <a:lnTo>
                    <a:pt x="3072847" y="1356847"/>
                  </a:lnTo>
                  <a:lnTo>
                    <a:pt x="3081008" y="1344738"/>
                  </a:lnTo>
                  <a:lnTo>
                    <a:pt x="3083999" y="1329899"/>
                  </a:lnTo>
                  <a:lnTo>
                    <a:pt x="3083999" y="38100"/>
                  </a:lnTo>
                  <a:lnTo>
                    <a:pt x="3081008" y="23261"/>
                  </a:lnTo>
                  <a:lnTo>
                    <a:pt x="3072847" y="11151"/>
                  </a:lnTo>
                  <a:lnTo>
                    <a:pt x="3060737" y="2991"/>
                  </a:lnTo>
                  <a:lnTo>
                    <a:pt x="3045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329899"/>
                  </a:lnTo>
                  <a:lnTo>
                    <a:pt x="2991" y="1344738"/>
                  </a:lnTo>
                  <a:lnTo>
                    <a:pt x="11151" y="1356847"/>
                  </a:lnTo>
                  <a:lnTo>
                    <a:pt x="23261" y="1365008"/>
                  </a:lnTo>
                  <a:lnTo>
                    <a:pt x="38100" y="1367999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3804000" y="2051999"/>
              <a:ext cx="31750" cy="1368425"/>
            </a:xfrm>
            <a:custGeom>
              <a:avLst/>
              <a:gdLst/>
              <a:ahLst/>
              <a:cxnLst/>
              <a:rect l="l" t="t" r="r" b="b"/>
              <a:pathLst>
                <a:path w="31750" h="1368425">
                  <a:moveTo>
                    <a:pt x="31750" y="0"/>
                  </a:moveTo>
                  <a:lnTo>
                    <a:pt x="0" y="0"/>
                  </a:lnTo>
                  <a:lnTo>
                    <a:pt x="0" y="1367999"/>
                  </a:lnTo>
                  <a:lnTo>
                    <a:pt x="31750" y="1367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1" name="object 181"/>
          <p:cNvSpPr txBox="1"/>
          <p:nvPr/>
        </p:nvSpPr>
        <p:spPr>
          <a:xfrm>
            <a:off x="3840512" y="2219350"/>
            <a:ext cx="3024505" cy="578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A854F6"/>
                </a:solidFill>
                <a:latin typeface="Arial"/>
                <a:cs typeface="Arial"/>
              </a:rPr>
              <a:t xml:space="preserve">HUMAN </a:t>
            </a:r>
            <a:r>
              <a:rPr dirty="0" sz="850" spc="-10" b="1">
                <a:solidFill>
                  <a:srgbClr val="A854F6"/>
                </a:solidFill>
                <a:latin typeface="Arial"/>
                <a:cs typeface="Arial"/>
              </a:rPr>
              <a:t>ERROR</a:t>
            </a:r>
            <a:endParaRPr sz="850">
              <a:latin typeface="Arial"/>
              <a:cs typeface="Arial"/>
            </a:endParaRPr>
          </a:p>
          <a:p>
            <a:pPr marL="142875" marR="247015">
              <a:lnSpc>
                <a:spcPct val="141700"/>
              </a:lnSpc>
              <a:spcBef>
                <a:spcPts val="610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Over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70%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of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cyber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attacks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exploit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human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behaviour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—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>not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 xml:space="preserve"> technical</a:t>
            </a:r>
            <a:r>
              <a:rPr dirty="0" sz="800" spc="-3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 spc="-10">
                <a:solidFill>
                  <a:srgbClr val="667787"/>
                </a:solidFill>
                <a:latin typeface="Arial"/>
                <a:cs typeface="Arial"/>
              </a:rPr>
              <a:t>vulnerabilities.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82" name="object 182"/>
          <p:cNvGrpSpPr/>
          <p:nvPr/>
        </p:nvGrpSpPr>
        <p:grpSpPr>
          <a:xfrm>
            <a:off x="7028825" y="2048824"/>
            <a:ext cx="3090545" cy="1374775"/>
            <a:chOff x="7028825" y="2048824"/>
            <a:chExt cx="3090545" cy="1374775"/>
          </a:xfrm>
        </p:grpSpPr>
        <p:sp>
          <p:nvSpPr>
            <p:cNvPr id="183" name="object 183"/>
            <p:cNvSpPr/>
            <p:nvPr/>
          </p:nvSpPr>
          <p:spPr>
            <a:xfrm>
              <a:off x="7032000" y="2051999"/>
              <a:ext cx="3084195" cy="1368425"/>
            </a:xfrm>
            <a:custGeom>
              <a:avLst/>
              <a:gdLst/>
              <a:ahLst/>
              <a:cxnLst/>
              <a:rect l="l" t="t" r="r" b="b"/>
              <a:pathLst>
                <a:path w="3084195" h="1368425">
                  <a:moveTo>
                    <a:pt x="3045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329899"/>
                  </a:lnTo>
                  <a:lnTo>
                    <a:pt x="2991" y="1344738"/>
                  </a:lnTo>
                  <a:lnTo>
                    <a:pt x="11151" y="1356847"/>
                  </a:lnTo>
                  <a:lnTo>
                    <a:pt x="23261" y="1365008"/>
                  </a:lnTo>
                  <a:lnTo>
                    <a:pt x="38100" y="1367999"/>
                  </a:lnTo>
                  <a:lnTo>
                    <a:pt x="3045899" y="1367999"/>
                  </a:lnTo>
                  <a:lnTo>
                    <a:pt x="3060737" y="1365008"/>
                  </a:lnTo>
                  <a:lnTo>
                    <a:pt x="3072847" y="1356847"/>
                  </a:lnTo>
                  <a:lnTo>
                    <a:pt x="3081008" y="1344738"/>
                  </a:lnTo>
                  <a:lnTo>
                    <a:pt x="3083999" y="1329899"/>
                  </a:lnTo>
                  <a:lnTo>
                    <a:pt x="3083999" y="38100"/>
                  </a:lnTo>
                  <a:lnTo>
                    <a:pt x="3081008" y="23261"/>
                  </a:lnTo>
                  <a:lnTo>
                    <a:pt x="3072847" y="11151"/>
                  </a:lnTo>
                  <a:lnTo>
                    <a:pt x="3060737" y="2991"/>
                  </a:lnTo>
                  <a:lnTo>
                    <a:pt x="3045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7032000" y="2051999"/>
              <a:ext cx="3084195" cy="1368425"/>
            </a:xfrm>
            <a:custGeom>
              <a:avLst/>
              <a:gdLst/>
              <a:ahLst/>
              <a:cxnLst/>
              <a:rect l="l" t="t" r="r" b="b"/>
              <a:pathLst>
                <a:path w="3084195" h="1368425">
                  <a:moveTo>
                    <a:pt x="38100" y="1367999"/>
                  </a:moveTo>
                  <a:lnTo>
                    <a:pt x="3045899" y="1367999"/>
                  </a:lnTo>
                  <a:lnTo>
                    <a:pt x="3060737" y="1365008"/>
                  </a:lnTo>
                  <a:lnTo>
                    <a:pt x="3072847" y="1356847"/>
                  </a:lnTo>
                  <a:lnTo>
                    <a:pt x="3081008" y="1344738"/>
                  </a:lnTo>
                  <a:lnTo>
                    <a:pt x="3083999" y="1329899"/>
                  </a:lnTo>
                  <a:lnTo>
                    <a:pt x="3083999" y="38100"/>
                  </a:lnTo>
                  <a:lnTo>
                    <a:pt x="3081008" y="23261"/>
                  </a:lnTo>
                  <a:lnTo>
                    <a:pt x="3072847" y="11151"/>
                  </a:lnTo>
                  <a:lnTo>
                    <a:pt x="3060737" y="2991"/>
                  </a:lnTo>
                  <a:lnTo>
                    <a:pt x="3045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329899"/>
                  </a:lnTo>
                  <a:lnTo>
                    <a:pt x="2991" y="1344738"/>
                  </a:lnTo>
                  <a:lnTo>
                    <a:pt x="11151" y="1356847"/>
                  </a:lnTo>
                  <a:lnTo>
                    <a:pt x="23261" y="1365008"/>
                  </a:lnTo>
                  <a:lnTo>
                    <a:pt x="38100" y="1367999"/>
                  </a:lnTo>
                  <a:close/>
                </a:path>
              </a:pathLst>
            </a:custGeom>
            <a:ln w="6350">
              <a:solidFill>
                <a:srgbClr val="05B5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7032000" y="2051999"/>
              <a:ext cx="31750" cy="1368425"/>
            </a:xfrm>
            <a:custGeom>
              <a:avLst/>
              <a:gdLst/>
              <a:ahLst/>
              <a:cxnLst/>
              <a:rect l="l" t="t" r="r" b="b"/>
              <a:pathLst>
                <a:path w="31750" h="1368425">
                  <a:moveTo>
                    <a:pt x="31750" y="0"/>
                  </a:moveTo>
                  <a:lnTo>
                    <a:pt x="0" y="0"/>
                  </a:lnTo>
                  <a:lnTo>
                    <a:pt x="0" y="1367999"/>
                  </a:lnTo>
                  <a:lnTo>
                    <a:pt x="31750" y="1367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6" name="object 186"/>
          <p:cNvSpPr txBox="1"/>
          <p:nvPr/>
        </p:nvSpPr>
        <p:spPr>
          <a:xfrm>
            <a:off x="7068512" y="2219350"/>
            <a:ext cx="3024505" cy="578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5B5D4"/>
                </a:solidFill>
                <a:latin typeface="Arial"/>
                <a:cs typeface="Arial"/>
              </a:rPr>
              <a:t xml:space="preserve">INEFFECTIVE </a:t>
            </a:r>
            <a:r>
              <a:rPr dirty="0" sz="850" spc="-10" b="1">
                <a:solidFill>
                  <a:srgbClr val="05B5D4"/>
                </a:solidFill>
                <a:latin typeface="Arial"/>
                <a:cs typeface="Arial"/>
              </a:rPr>
              <a:t>TRAINING</a:t>
            </a:r>
            <a:endParaRPr sz="850">
              <a:latin typeface="Arial"/>
              <a:cs typeface="Arial"/>
            </a:endParaRPr>
          </a:p>
          <a:p>
            <a:pPr marL="142875" marR="331470">
              <a:lnSpc>
                <a:spcPct val="141700"/>
              </a:lnSpc>
              <a:spcBef>
                <a:spcPts val="610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Most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awareness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training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is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static,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theoretical,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and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fails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>to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 xml:space="preserve"> create</a:t>
            </a:r>
            <a:r>
              <a:rPr dirty="0" sz="800" spc="-3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lasting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behaviour</a:t>
            </a:r>
            <a:r>
              <a:rPr dirty="0" sz="800" spc="-3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 spc="-10">
                <a:solidFill>
                  <a:srgbClr val="667787"/>
                </a:solidFill>
                <a:latin typeface="Arial"/>
                <a:cs typeface="Arial"/>
              </a:rPr>
              <a:t>change.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87" name="object 187"/>
          <p:cNvGrpSpPr/>
          <p:nvPr/>
        </p:nvGrpSpPr>
        <p:grpSpPr>
          <a:xfrm>
            <a:off x="572189" y="3632189"/>
            <a:ext cx="9547860" cy="584200"/>
            <a:chOff x="572189" y="3632189"/>
            <a:chExt cx="9547860" cy="584200"/>
          </a:xfrm>
        </p:grpSpPr>
        <p:sp>
          <p:nvSpPr>
            <p:cNvPr id="188" name="object 188"/>
            <p:cNvSpPr/>
            <p:nvPr/>
          </p:nvSpPr>
          <p:spPr>
            <a:xfrm>
              <a:off x="575999" y="3635999"/>
              <a:ext cx="9540240" cy="576580"/>
            </a:xfrm>
            <a:custGeom>
              <a:avLst/>
              <a:gdLst/>
              <a:ahLst/>
              <a:cxnLst/>
              <a:rect l="l" t="t" r="r" b="b"/>
              <a:pathLst>
                <a:path w="9540240" h="576579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900"/>
                  </a:lnTo>
                  <a:lnTo>
                    <a:pt x="2991" y="552739"/>
                  </a:lnTo>
                  <a:lnTo>
                    <a:pt x="11151" y="564849"/>
                  </a:lnTo>
                  <a:lnTo>
                    <a:pt x="23261" y="573009"/>
                  </a:lnTo>
                  <a:lnTo>
                    <a:pt x="38100" y="576000"/>
                  </a:lnTo>
                  <a:lnTo>
                    <a:pt x="9501899" y="576000"/>
                  </a:lnTo>
                  <a:lnTo>
                    <a:pt x="9516738" y="573009"/>
                  </a:lnTo>
                  <a:lnTo>
                    <a:pt x="9528847" y="564849"/>
                  </a:lnTo>
                  <a:lnTo>
                    <a:pt x="9537008" y="552739"/>
                  </a:lnTo>
                  <a:lnTo>
                    <a:pt x="9539999" y="537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30E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575999" y="3635999"/>
              <a:ext cx="9540240" cy="576580"/>
            </a:xfrm>
            <a:custGeom>
              <a:avLst/>
              <a:gdLst/>
              <a:ahLst/>
              <a:cxnLst/>
              <a:rect l="l" t="t" r="r" b="b"/>
              <a:pathLst>
                <a:path w="9540240" h="576579">
                  <a:moveTo>
                    <a:pt x="38100" y="576000"/>
                  </a:moveTo>
                  <a:lnTo>
                    <a:pt x="9501899" y="576000"/>
                  </a:lnTo>
                  <a:lnTo>
                    <a:pt x="9516738" y="573009"/>
                  </a:lnTo>
                  <a:lnTo>
                    <a:pt x="9528847" y="564849"/>
                  </a:lnTo>
                  <a:lnTo>
                    <a:pt x="9537008" y="552739"/>
                  </a:lnTo>
                  <a:lnTo>
                    <a:pt x="9539999" y="537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900"/>
                  </a:lnTo>
                  <a:lnTo>
                    <a:pt x="2991" y="552739"/>
                  </a:lnTo>
                  <a:lnTo>
                    <a:pt x="11151" y="564849"/>
                  </a:lnTo>
                  <a:lnTo>
                    <a:pt x="23261" y="573009"/>
                  </a:lnTo>
                  <a:lnTo>
                    <a:pt x="38100" y="576000"/>
                  </a:lnTo>
                  <a:close/>
                </a:path>
              </a:pathLst>
            </a:custGeom>
            <a:ln w="7619">
              <a:solidFill>
                <a:srgbClr val="00FF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0" name="object 190"/>
          <p:cNvSpPr txBox="1"/>
          <p:nvPr/>
        </p:nvSpPr>
        <p:spPr>
          <a:xfrm>
            <a:off x="3039984" y="3844650"/>
            <a:ext cx="461200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b="1" i="1">
                <a:solidFill>
                  <a:srgbClr val="00FF9C"/>
                </a:solidFill>
                <a:latin typeface="Arial"/>
                <a:cs typeface="Arial"/>
              </a:rPr>
              <a:t xml:space="preserve">"People learn best through realistic, high-stakes experience — not </a:t>
            </a:r>
            <a:r>
              <a:rPr dirty="0" sz="950" spc="-10" b="1" i="1">
                <a:solidFill>
                  <a:srgbClr val="00FF9C"/>
                </a:solidFill>
                <a:latin typeface="Arial"/>
                <a:cs typeface="Arial"/>
              </a:rPr>
              <a:t>slideshows."</a:t>
            </a:r>
            <a:endParaRPr sz="950">
              <a:latin typeface="Arial"/>
              <a:cs typeface="Arial"/>
            </a:endParaRPr>
          </a:p>
        </p:txBody>
      </p:sp>
      <p:sp>
        <p:nvSpPr>
          <p:cNvPr id="191" name="object 19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192" name="object 19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 xml:space="preserve"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 xml:space="preserve"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 xml:space="preserve">04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197459"/>
            <a:ext cx="10692130" cy="362585"/>
            <a:chOff x="0" y="7197459"/>
            <a:chExt cx="10692130" cy="36258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63299" y="690399"/>
            <a:ext cx="3243580" cy="46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05"/>
              </a:lnSpc>
              <a:spcBef>
                <a:spcPts val="100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//</a:t>
            </a:r>
            <a:r>
              <a:rPr dirty="0" sz="700" spc="-2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OUR</a:t>
            </a:r>
            <a:r>
              <a:rPr dirty="0" sz="700" spc="-2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10">
                <a:solidFill>
                  <a:srgbClr val="336687"/>
                </a:solidFill>
                <a:latin typeface="Courier New"/>
                <a:cs typeface="Courier New"/>
              </a:rPr>
              <a:t>SOLUTION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2745"/>
              </a:lnSpc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What</a:t>
            </a:r>
            <a:r>
              <a:rPr dirty="0" sz="2400" spc="-25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2400" spc="-25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400" b="1">
                <a:solidFill>
                  <a:srgbClr val="00C8FF"/>
                </a:solidFill>
                <a:latin typeface="Arial"/>
                <a:cs typeface="Arial"/>
              </a:rPr>
              <a:t>Cyber</a:t>
            </a:r>
            <a:r>
              <a:rPr dirty="0" sz="2400" spc="-20" b="1">
                <a:solidFill>
                  <a:srgbClr val="00C8FF"/>
                </a:solidFill>
                <a:latin typeface="Arial"/>
                <a:cs typeface="Arial"/>
              </a:rPr>
              <a:t xml:space="preserve"> </a:t>
            </a:r>
            <a:r>
              <a:rPr dirty="0" sz="2400" spc="-10" b="1">
                <a:solidFill>
                  <a:srgbClr val="00C8FF"/>
                </a:solidFill>
                <a:latin typeface="Arial"/>
                <a:cs typeface="Arial"/>
              </a:rPr>
              <a:t>Shield?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44602" y="1127649"/>
            <a:ext cx="2049780" cy="12700"/>
            <a:chOff x="1744602" y="1127649"/>
            <a:chExt cx="2049780" cy="12700"/>
          </a:xfrm>
        </p:grpSpPr>
        <p:sp>
          <p:nvSpPr>
            <p:cNvPr id="10" name="object 10"/>
            <p:cNvSpPr/>
            <p:nvPr/>
          </p:nvSpPr>
          <p:spPr>
            <a:xfrm>
              <a:off x="174460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77022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795839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821458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847076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87269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898313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92393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949550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975168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000787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02640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052024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07764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103260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128879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154497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180116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205734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231353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25697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282590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308208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333826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35944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385063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41068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436300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461919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487537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51315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538774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56439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59001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615629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641248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666866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269248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718103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74372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2769340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2794958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2820577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284619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2871814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289743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292305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2948669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2974287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2999906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3025524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3051143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307676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102380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127998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3153617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17923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204853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323047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3256090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3281709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3307327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3332946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3358564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338418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340980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3435419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3461038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3486656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351227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3537893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356351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3589130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3614748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3640367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3665985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3691604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3717222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3742841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3768459" y="113399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618" y="0"/>
                  </a:lnTo>
                </a:path>
              </a:pathLst>
            </a:custGeom>
            <a:ln w="1270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/>
          <p:cNvGrpSpPr/>
          <p:nvPr/>
        </p:nvGrpSpPr>
        <p:grpSpPr>
          <a:xfrm>
            <a:off x="575999" y="1252379"/>
            <a:ext cx="2520315" cy="15240"/>
            <a:chOff x="575999" y="1252379"/>
            <a:chExt cx="2520315" cy="15240"/>
          </a:xfrm>
        </p:grpSpPr>
        <p:sp>
          <p:nvSpPr>
            <p:cNvPr id="91" name="object 91"/>
            <p:cNvSpPr/>
            <p:nvPr/>
          </p:nvSpPr>
          <p:spPr>
            <a:xfrm>
              <a:off x="57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07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3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7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701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33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6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796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2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5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890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2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5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85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01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04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079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11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4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17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20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23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26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30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33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36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39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42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45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48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52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55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58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61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64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67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71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74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77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80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83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86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89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93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96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99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02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05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208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211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215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218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221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224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227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230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234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237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240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243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246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249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252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256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259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262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265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268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71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74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278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281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284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287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290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93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297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300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303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306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/>
          <p:cNvSpPr txBox="1"/>
          <p:nvPr/>
        </p:nvSpPr>
        <p:spPr>
          <a:xfrm>
            <a:off x="563299" y="1427350"/>
            <a:ext cx="558800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An</a:t>
            </a:r>
            <a:r>
              <a:rPr dirty="0" sz="850" spc="-3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 spc="-10">
                <a:solidFill>
                  <a:srgbClr val="AAAAAA"/>
                </a:solidFill>
                <a:latin typeface="Arial"/>
                <a:cs typeface="Arial"/>
              </a:rPr>
              <a:t>AI-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powered,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gamified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cybersecurity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escape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room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that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builds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genuine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immunity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against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scams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through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 spc="-10">
                <a:solidFill>
                  <a:srgbClr val="AAAAAA"/>
                </a:solidFill>
                <a:latin typeface="Arial"/>
                <a:cs typeface="Arial"/>
              </a:rPr>
              <a:t>simulation.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72" name="object 172"/>
          <p:cNvGrpSpPr/>
          <p:nvPr/>
        </p:nvGrpSpPr>
        <p:grpSpPr>
          <a:xfrm>
            <a:off x="572824" y="2048824"/>
            <a:ext cx="4704715" cy="726440"/>
            <a:chOff x="572824" y="2048824"/>
            <a:chExt cx="4704715" cy="726440"/>
          </a:xfrm>
        </p:grpSpPr>
        <p:sp>
          <p:nvSpPr>
            <p:cNvPr id="173" name="object 173"/>
            <p:cNvSpPr/>
            <p:nvPr/>
          </p:nvSpPr>
          <p:spPr>
            <a:xfrm>
              <a:off x="575999" y="2051999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4659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lnTo>
                    <a:pt x="4659900" y="719999"/>
                  </a:lnTo>
                  <a:lnTo>
                    <a:pt x="4674738" y="717008"/>
                  </a:lnTo>
                  <a:lnTo>
                    <a:pt x="4686848" y="708847"/>
                  </a:lnTo>
                  <a:lnTo>
                    <a:pt x="4695008" y="696738"/>
                  </a:lnTo>
                  <a:lnTo>
                    <a:pt x="4698000" y="681899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575999" y="2051999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38100" y="719999"/>
                  </a:moveTo>
                  <a:lnTo>
                    <a:pt x="4659900" y="719999"/>
                  </a:lnTo>
                  <a:lnTo>
                    <a:pt x="4674738" y="717008"/>
                  </a:lnTo>
                  <a:lnTo>
                    <a:pt x="4686848" y="708847"/>
                  </a:lnTo>
                  <a:lnTo>
                    <a:pt x="4695008" y="696738"/>
                  </a:lnTo>
                  <a:lnTo>
                    <a:pt x="4698000" y="681899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close/>
                </a:path>
              </a:pathLst>
            </a:custGeom>
            <a:ln w="63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575999" y="2051999"/>
              <a:ext cx="31750" cy="720090"/>
            </a:xfrm>
            <a:custGeom>
              <a:avLst/>
              <a:gdLst/>
              <a:ahLst/>
              <a:cxnLst/>
              <a:rect l="l" t="t" r="r" b="b"/>
              <a:pathLst>
                <a:path w="31750" h="720089">
                  <a:moveTo>
                    <a:pt x="31750" y="0"/>
                  </a:moveTo>
                  <a:lnTo>
                    <a:pt x="0" y="0"/>
                  </a:lnTo>
                  <a:lnTo>
                    <a:pt x="0" y="719999"/>
                  </a:lnTo>
                  <a:lnTo>
                    <a:pt x="31750" y="71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6" name="object 176"/>
          <p:cNvSpPr txBox="1"/>
          <p:nvPr/>
        </p:nvSpPr>
        <p:spPr>
          <a:xfrm>
            <a:off x="612512" y="2189699"/>
            <a:ext cx="4638675" cy="362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00C8FF"/>
                </a:solidFill>
                <a:latin typeface="Arial"/>
                <a:cs typeface="Arial"/>
              </a:rPr>
              <a:t>PHISHING</a:t>
            </a:r>
            <a:r>
              <a:rPr dirty="0" sz="800" spc="-40" b="1">
                <a:solidFill>
                  <a:srgbClr val="00C8FF"/>
                </a:solidFill>
                <a:latin typeface="Arial"/>
                <a:cs typeface="Arial"/>
              </a:rPr>
              <a:t xml:space="preserve"> </a:t>
            </a:r>
            <a:r>
              <a:rPr dirty="0" sz="800" spc="-10" b="1">
                <a:solidFill>
                  <a:srgbClr val="00C8FF"/>
                </a:solidFill>
                <a:latin typeface="Arial"/>
                <a:cs typeface="Arial"/>
              </a:rPr>
              <a:t>SIMULATIONS</a:t>
            </a:r>
            <a:endParaRPr sz="8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79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Realistic email,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WhatsApp &amp;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login scam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scenarios.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77" name="object 177"/>
          <p:cNvGrpSpPr/>
          <p:nvPr/>
        </p:nvGrpSpPr>
        <p:grpSpPr>
          <a:xfrm>
            <a:off x="5414825" y="2048824"/>
            <a:ext cx="4704715" cy="726440"/>
            <a:chOff x="5414825" y="2048824"/>
            <a:chExt cx="4704715" cy="726440"/>
          </a:xfrm>
        </p:grpSpPr>
        <p:sp>
          <p:nvSpPr>
            <p:cNvPr id="178" name="object 178"/>
            <p:cNvSpPr/>
            <p:nvPr/>
          </p:nvSpPr>
          <p:spPr>
            <a:xfrm>
              <a:off x="5418000" y="2051999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4659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lnTo>
                    <a:pt x="4659899" y="719999"/>
                  </a:lnTo>
                  <a:lnTo>
                    <a:pt x="4674737" y="717008"/>
                  </a:lnTo>
                  <a:lnTo>
                    <a:pt x="4686847" y="708847"/>
                  </a:lnTo>
                  <a:lnTo>
                    <a:pt x="4695007" y="696738"/>
                  </a:lnTo>
                  <a:lnTo>
                    <a:pt x="4697999" y="681899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5418000" y="2051999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38100" y="719999"/>
                  </a:moveTo>
                  <a:lnTo>
                    <a:pt x="4659899" y="719999"/>
                  </a:lnTo>
                  <a:lnTo>
                    <a:pt x="4674737" y="717008"/>
                  </a:lnTo>
                  <a:lnTo>
                    <a:pt x="4686847" y="708847"/>
                  </a:lnTo>
                  <a:lnTo>
                    <a:pt x="4695007" y="696738"/>
                  </a:lnTo>
                  <a:lnTo>
                    <a:pt x="4697999" y="681899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5418000" y="2051999"/>
              <a:ext cx="31750" cy="720090"/>
            </a:xfrm>
            <a:custGeom>
              <a:avLst/>
              <a:gdLst/>
              <a:ahLst/>
              <a:cxnLst/>
              <a:rect l="l" t="t" r="r" b="b"/>
              <a:pathLst>
                <a:path w="31750" h="720089">
                  <a:moveTo>
                    <a:pt x="31750" y="0"/>
                  </a:moveTo>
                  <a:lnTo>
                    <a:pt x="0" y="0"/>
                  </a:lnTo>
                  <a:lnTo>
                    <a:pt x="0" y="719999"/>
                  </a:lnTo>
                  <a:lnTo>
                    <a:pt x="31750" y="71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1" name="object 181"/>
          <p:cNvSpPr txBox="1"/>
          <p:nvPr/>
        </p:nvSpPr>
        <p:spPr>
          <a:xfrm>
            <a:off x="5454512" y="2189699"/>
            <a:ext cx="4638675" cy="362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A854F6"/>
                </a:solidFill>
                <a:latin typeface="Arial"/>
                <a:cs typeface="Arial"/>
              </a:rPr>
              <a:t>ESCAPE</a:t>
            </a:r>
            <a:r>
              <a:rPr dirty="0" sz="800" spc="-20" b="1">
                <a:solidFill>
                  <a:srgbClr val="A854F6"/>
                </a:solidFill>
                <a:latin typeface="Arial"/>
                <a:cs typeface="Arial"/>
              </a:rPr>
              <a:t xml:space="preserve"> </a:t>
            </a:r>
            <a:r>
              <a:rPr dirty="0" sz="800" b="1">
                <a:solidFill>
                  <a:srgbClr val="A854F6"/>
                </a:solidFill>
                <a:latin typeface="Arial"/>
                <a:cs typeface="Arial"/>
              </a:rPr>
              <a:t>ROOM</a:t>
            </a:r>
            <a:r>
              <a:rPr dirty="0" sz="800" spc="-15" b="1">
                <a:solidFill>
                  <a:srgbClr val="A854F6"/>
                </a:solidFill>
                <a:latin typeface="Arial"/>
                <a:cs typeface="Arial"/>
              </a:rPr>
              <a:t xml:space="preserve"> </a:t>
            </a:r>
            <a:r>
              <a:rPr dirty="0" sz="800" spc="-10" b="1">
                <a:solidFill>
                  <a:srgbClr val="A854F6"/>
                </a:solidFill>
                <a:latin typeface="Arial"/>
                <a:cs typeface="Arial"/>
              </a:rPr>
              <a:t>GAMEPLAY</a:t>
            </a:r>
            <a:endParaRPr sz="8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79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5 escalating levels with countdown timer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pressure.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2" name="object 182"/>
          <p:cNvGrpSpPr/>
          <p:nvPr/>
        </p:nvGrpSpPr>
        <p:grpSpPr>
          <a:xfrm>
            <a:off x="572824" y="2876825"/>
            <a:ext cx="4704715" cy="726440"/>
            <a:chOff x="572824" y="2876825"/>
            <a:chExt cx="4704715" cy="726440"/>
          </a:xfrm>
        </p:grpSpPr>
        <p:sp>
          <p:nvSpPr>
            <p:cNvPr id="183" name="object 183"/>
            <p:cNvSpPr/>
            <p:nvPr/>
          </p:nvSpPr>
          <p:spPr>
            <a:xfrm>
              <a:off x="575999" y="2880000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4659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lnTo>
                    <a:pt x="4659900" y="719999"/>
                  </a:lnTo>
                  <a:lnTo>
                    <a:pt x="4674738" y="717008"/>
                  </a:lnTo>
                  <a:lnTo>
                    <a:pt x="4686848" y="708847"/>
                  </a:lnTo>
                  <a:lnTo>
                    <a:pt x="4695008" y="696738"/>
                  </a:lnTo>
                  <a:lnTo>
                    <a:pt x="4698000" y="681899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575999" y="2880000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38100" y="719999"/>
                  </a:moveTo>
                  <a:lnTo>
                    <a:pt x="4659900" y="719999"/>
                  </a:lnTo>
                  <a:lnTo>
                    <a:pt x="4674738" y="717008"/>
                  </a:lnTo>
                  <a:lnTo>
                    <a:pt x="4686848" y="708847"/>
                  </a:lnTo>
                  <a:lnTo>
                    <a:pt x="4695008" y="696738"/>
                  </a:lnTo>
                  <a:lnTo>
                    <a:pt x="4698000" y="681899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close/>
                </a:path>
              </a:pathLst>
            </a:custGeom>
            <a:ln w="6350">
              <a:solidFill>
                <a:srgbClr val="05B5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575999" y="2880000"/>
              <a:ext cx="31750" cy="720090"/>
            </a:xfrm>
            <a:custGeom>
              <a:avLst/>
              <a:gdLst/>
              <a:ahLst/>
              <a:cxnLst/>
              <a:rect l="l" t="t" r="r" b="b"/>
              <a:pathLst>
                <a:path w="31750" h="720089">
                  <a:moveTo>
                    <a:pt x="31750" y="0"/>
                  </a:moveTo>
                  <a:lnTo>
                    <a:pt x="0" y="0"/>
                  </a:lnTo>
                  <a:lnTo>
                    <a:pt x="0" y="719999"/>
                  </a:lnTo>
                  <a:lnTo>
                    <a:pt x="31750" y="71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6" name="object 186"/>
          <p:cNvSpPr txBox="1"/>
          <p:nvPr/>
        </p:nvSpPr>
        <p:spPr>
          <a:xfrm>
            <a:off x="612512" y="3017699"/>
            <a:ext cx="4638675" cy="362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05B5D4"/>
                </a:solidFill>
                <a:latin typeface="Arial"/>
                <a:cs typeface="Arial"/>
              </a:rPr>
              <a:t xml:space="preserve">AI BEHAVIOURAL </a:t>
            </a:r>
            <a:r>
              <a:rPr dirty="0" sz="800" spc="-10" b="1">
                <a:solidFill>
                  <a:srgbClr val="05B5D4"/>
                </a:solidFill>
                <a:latin typeface="Arial"/>
                <a:cs typeface="Arial"/>
              </a:rPr>
              <a:t>ENGINE</a:t>
            </a:r>
            <a:endParaRPr sz="8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79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Tracks decisions and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computes your Human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Risk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Score.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7" name="object 187"/>
          <p:cNvGrpSpPr/>
          <p:nvPr/>
        </p:nvGrpSpPr>
        <p:grpSpPr>
          <a:xfrm>
            <a:off x="5414825" y="2876825"/>
            <a:ext cx="4704715" cy="726440"/>
            <a:chOff x="5414825" y="2876825"/>
            <a:chExt cx="4704715" cy="726440"/>
          </a:xfrm>
        </p:grpSpPr>
        <p:sp>
          <p:nvSpPr>
            <p:cNvPr id="188" name="object 188"/>
            <p:cNvSpPr/>
            <p:nvPr/>
          </p:nvSpPr>
          <p:spPr>
            <a:xfrm>
              <a:off x="5418000" y="2880000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4659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lnTo>
                    <a:pt x="4659899" y="719999"/>
                  </a:lnTo>
                  <a:lnTo>
                    <a:pt x="4674737" y="717008"/>
                  </a:lnTo>
                  <a:lnTo>
                    <a:pt x="4686847" y="708847"/>
                  </a:lnTo>
                  <a:lnTo>
                    <a:pt x="4695007" y="696738"/>
                  </a:lnTo>
                  <a:lnTo>
                    <a:pt x="4697999" y="681899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5418000" y="2880000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38100" y="719999"/>
                  </a:moveTo>
                  <a:lnTo>
                    <a:pt x="4659899" y="719999"/>
                  </a:lnTo>
                  <a:lnTo>
                    <a:pt x="4674737" y="717008"/>
                  </a:lnTo>
                  <a:lnTo>
                    <a:pt x="4686847" y="708847"/>
                  </a:lnTo>
                  <a:lnTo>
                    <a:pt x="4695007" y="696738"/>
                  </a:lnTo>
                  <a:lnTo>
                    <a:pt x="4697999" y="681899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close/>
                </a:path>
              </a:pathLst>
            </a:custGeom>
            <a:ln w="63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5418000" y="2880000"/>
              <a:ext cx="31750" cy="720090"/>
            </a:xfrm>
            <a:custGeom>
              <a:avLst/>
              <a:gdLst/>
              <a:ahLst/>
              <a:cxnLst/>
              <a:rect l="l" t="t" r="r" b="b"/>
              <a:pathLst>
                <a:path w="31750" h="720089">
                  <a:moveTo>
                    <a:pt x="31750" y="0"/>
                  </a:moveTo>
                  <a:lnTo>
                    <a:pt x="0" y="0"/>
                  </a:lnTo>
                  <a:lnTo>
                    <a:pt x="0" y="719999"/>
                  </a:lnTo>
                  <a:lnTo>
                    <a:pt x="31750" y="71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1" name="object 191"/>
          <p:cNvSpPr txBox="1"/>
          <p:nvPr/>
        </p:nvSpPr>
        <p:spPr>
          <a:xfrm>
            <a:off x="5454512" y="3017699"/>
            <a:ext cx="4638675" cy="362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00C8FF"/>
                </a:solidFill>
                <a:latin typeface="Arial"/>
                <a:cs typeface="Arial"/>
              </a:rPr>
              <a:t xml:space="preserve">REAL-TIME </a:t>
            </a:r>
            <a:r>
              <a:rPr dirty="0" sz="800" spc="-10" b="1">
                <a:solidFill>
                  <a:srgbClr val="00C8FF"/>
                </a:solidFill>
                <a:latin typeface="Arial"/>
                <a:cs typeface="Arial"/>
              </a:rPr>
              <a:t>FEEDBACK</a:t>
            </a:r>
            <a:endParaRPr sz="8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79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Instant explanation after every decision with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tips.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92" name="object 192"/>
          <p:cNvGrpSpPr/>
          <p:nvPr/>
        </p:nvGrpSpPr>
        <p:grpSpPr>
          <a:xfrm>
            <a:off x="572824" y="3704824"/>
            <a:ext cx="4704715" cy="726440"/>
            <a:chOff x="572824" y="3704824"/>
            <a:chExt cx="4704715" cy="726440"/>
          </a:xfrm>
        </p:grpSpPr>
        <p:sp>
          <p:nvSpPr>
            <p:cNvPr id="193" name="object 193"/>
            <p:cNvSpPr/>
            <p:nvPr/>
          </p:nvSpPr>
          <p:spPr>
            <a:xfrm>
              <a:off x="575999" y="3707999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4659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lnTo>
                    <a:pt x="4659900" y="719999"/>
                  </a:lnTo>
                  <a:lnTo>
                    <a:pt x="4674738" y="717008"/>
                  </a:lnTo>
                  <a:lnTo>
                    <a:pt x="4686848" y="708847"/>
                  </a:lnTo>
                  <a:lnTo>
                    <a:pt x="4695008" y="696738"/>
                  </a:lnTo>
                  <a:lnTo>
                    <a:pt x="4698000" y="681899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575999" y="3707999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38100" y="719999"/>
                  </a:moveTo>
                  <a:lnTo>
                    <a:pt x="4659900" y="719999"/>
                  </a:lnTo>
                  <a:lnTo>
                    <a:pt x="4674738" y="717008"/>
                  </a:lnTo>
                  <a:lnTo>
                    <a:pt x="4686848" y="708847"/>
                  </a:lnTo>
                  <a:lnTo>
                    <a:pt x="4695008" y="696738"/>
                  </a:lnTo>
                  <a:lnTo>
                    <a:pt x="4698000" y="681899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575999" y="3707999"/>
              <a:ext cx="31750" cy="720090"/>
            </a:xfrm>
            <a:custGeom>
              <a:avLst/>
              <a:gdLst/>
              <a:ahLst/>
              <a:cxnLst/>
              <a:rect l="l" t="t" r="r" b="b"/>
              <a:pathLst>
                <a:path w="31750" h="720089">
                  <a:moveTo>
                    <a:pt x="31750" y="0"/>
                  </a:moveTo>
                  <a:lnTo>
                    <a:pt x="0" y="0"/>
                  </a:lnTo>
                  <a:lnTo>
                    <a:pt x="0" y="719999"/>
                  </a:lnTo>
                  <a:lnTo>
                    <a:pt x="31750" y="71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6" name="object 196"/>
          <p:cNvSpPr txBox="1"/>
          <p:nvPr/>
        </p:nvSpPr>
        <p:spPr>
          <a:xfrm>
            <a:off x="612512" y="3845699"/>
            <a:ext cx="4638675" cy="362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A854F6"/>
                </a:solidFill>
                <a:latin typeface="Arial"/>
                <a:cs typeface="Arial"/>
              </a:rPr>
              <a:t>BADGES</a:t>
            </a:r>
            <a:r>
              <a:rPr dirty="0" sz="800" spc="-20" b="1">
                <a:solidFill>
                  <a:srgbClr val="A854F6"/>
                </a:solidFill>
                <a:latin typeface="Arial"/>
                <a:cs typeface="Arial"/>
              </a:rPr>
              <a:t xml:space="preserve"> </a:t>
            </a:r>
            <a:r>
              <a:rPr dirty="0" sz="800" b="1">
                <a:solidFill>
                  <a:srgbClr val="A854F6"/>
                </a:solidFill>
                <a:latin typeface="Arial"/>
                <a:cs typeface="Arial"/>
              </a:rPr>
              <a:t>&amp;</a:t>
            </a:r>
            <a:r>
              <a:rPr dirty="0" sz="800" spc="-15" b="1">
                <a:solidFill>
                  <a:srgbClr val="A854F6"/>
                </a:solidFill>
                <a:latin typeface="Arial"/>
                <a:cs typeface="Arial"/>
              </a:rPr>
              <a:t xml:space="preserve"> </a:t>
            </a:r>
            <a:r>
              <a:rPr dirty="0" sz="800" spc="-10" b="1">
                <a:solidFill>
                  <a:srgbClr val="A854F6"/>
                </a:solidFill>
                <a:latin typeface="Arial"/>
                <a:cs typeface="Arial"/>
              </a:rPr>
              <a:t>LEADERBOARD</a:t>
            </a:r>
            <a:endParaRPr sz="8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79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Gamified progression system with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achievements.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97" name="object 197"/>
          <p:cNvGrpSpPr/>
          <p:nvPr/>
        </p:nvGrpSpPr>
        <p:grpSpPr>
          <a:xfrm>
            <a:off x="5414825" y="3704824"/>
            <a:ext cx="4704715" cy="726440"/>
            <a:chOff x="5414825" y="3704824"/>
            <a:chExt cx="4704715" cy="726440"/>
          </a:xfrm>
        </p:grpSpPr>
        <p:sp>
          <p:nvSpPr>
            <p:cNvPr id="198" name="object 198"/>
            <p:cNvSpPr/>
            <p:nvPr/>
          </p:nvSpPr>
          <p:spPr>
            <a:xfrm>
              <a:off x="5418000" y="3707999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4659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lnTo>
                    <a:pt x="4659899" y="719999"/>
                  </a:lnTo>
                  <a:lnTo>
                    <a:pt x="4674737" y="717008"/>
                  </a:lnTo>
                  <a:lnTo>
                    <a:pt x="4686847" y="708847"/>
                  </a:lnTo>
                  <a:lnTo>
                    <a:pt x="4695007" y="696738"/>
                  </a:lnTo>
                  <a:lnTo>
                    <a:pt x="4697999" y="681899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5418000" y="3707999"/>
              <a:ext cx="4698365" cy="720090"/>
            </a:xfrm>
            <a:custGeom>
              <a:avLst/>
              <a:gdLst/>
              <a:ahLst/>
              <a:cxnLst/>
              <a:rect l="l" t="t" r="r" b="b"/>
              <a:pathLst>
                <a:path w="4698365" h="720089">
                  <a:moveTo>
                    <a:pt x="38100" y="719999"/>
                  </a:moveTo>
                  <a:lnTo>
                    <a:pt x="4659899" y="719999"/>
                  </a:lnTo>
                  <a:lnTo>
                    <a:pt x="4674737" y="717008"/>
                  </a:lnTo>
                  <a:lnTo>
                    <a:pt x="4686847" y="708847"/>
                  </a:lnTo>
                  <a:lnTo>
                    <a:pt x="4695007" y="696738"/>
                  </a:lnTo>
                  <a:lnTo>
                    <a:pt x="4697999" y="681899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681899"/>
                  </a:lnTo>
                  <a:lnTo>
                    <a:pt x="2991" y="696738"/>
                  </a:lnTo>
                  <a:lnTo>
                    <a:pt x="11151" y="708847"/>
                  </a:lnTo>
                  <a:lnTo>
                    <a:pt x="23261" y="717008"/>
                  </a:lnTo>
                  <a:lnTo>
                    <a:pt x="38100" y="719999"/>
                  </a:lnTo>
                  <a:close/>
                </a:path>
              </a:pathLst>
            </a:custGeom>
            <a:ln w="6350">
              <a:solidFill>
                <a:srgbClr val="05B5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5418000" y="3707999"/>
              <a:ext cx="31750" cy="720090"/>
            </a:xfrm>
            <a:custGeom>
              <a:avLst/>
              <a:gdLst/>
              <a:ahLst/>
              <a:cxnLst/>
              <a:rect l="l" t="t" r="r" b="b"/>
              <a:pathLst>
                <a:path w="31750" h="720089">
                  <a:moveTo>
                    <a:pt x="31750" y="0"/>
                  </a:moveTo>
                  <a:lnTo>
                    <a:pt x="0" y="0"/>
                  </a:lnTo>
                  <a:lnTo>
                    <a:pt x="0" y="719999"/>
                  </a:lnTo>
                  <a:lnTo>
                    <a:pt x="31750" y="71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1" name="object 201"/>
          <p:cNvSpPr txBox="1"/>
          <p:nvPr/>
        </p:nvSpPr>
        <p:spPr>
          <a:xfrm>
            <a:off x="5454512" y="3845699"/>
            <a:ext cx="4638675" cy="362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05B5D4"/>
                </a:solidFill>
                <a:latin typeface="Arial"/>
                <a:cs typeface="Arial"/>
              </a:rPr>
              <a:t xml:space="preserve">VIRTUAL </a:t>
            </a:r>
            <a:r>
              <a:rPr dirty="0" sz="800" spc="-10" b="1">
                <a:solidFill>
                  <a:srgbClr val="05B5D4"/>
                </a:solidFill>
                <a:latin typeface="Arial"/>
                <a:cs typeface="Arial"/>
              </a:rPr>
              <a:t>STAKES</a:t>
            </a:r>
            <a:endParaRPr sz="8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79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$50,000 in virtual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money at risk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— decisions have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real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cost.</a:t>
            </a:r>
            <a:endParaRPr sz="750">
              <a:latin typeface="Arial"/>
              <a:cs typeface="Arial"/>
            </a:endParaRPr>
          </a:p>
        </p:txBody>
      </p:sp>
      <p:sp>
        <p:nvSpPr>
          <p:cNvPr id="202" name="object 20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203" name="object 20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 xml:space="preserve"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 xml:space="preserve"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 xml:space="preserve">05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197459"/>
            <a:ext cx="10692130" cy="362585"/>
            <a:chOff x="0" y="7197459"/>
            <a:chExt cx="10692130" cy="36258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63299" y="690399"/>
            <a:ext cx="3176270" cy="46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05"/>
              </a:lnSpc>
              <a:spcBef>
                <a:spcPts val="100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//</a:t>
            </a:r>
            <a:r>
              <a:rPr dirty="0" sz="700" spc="-3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GAME</a:t>
            </a:r>
            <a:r>
              <a:rPr dirty="0" sz="700" spc="-2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10">
                <a:solidFill>
                  <a:srgbClr val="336687"/>
                </a:solidFill>
                <a:latin typeface="Courier New"/>
                <a:cs typeface="Courier New"/>
              </a:rPr>
              <a:t>DESIGN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2745"/>
              </a:lnSpc>
            </a:pP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>5-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Level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400" b="1">
                <a:solidFill>
                  <a:srgbClr val="00C8FF"/>
                </a:solidFill>
                <a:latin typeface="Arial"/>
                <a:cs typeface="Arial"/>
              </a:rPr>
              <a:t>Escape</a:t>
            </a:r>
            <a:r>
              <a:rPr dirty="0" sz="2400" spc="-60" b="1">
                <a:solidFill>
                  <a:srgbClr val="00C8FF"/>
                </a:solidFill>
                <a:latin typeface="Arial"/>
                <a:cs typeface="Arial"/>
              </a:rPr>
              <a:t xml:space="preserve"> </a:t>
            </a:r>
            <a:r>
              <a:rPr dirty="0" sz="2400" spc="-20" b="1">
                <a:solidFill>
                  <a:srgbClr val="00C8FF"/>
                </a:solidFill>
                <a:latin typeface="Arial"/>
                <a:cs typeface="Arial"/>
              </a:rPr>
              <a:t>Room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11074" y="1127649"/>
            <a:ext cx="2016125" cy="12700"/>
            <a:chOff x="1711074" y="1127649"/>
            <a:chExt cx="2016125" cy="12700"/>
          </a:xfrm>
        </p:grpSpPr>
        <p:sp>
          <p:nvSpPr>
            <p:cNvPr id="10" name="object 10"/>
            <p:cNvSpPr/>
            <p:nvPr/>
          </p:nvSpPr>
          <p:spPr>
            <a:xfrm>
              <a:off x="1711074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73627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761465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786661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81185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837052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862248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88744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912639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937834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96303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988225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013421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03861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063812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089007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11420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139398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164594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189789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214985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24018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26537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290572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315767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34096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366158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391354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416549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441745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46694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49213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517331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542527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567722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592918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61811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2643309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668504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69370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271889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2744091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2769287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2794482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2819678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284487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2870069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2895264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292046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2945655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2970851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299604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3021242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046437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07163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3096828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122024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14722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3172415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3197611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322280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3248002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3273197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329839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3323588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3348784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3373979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3399175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342437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344956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3474761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3499957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352515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3550348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3575543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3600739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3625935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3651130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3676326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3701521" y="113399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95" y="0"/>
                  </a:lnTo>
                </a:path>
              </a:pathLst>
            </a:custGeom>
            <a:ln w="1270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/>
          <p:cNvGrpSpPr/>
          <p:nvPr/>
        </p:nvGrpSpPr>
        <p:grpSpPr>
          <a:xfrm>
            <a:off x="575999" y="1252379"/>
            <a:ext cx="2520315" cy="15240"/>
            <a:chOff x="575999" y="1252379"/>
            <a:chExt cx="2520315" cy="15240"/>
          </a:xfrm>
        </p:grpSpPr>
        <p:sp>
          <p:nvSpPr>
            <p:cNvPr id="91" name="object 91"/>
            <p:cNvSpPr/>
            <p:nvPr/>
          </p:nvSpPr>
          <p:spPr>
            <a:xfrm>
              <a:off x="57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07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3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7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701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33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6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796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2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5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890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2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5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85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01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04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079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11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4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17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20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23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26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30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33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36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39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42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45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48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52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55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58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61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64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67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71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74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77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80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83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86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89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93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96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99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02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05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208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211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215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218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221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224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227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230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234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237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240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243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246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249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252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256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259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262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265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268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71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74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278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281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284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287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290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93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297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300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303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306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/>
          <p:cNvSpPr txBox="1"/>
          <p:nvPr/>
        </p:nvSpPr>
        <p:spPr>
          <a:xfrm>
            <a:off x="563299" y="1427350"/>
            <a:ext cx="479552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Each</a:t>
            </a:r>
            <a:r>
              <a:rPr dirty="0" sz="850" spc="-3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level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presents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realistic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scenario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UI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with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timer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pressure,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multiple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choices,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and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 spc="-10">
                <a:solidFill>
                  <a:srgbClr val="AAAAAA"/>
                </a:solidFill>
                <a:latin typeface="Arial"/>
                <a:cs typeface="Arial"/>
              </a:rPr>
              <a:t>consequences.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72" name="object 172"/>
          <p:cNvGrpSpPr/>
          <p:nvPr/>
        </p:nvGrpSpPr>
        <p:grpSpPr>
          <a:xfrm>
            <a:off x="572824" y="1976824"/>
            <a:ext cx="9546590" cy="546735"/>
            <a:chOff x="572824" y="1976824"/>
            <a:chExt cx="9546590" cy="546735"/>
          </a:xfrm>
        </p:grpSpPr>
        <p:sp>
          <p:nvSpPr>
            <p:cNvPr id="173" name="object 173"/>
            <p:cNvSpPr/>
            <p:nvPr/>
          </p:nvSpPr>
          <p:spPr>
            <a:xfrm>
              <a:off x="575999" y="1979999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575999" y="1979999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38100" y="540000"/>
                  </a:move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close/>
                </a:path>
              </a:pathLst>
            </a:custGeom>
            <a:ln w="63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575999" y="1979999"/>
              <a:ext cx="31750" cy="540385"/>
            </a:xfrm>
            <a:custGeom>
              <a:avLst/>
              <a:gdLst/>
              <a:ahLst/>
              <a:cxnLst/>
              <a:rect l="l" t="t" r="r" b="b"/>
              <a:pathLst>
                <a:path w="31750" h="540385">
                  <a:moveTo>
                    <a:pt x="31750" y="0"/>
                  </a:moveTo>
                  <a:lnTo>
                    <a:pt x="0" y="0"/>
                  </a:lnTo>
                  <a:lnTo>
                    <a:pt x="0" y="540000"/>
                  </a:lnTo>
                  <a:lnTo>
                    <a:pt x="31750" y="540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719999" y="2088000"/>
              <a:ext cx="648335" cy="324485"/>
            </a:xfrm>
            <a:custGeom>
              <a:avLst/>
              <a:gdLst/>
              <a:ahLst/>
              <a:cxnLst/>
              <a:rect l="l" t="t" r="r" b="b"/>
              <a:pathLst>
                <a:path w="648335" h="324485">
                  <a:moveTo>
                    <a:pt x="622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298599"/>
                  </a:lnTo>
                  <a:lnTo>
                    <a:pt x="1994" y="308492"/>
                  </a:lnTo>
                  <a:lnTo>
                    <a:pt x="7434" y="316565"/>
                  </a:lnTo>
                  <a:lnTo>
                    <a:pt x="15507" y="322005"/>
                  </a:lnTo>
                  <a:lnTo>
                    <a:pt x="25400" y="323999"/>
                  </a:lnTo>
                  <a:lnTo>
                    <a:pt x="622599" y="323999"/>
                  </a:lnTo>
                  <a:lnTo>
                    <a:pt x="632491" y="322005"/>
                  </a:lnTo>
                  <a:lnTo>
                    <a:pt x="640565" y="316565"/>
                  </a:lnTo>
                  <a:lnTo>
                    <a:pt x="646005" y="308492"/>
                  </a:lnTo>
                  <a:lnTo>
                    <a:pt x="647999" y="298599"/>
                  </a:lnTo>
                  <a:lnTo>
                    <a:pt x="647999" y="25400"/>
                  </a:lnTo>
                  <a:lnTo>
                    <a:pt x="646005" y="15507"/>
                  </a:lnTo>
                  <a:lnTo>
                    <a:pt x="640565" y="7434"/>
                  </a:lnTo>
                  <a:lnTo>
                    <a:pt x="632491" y="1994"/>
                  </a:lnTo>
                  <a:lnTo>
                    <a:pt x="622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7" name="object 177"/>
          <p:cNvSpPr txBox="1"/>
          <p:nvPr/>
        </p:nvSpPr>
        <p:spPr>
          <a:xfrm>
            <a:off x="883979" y="2184399"/>
            <a:ext cx="33337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00C8FF"/>
                </a:solidFill>
                <a:latin typeface="Courier New"/>
                <a:cs typeface="Courier New"/>
              </a:rPr>
              <a:t>LVL</a:t>
            </a:r>
            <a:r>
              <a:rPr dirty="0" sz="700" spc="-30" b="1">
                <a:solidFill>
                  <a:srgbClr val="00C8FF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25" b="1">
                <a:solidFill>
                  <a:srgbClr val="00C8FF"/>
                </a:solidFill>
                <a:latin typeface="Courier New"/>
                <a:cs typeface="Courier New"/>
              </a:rPr>
              <a:t>01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1511999" y="2050988"/>
            <a:ext cx="1430655" cy="39433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75"/>
              </a:spcBef>
            </a:pP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 xml:space="preserve">PHISHING </a:t>
            </a:r>
            <a:r>
              <a:rPr dirty="0" sz="850" spc="-10" b="1">
                <a:solidFill>
                  <a:srgbClr val="FFFFFF"/>
                </a:solidFill>
                <a:latin typeface="Arial"/>
                <a:cs typeface="Arial"/>
              </a:rPr>
              <a:t>EMAIL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Fake</a:t>
            </a:r>
            <a:r>
              <a:rPr dirty="0" sz="800" spc="-3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PayPal</a:t>
            </a:r>
            <a:r>
              <a:rPr dirty="0" sz="800" spc="-3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suspension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 spc="-10">
                <a:solidFill>
                  <a:srgbClr val="667787"/>
                </a:solidFill>
                <a:latin typeface="Arial"/>
                <a:cs typeface="Arial"/>
              </a:rPr>
              <a:t>notice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79" name="object 179"/>
          <p:cNvGrpSpPr/>
          <p:nvPr/>
        </p:nvGrpSpPr>
        <p:grpSpPr>
          <a:xfrm>
            <a:off x="4536000" y="2195999"/>
            <a:ext cx="4860290" cy="108585"/>
            <a:chOff x="4536000" y="2195999"/>
            <a:chExt cx="4860290" cy="108585"/>
          </a:xfrm>
        </p:grpSpPr>
        <p:sp>
          <p:nvSpPr>
            <p:cNvPr id="180" name="object 180"/>
            <p:cNvSpPr/>
            <p:nvPr/>
          </p:nvSpPr>
          <p:spPr>
            <a:xfrm>
              <a:off x="4536000" y="2195999"/>
              <a:ext cx="4860290" cy="108585"/>
            </a:xfrm>
            <a:custGeom>
              <a:avLst/>
              <a:gdLst/>
              <a:ahLst/>
              <a:cxnLst/>
              <a:rect l="l" t="t" r="r" b="b"/>
              <a:pathLst>
                <a:path w="4860290" h="108585">
                  <a:moveTo>
                    <a:pt x="48409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49"/>
                  </a:lnTo>
                  <a:lnTo>
                    <a:pt x="1495" y="96368"/>
                  </a:lnTo>
                  <a:lnTo>
                    <a:pt x="5575" y="102423"/>
                  </a:lnTo>
                  <a:lnTo>
                    <a:pt x="11630" y="106503"/>
                  </a:lnTo>
                  <a:lnTo>
                    <a:pt x="19050" y="107999"/>
                  </a:lnTo>
                  <a:lnTo>
                    <a:pt x="4840949" y="107999"/>
                  </a:lnTo>
                  <a:lnTo>
                    <a:pt x="4848368" y="106503"/>
                  </a:lnTo>
                  <a:lnTo>
                    <a:pt x="4854423" y="102423"/>
                  </a:lnTo>
                  <a:lnTo>
                    <a:pt x="4858503" y="96368"/>
                  </a:lnTo>
                  <a:lnTo>
                    <a:pt x="4859999" y="88949"/>
                  </a:lnTo>
                  <a:lnTo>
                    <a:pt x="4859999" y="19050"/>
                  </a:lnTo>
                  <a:lnTo>
                    <a:pt x="4858503" y="11630"/>
                  </a:lnTo>
                  <a:lnTo>
                    <a:pt x="4854423" y="5575"/>
                  </a:lnTo>
                  <a:lnTo>
                    <a:pt x="4848368" y="1495"/>
                  </a:lnTo>
                  <a:lnTo>
                    <a:pt x="484094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4536000" y="2195999"/>
              <a:ext cx="972185" cy="108585"/>
            </a:xfrm>
            <a:custGeom>
              <a:avLst/>
              <a:gdLst/>
              <a:ahLst/>
              <a:cxnLst/>
              <a:rect l="l" t="t" r="r" b="b"/>
              <a:pathLst>
                <a:path w="972185" h="108585">
                  <a:moveTo>
                    <a:pt x="9529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49"/>
                  </a:lnTo>
                  <a:lnTo>
                    <a:pt x="1495" y="96368"/>
                  </a:lnTo>
                  <a:lnTo>
                    <a:pt x="5575" y="102423"/>
                  </a:lnTo>
                  <a:lnTo>
                    <a:pt x="11630" y="106503"/>
                  </a:lnTo>
                  <a:lnTo>
                    <a:pt x="19050" y="107999"/>
                  </a:lnTo>
                  <a:lnTo>
                    <a:pt x="952949" y="107999"/>
                  </a:lnTo>
                  <a:lnTo>
                    <a:pt x="960368" y="106503"/>
                  </a:lnTo>
                  <a:lnTo>
                    <a:pt x="966423" y="102423"/>
                  </a:lnTo>
                  <a:lnTo>
                    <a:pt x="970503" y="96368"/>
                  </a:lnTo>
                  <a:lnTo>
                    <a:pt x="971999" y="88949"/>
                  </a:lnTo>
                  <a:lnTo>
                    <a:pt x="971999" y="19050"/>
                  </a:lnTo>
                  <a:lnTo>
                    <a:pt x="970503" y="11630"/>
                  </a:lnTo>
                  <a:lnTo>
                    <a:pt x="966423" y="5575"/>
                  </a:lnTo>
                  <a:lnTo>
                    <a:pt x="960368" y="1495"/>
                  </a:lnTo>
                  <a:lnTo>
                    <a:pt x="952949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2" name="object 182"/>
          <p:cNvSpPr txBox="1"/>
          <p:nvPr/>
        </p:nvSpPr>
        <p:spPr>
          <a:xfrm>
            <a:off x="9655379" y="2165349"/>
            <a:ext cx="40195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C8FF"/>
                </a:solidFill>
                <a:latin typeface="Courier New"/>
                <a:cs typeface="Courier New"/>
              </a:rPr>
              <a:t>45</a:t>
            </a:r>
            <a:r>
              <a:rPr dirty="0" sz="850" spc="-15" b="1">
                <a:solidFill>
                  <a:srgbClr val="00C8FF"/>
                </a:solidFill>
                <a:latin typeface="Courier New"/>
                <a:cs typeface="Courier New"/>
              </a:rPr>
              <a:t xml:space="preserve"> </a:t>
            </a:r>
            <a:r>
              <a:rPr dirty="0" sz="850" spc="-25" b="1">
                <a:solidFill>
                  <a:srgbClr val="00C8FF"/>
                </a:solidFill>
                <a:latin typeface="Courier New"/>
                <a:cs typeface="Courier New"/>
              </a:rPr>
              <a:t>sec</a:t>
            </a:r>
            <a:endParaRPr sz="850">
              <a:latin typeface="Courier New"/>
              <a:cs typeface="Courier New"/>
            </a:endParaRPr>
          </a:p>
        </p:txBody>
      </p:sp>
      <p:grpSp>
        <p:nvGrpSpPr>
          <p:cNvPr id="183" name="object 183"/>
          <p:cNvGrpSpPr/>
          <p:nvPr/>
        </p:nvGrpSpPr>
        <p:grpSpPr>
          <a:xfrm>
            <a:off x="572824" y="2624824"/>
            <a:ext cx="9546590" cy="546735"/>
            <a:chOff x="572824" y="2624824"/>
            <a:chExt cx="9546590" cy="546735"/>
          </a:xfrm>
        </p:grpSpPr>
        <p:sp>
          <p:nvSpPr>
            <p:cNvPr id="184" name="object 184"/>
            <p:cNvSpPr/>
            <p:nvPr/>
          </p:nvSpPr>
          <p:spPr>
            <a:xfrm>
              <a:off x="575999" y="2627999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575999" y="2627999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38100" y="540000"/>
                  </a:move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575999" y="2627999"/>
              <a:ext cx="31750" cy="540385"/>
            </a:xfrm>
            <a:custGeom>
              <a:avLst/>
              <a:gdLst/>
              <a:ahLst/>
              <a:cxnLst/>
              <a:rect l="l" t="t" r="r" b="b"/>
              <a:pathLst>
                <a:path w="31750" h="540385">
                  <a:moveTo>
                    <a:pt x="31750" y="0"/>
                  </a:moveTo>
                  <a:lnTo>
                    <a:pt x="0" y="0"/>
                  </a:lnTo>
                  <a:lnTo>
                    <a:pt x="0" y="540000"/>
                  </a:lnTo>
                  <a:lnTo>
                    <a:pt x="31750" y="540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719999" y="2736000"/>
              <a:ext cx="648335" cy="324485"/>
            </a:xfrm>
            <a:custGeom>
              <a:avLst/>
              <a:gdLst/>
              <a:ahLst/>
              <a:cxnLst/>
              <a:rect l="l" t="t" r="r" b="b"/>
              <a:pathLst>
                <a:path w="648335" h="324485">
                  <a:moveTo>
                    <a:pt x="622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298599"/>
                  </a:lnTo>
                  <a:lnTo>
                    <a:pt x="1994" y="308492"/>
                  </a:lnTo>
                  <a:lnTo>
                    <a:pt x="7434" y="316565"/>
                  </a:lnTo>
                  <a:lnTo>
                    <a:pt x="15507" y="322005"/>
                  </a:lnTo>
                  <a:lnTo>
                    <a:pt x="25400" y="323999"/>
                  </a:lnTo>
                  <a:lnTo>
                    <a:pt x="622599" y="323999"/>
                  </a:lnTo>
                  <a:lnTo>
                    <a:pt x="632491" y="322005"/>
                  </a:lnTo>
                  <a:lnTo>
                    <a:pt x="640565" y="316565"/>
                  </a:lnTo>
                  <a:lnTo>
                    <a:pt x="646005" y="308492"/>
                  </a:lnTo>
                  <a:lnTo>
                    <a:pt x="647999" y="298599"/>
                  </a:lnTo>
                  <a:lnTo>
                    <a:pt x="647999" y="25400"/>
                  </a:lnTo>
                  <a:lnTo>
                    <a:pt x="646005" y="15507"/>
                  </a:lnTo>
                  <a:lnTo>
                    <a:pt x="640565" y="7434"/>
                  </a:lnTo>
                  <a:lnTo>
                    <a:pt x="632491" y="1994"/>
                  </a:lnTo>
                  <a:lnTo>
                    <a:pt x="622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8" name="object 188"/>
          <p:cNvSpPr txBox="1"/>
          <p:nvPr/>
        </p:nvSpPr>
        <p:spPr>
          <a:xfrm>
            <a:off x="883979" y="2832399"/>
            <a:ext cx="33337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A854F6"/>
                </a:solidFill>
                <a:latin typeface="Courier New"/>
                <a:cs typeface="Courier New"/>
              </a:rPr>
              <a:t>LVL</a:t>
            </a:r>
            <a:r>
              <a:rPr dirty="0" sz="700" spc="-30" b="1">
                <a:solidFill>
                  <a:srgbClr val="A854F6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25" b="1">
                <a:solidFill>
                  <a:srgbClr val="A854F6"/>
                </a:solidFill>
                <a:latin typeface="Courier New"/>
                <a:cs typeface="Courier New"/>
              </a:rPr>
              <a:t>02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1511999" y="2698989"/>
            <a:ext cx="1339215" cy="39433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75"/>
              </a:spcBef>
            </a:pP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 xml:space="preserve">FAKE </a:t>
            </a:r>
            <a:r>
              <a:rPr dirty="0" sz="850" spc="-10" b="1">
                <a:solidFill>
                  <a:srgbClr val="FFFFFF"/>
                </a:solidFill>
                <a:latin typeface="Arial"/>
                <a:cs typeface="Arial"/>
              </a:rPr>
              <a:t>WHATSAPP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'Hi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Mum'</a:t>
            </a:r>
            <a:r>
              <a:rPr dirty="0" sz="800" spc="-1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impersonation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scam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90" name="object 190"/>
          <p:cNvGrpSpPr/>
          <p:nvPr/>
        </p:nvGrpSpPr>
        <p:grpSpPr>
          <a:xfrm>
            <a:off x="4536000" y="2843999"/>
            <a:ext cx="4860290" cy="108585"/>
            <a:chOff x="4536000" y="2843999"/>
            <a:chExt cx="4860290" cy="108585"/>
          </a:xfrm>
        </p:grpSpPr>
        <p:sp>
          <p:nvSpPr>
            <p:cNvPr id="191" name="object 191"/>
            <p:cNvSpPr/>
            <p:nvPr/>
          </p:nvSpPr>
          <p:spPr>
            <a:xfrm>
              <a:off x="4536000" y="2843999"/>
              <a:ext cx="4860290" cy="108585"/>
            </a:xfrm>
            <a:custGeom>
              <a:avLst/>
              <a:gdLst/>
              <a:ahLst/>
              <a:cxnLst/>
              <a:rect l="l" t="t" r="r" b="b"/>
              <a:pathLst>
                <a:path w="4860290" h="108585">
                  <a:moveTo>
                    <a:pt x="48409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50"/>
                  </a:lnTo>
                  <a:lnTo>
                    <a:pt x="1495" y="96370"/>
                  </a:lnTo>
                  <a:lnTo>
                    <a:pt x="5575" y="102424"/>
                  </a:lnTo>
                  <a:lnTo>
                    <a:pt x="11630" y="106505"/>
                  </a:lnTo>
                  <a:lnTo>
                    <a:pt x="19050" y="108000"/>
                  </a:lnTo>
                  <a:lnTo>
                    <a:pt x="4840949" y="108000"/>
                  </a:lnTo>
                  <a:lnTo>
                    <a:pt x="4848368" y="106505"/>
                  </a:lnTo>
                  <a:lnTo>
                    <a:pt x="4854423" y="102424"/>
                  </a:lnTo>
                  <a:lnTo>
                    <a:pt x="4858503" y="96370"/>
                  </a:lnTo>
                  <a:lnTo>
                    <a:pt x="4859999" y="88950"/>
                  </a:lnTo>
                  <a:lnTo>
                    <a:pt x="4859999" y="19050"/>
                  </a:lnTo>
                  <a:lnTo>
                    <a:pt x="4858503" y="11630"/>
                  </a:lnTo>
                  <a:lnTo>
                    <a:pt x="4854423" y="5575"/>
                  </a:lnTo>
                  <a:lnTo>
                    <a:pt x="4848368" y="1495"/>
                  </a:lnTo>
                  <a:lnTo>
                    <a:pt x="484094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4536000" y="2843999"/>
              <a:ext cx="2187575" cy="108585"/>
            </a:xfrm>
            <a:custGeom>
              <a:avLst/>
              <a:gdLst/>
              <a:ahLst/>
              <a:cxnLst/>
              <a:rect l="l" t="t" r="r" b="b"/>
              <a:pathLst>
                <a:path w="2187575" h="108585">
                  <a:moveTo>
                    <a:pt x="21679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50"/>
                  </a:lnTo>
                  <a:lnTo>
                    <a:pt x="1495" y="96370"/>
                  </a:lnTo>
                  <a:lnTo>
                    <a:pt x="5575" y="102424"/>
                  </a:lnTo>
                  <a:lnTo>
                    <a:pt x="11630" y="106505"/>
                  </a:lnTo>
                  <a:lnTo>
                    <a:pt x="19050" y="108000"/>
                  </a:lnTo>
                  <a:lnTo>
                    <a:pt x="2167949" y="108000"/>
                  </a:lnTo>
                  <a:lnTo>
                    <a:pt x="2175368" y="106505"/>
                  </a:lnTo>
                  <a:lnTo>
                    <a:pt x="2181423" y="102424"/>
                  </a:lnTo>
                  <a:lnTo>
                    <a:pt x="2185504" y="96370"/>
                  </a:lnTo>
                  <a:lnTo>
                    <a:pt x="2186999" y="88950"/>
                  </a:lnTo>
                  <a:lnTo>
                    <a:pt x="2186999" y="19050"/>
                  </a:lnTo>
                  <a:lnTo>
                    <a:pt x="2185504" y="11630"/>
                  </a:lnTo>
                  <a:lnTo>
                    <a:pt x="2181423" y="5575"/>
                  </a:lnTo>
                  <a:lnTo>
                    <a:pt x="2175368" y="1495"/>
                  </a:lnTo>
                  <a:lnTo>
                    <a:pt x="2167949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3" name="object 193"/>
          <p:cNvSpPr txBox="1"/>
          <p:nvPr/>
        </p:nvSpPr>
        <p:spPr>
          <a:xfrm>
            <a:off x="9655379" y="2813349"/>
            <a:ext cx="40195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A854F6"/>
                </a:solidFill>
                <a:latin typeface="Courier New"/>
                <a:cs typeface="Courier New"/>
              </a:rPr>
              <a:t>35</a:t>
            </a:r>
            <a:r>
              <a:rPr dirty="0" sz="850" spc="-15" b="1">
                <a:solidFill>
                  <a:srgbClr val="A854F6"/>
                </a:solidFill>
                <a:latin typeface="Courier New"/>
                <a:cs typeface="Courier New"/>
              </a:rPr>
              <a:t xml:space="preserve"> </a:t>
            </a:r>
            <a:r>
              <a:rPr dirty="0" sz="850" spc="-25" b="1">
                <a:solidFill>
                  <a:srgbClr val="A854F6"/>
                </a:solidFill>
                <a:latin typeface="Courier New"/>
                <a:cs typeface="Courier New"/>
              </a:rPr>
              <a:t>sec</a:t>
            </a:r>
            <a:endParaRPr sz="850">
              <a:latin typeface="Courier New"/>
              <a:cs typeface="Courier New"/>
            </a:endParaRPr>
          </a:p>
        </p:txBody>
      </p:sp>
      <p:grpSp>
        <p:nvGrpSpPr>
          <p:cNvPr id="194" name="object 194"/>
          <p:cNvGrpSpPr/>
          <p:nvPr/>
        </p:nvGrpSpPr>
        <p:grpSpPr>
          <a:xfrm>
            <a:off x="572824" y="3272825"/>
            <a:ext cx="9546590" cy="546735"/>
            <a:chOff x="572824" y="3272825"/>
            <a:chExt cx="9546590" cy="546735"/>
          </a:xfrm>
        </p:grpSpPr>
        <p:sp>
          <p:nvSpPr>
            <p:cNvPr id="195" name="object 195"/>
            <p:cNvSpPr/>
            <p:nvPr/>
          </p:nvSpPr>
          <p:spPr>
            <a:xfrm>
              <a:off x="575999" y="3276000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575999" y="3276000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38100" y="540000"/>
                  </a:move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close/>
                </a:path>
              </a:pathLst>
            </a:custGeom>
            <a:ln w="6350">
              <a:solidFill>
                <a:srgbClr val="05B5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575999" y="3276000"/>
              <a:ext cx="31750" cy="540385"/>
            </a:xfrm>
            <a:custGeom>
              <a:avLst/>
              <a:gdLst/>
              <a:ahLst/>
              <a:cxnLst/>
              <a:rect l="l" t="t" r="r" b="b"/>
              <a:pathLst>
                <a:path w="31750" h="540385">
                  <a:moveTo>
                    <a:pt x="31750" y="0"/>
                  </a:moveTo>
                  <a:lnTo>
                    <a:pt x="0" y="0"/>
                  </a:lnTo>
                  <a:lnTo>
                    <a:pt x="0" y="540000"/>
                  </a:lnTo>
                  <a:lnTo>
                    <a:pt x="31750" y="540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719999" y="3383999"/>
              <a:ext cx="648335" cy="324485"/>
            </a:xfrm>
            <a:custGeom>
              <a:avLst/>
              <a:gdLst/>
              <a:ahLst/>
              <a:cxnLst/>
              <a:rect l="l" t="t" r="r" b="b"/>
              <a:pathLst>
                <a:path w="648335" h="324485">
                  <a:moveTo>
                    <a:pt x="622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298599"/>
                  </a:lnTo>
                  <a:lnTo>
                    <a:pt x="1994" y="308492"/>
                  </a:lnTo>
                  <a:lnTo>
                    <a:pt x="7434" y="316565"/>
                  </a:lnTo>
                  <a:lnTo>
                    <a:pt x="15507" y="322005"/>
                  </a:lnTo>
                  <a:lnTo>
                    <a:pt x="25400" y="323999"/>
                  </a:lnTo>
                  <a:lnTo>
                    <a:pt x="622599" y="323999"/>
                  </a:lnTo>
                  <a:lnTo>
                    <a:pt x="632491" y="322005"/>
                  </a:lnTo>
                  <a:lnTo>
                    <a:pt x="640565" y="316565"/>
                  </a:lnTo>
                  <a:lnTo>
                    <a:pt x="646005" y="308492"/>
                  </a:lnTo>
                  <a:lnTo>
                    <a:pt x="647999" y="298599"/>
                  </a:lnTo>
                  <a:lnTo>
                    <a:pt x="647999" y="25400"/>
                  </a:lnTo>
                  <a:lnTo>
                    <a:pt x="646005" y="15507"/>
                  </a:lnTo>
                  <a:lnTo>
                    <a:pt x="640565" y="7434"/>
                  </a:lnTo>
                  <a:lnTo>
                    <a:pt x="632491" y="1994"/>
                  </a:lnTo>
                  <a:lnTo>
                    <a:pt x="622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9" name="object 199"/>
          <p:cNvSpPr txBox="1"/>
          <p:nvPr/>
        </p:nvSpPr>
        <p:spPr>
          <a:xfrm>
            <a:off x="883979" y="3480400"/>
            <a:ext cx="33337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05B5D4"/>
                </a:solidFill>
                <a:latin typeface="Courier New"/>
                <a:cs typeface="Courier New"/>
              </a:rPr>
              <a:t>LVL</a:t>
            </a:r>
            <a:r>
              <a:rPr dirty="0" sz="700" spc="-30" b="1">
                <a:solidFill>
                  <a:srgbClr val="05B5D4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25" b="1">
                <a:solidFill>
                  <a:srgbClr val="05B5D4"/>
                </a:solidFill>
                <a:latin typeface="Courier New"/>
                <a:cs typeface="Courier New"/>
              </a:rPr>
              <a:t>03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1511999" y="3346990"/>
            <a:ext cx="1029969" cy="39433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75"/>
              </a:spcBef>
            </a:pP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FAKE</a:t>
            </a:r>
            <a:r>
              <a:rPr dirty="0" sz="850" spc="-15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LOGIN</a:t>
            </a:r>
            <a:r>
              <a:rPr dirty="0" sz="850" spc="-15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850" spc="-20" b="1">
                <a:solidFill>
                  <a:srgbClr val="FFFFFF"/>
                </a:solidFill>
                <a:latin typeface="Arial"/>
                <a:cs typeface="Arial"/>
              </a:rPr>
              <a:t>PAGE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Fraudulent</a:t>
            </a:r>
            <a:r>
              <a:rPr dirty="0" sz="800" spc="-3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bank</a:t>
            </a:r>
            <a:r>
              <a:rPr dirty="0" sz="800" spc="-3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 spc="-10">
                <a:solidFill>
                  <a:srgbClr val="667787"/>
                </a:solidFill>
                <a:latin typeface="Arial"/>
                <a:cs typeface="Arial"/>
              </a:rPr>
              <a:t>portal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01" name="object 201"/>
          <p:cNvGrpSpPr/>
          <p:nvPr/>
        </p:nvGrpSpPr>
        <p:grpSpPr>
          <a:xfrm>
            <a:off x="4536000" y="3491999"/>
            <a:ext cx="4860290" cy="108585"/>
            <a:chOff x="4536000" y="3491999"/>
            <a:chExt cx="4860290" cy="108585"/>
          </a:xfrm>
        </p:grpSpPr>
        <p:sp>
          <p:nvSpPr>
            <p:cNvPr id="202" name="object 202"/>
            <p:cNvSpPr/>
            <p:nvPr/>
          </p:nvSpPr>
          <p:spPr>
            <a:xfrm>
              <a:off x="4536000" y="3491999"/>
              <a:ext cx="4860290" cy="108585"/>
            </a:xfrm>
            <a:custGeom>
              <a:avLst/>
              <a:gdLst/>
              <a:ahLst/>
              <a:cxnLst/>
              <a:rect l="l" t="t" r="r" b="b"/>
              <a:pathLst>
                <a:path w="4860290" h="108585">
                  <a:moveTo>
                    <a:pt x="48409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50"/>
                  </a:lnTo>
                  <a:lnTo>
                    <a:pt x="1495" y="96370"/>
                  </a:lnTo>
                  <a:lnTo>
                    <a:pt x="5575" y="102424"/>
                  </a:lnTo>
                  <a:lnTo>
                    <a:pt x="11630" y="106505"/>
                  </a:lnTo>
                  <a:lnTo>
                    <a:pt x="19050" y="108000"/>
                  </a:lnTo>
                  <a:lnTo>
                    <a:pt x="4840949" y="108000"/>
                  </a:lnTo>
                  <a:lnTo>
                    <a:pt x="4848368" y="106505"/>
                  </a:lnTo>
                  <a:lnTo>
                    <a:pt x="4854423" y="102424"/>
                  </a:lnTo>
                  <a:lnTo>
                    <a:pt x="4858503" y="96370"/>
                  </a:lnTo>
                  <a:lnTo>
                    <a:pt x="4859999" y="88950"/>
                  </a:lnTo>
                  <a:lnTo>
                    <a:pt x="4859999" y="19050"/>
                  </a:lnTo>
                  <a:lnTo>
                    <a:pt x="4858503" y="11630"/>
                  </a:lnTo>
                  <a:lnTo>
                    <a:pt x="4854423" y="5575"/>
                  </a:lnTo>
                  <a:lnTo>
                    <a:pt x="4848368" y="1495"/>
                  </a:lnTo>
                  <a:lnTo>
                    <a:pt x="484094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4536000" y="3491999"/>
              <a:ext cx="2819400" cy="108585"/>
            </a:xfrm>
            <a:custGeom>
              <a:avLst/>
              <a:gdLst/>
              <a:ahLst/>
              <a:cxnLst/>
              <a:rect l="l" t="t" r="r" b="b"/>
              <a:pathLst>
                <a:path w="2819400" h="108585">
                  <a:moveTo>
                    <a:pt x="27997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50"/>
                  </a:lnTo>
                  <a:lnTo>
                    <a:pt x="1495" y="96370"/>
                  </a:lnTo>
                  <a:lnTo>
                    <a:pt x="5575" y="102424"/>
                  </a:lnTo>
                  <a:lnTo>
                    <a:pt x="11630" y="106505"/>
                  </a:lnTo>
                  <a:lnTo>
                    <a:pt x="19050" y="108000"/>
                  </a:lnTo>
                  <a:lnTo>
                    <a:pt x="2799749" y="108000"/>
                  </a:lnTo>
                  <a:lnTo>
                    <a:pt x="2807168" y="106505"/>
                  </a:lnTo>
                  <a:lnTo>
                    <a:pt x="2813223" y="102424"/>
                  </a:lnTo>
                  <a:lnTo>
                    <a:pt x="2817303" y="96370"/>
                  </a:lnTo>
                  <a:lnTo>
                    <a:pt x="2818799" y="88950"/>
                  </a:lnTo>
                  <a:lnTo>
                    <a:pt x="2818799" y="19050"/>
                  </a:lnTo>
                  <a:lnTo>
                    <a:pt x="2817303" y="11630"/>
                  </a:lnTo>
                  <a:lnTo>
                    <a:pt x="2813223" y="5575"/>
                  </a:lnTo>
                  <a:lnTo>
                    <a:pt x="2807168" y="1495"/>
                  </a:lnTo>
                  <a:lnTo>
                    <a:pt x="2799749" y="0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4" name="object 204"/>
          <p:cNvSpPr txBox="1"/>
          <p:nvPr/>
        </p:nvSpPr>
        <p:spPr>
          <a:xfrm>
            <a:off x="9655379" y="3461350"/>
            <a:ext cx="40195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5B5D4"/>
                </a:solidFill>
                <a:latin typeface="Courier New"/>
                <a:cs typeface="Courier New"/>
              </a:rPr>
              <a:t>40</a:t>
            </a:r>
            <a:r>
              <a:rPr dirty="0" sz="850" spc="-15" b="1">
                <a:solidFill>
                  <a:srgbClr val="05B5D4"/>
                </a:solidFill>
                <a:latin typeface="Courier New"/>
                <a:cs typeface="Courier New"/>
              </a:rPr>
              <a:t xml:space="preserve"> </a:t>
            </a:r>
            <a:r>
              <a:rPr dirty="0" sz="850" spc="-25" b="1">
                <a:solidFill>
                  <a:srgbClr val="05B5D4"/>
                </a:solidFill>
                <a:latin typeface="Courier New"/>
                <a:cs typeface="Courier New"/>
              </a:rPr>
              <a:t>sec</a:t>
            </a:r>
            <a:endParaRPr sz="850">
              <a:latin typeface="Courier New"/>
              <a:cs typeface="Courier New"/>
            </a:endParaRPr>
          </a:p>
        </p:txBody>
      </p:sp>
      <p:grpSp>
        <p:nvGrpSpPr>
          <p:cNvPr id="205" name="object 205"/>
          <p:cNvGrpSpPr/>
          <p:nvPr/>
        </p:nvGrpSpPr>
        <p:grpSpPr>
          <a:xfrm>
            <a:off x="572824" y="3920825"/>
            <a:ext cx="9546590" cy="546735"/>
            <a:chOff x="572824" y="3920825"/>
            <a:chExt cx="9546590" cy="546735"/>
          </a:xfrm>
        </p:grpSpPr>
        <p:sp>
          <p:nvSpPr>
            <p:cNvPr id="206" name="object 206"/>
            <p:cNvSpPr/>
            <p:nvPr/>
          </p:nvSpPr>
          <p:spPr>
            <a:xfrm>
              <a:off x="575999" y="3924000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575999" y="3924000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38100" y="540000"/>
                  </a:move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close/>
                </a:path>
              </a:pathLst>
            </a:custGeom>
            <a:ln w="6350">
              <a:solidFill>
                <a:srgbClr val="F9CC1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575999" y="3924000"/>
              <a:ext cx="31750" cy="540385"/>
            </a:xfrm>
            <a:custGeom>
              <a:avLst/>
              <a:gdLst/>
              <a:ahLst/>
              <a:cxnLst/>
              <a:rect l="l" t="t" r="r" b="b"/>
              <a:pathLst>
                <a:path w="31750" h="540385">
                  <a:moveTo>
                    <a:pt x="31750" y="0"/>
                  </a:moveTo>
                  <a:lnTo>
                    <a:pt x="0" y="0"/>
                  </a:lnTo>
                  <a:lnTo>
                    <a:pt x="0" y="540000"/>
                  </a:lnTo>
                  <a:lnTo>
                    <a:pt x="31750" y="540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F9CC1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719999" y="4031999"/>
              <a:ext cx="648335" cy="324485"/>
            </a:xfrm>
            <a:custGeom>
              <a:avLst/>
              <a:gdLst/>
              <a:ahLst/>
              <a:cxnLst/>
              <a:rect l="l" t="t" r="r" b="b"/>
              <a:pathLst>
                <a:path w="648335" h="324485">
                  <a:moveTo>
                    <a:pt x="622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298599"/>
                  </a:lnTo>
                  <a:lnTo>
                    <a:pt x="1994" y="308492"/>
                  </a:lnTo>
                  <a:lnTo>
                    <a:pt x="7434" y="316565"/>
                  </a:lnTo>
                  <a:lnTo>
                    <a:pt x="15507" y="322005"/>
                  </a:lnTo>
                  <a:lnTo>
                    <a:pt x="25400" y="323999"/>
                  </a:lnTo>
                  <a:lnTo>
                    <a:pt x="622599" y="323999"/>
                  </a:lnTo>
                  <a:lnTo>
                    <a:pt x="632491" y="322005"/>
                  </a:lnTo>
                  <a:lnTo>
                    <a:pt x="640565" y="316565"/>
                  </a:lnTo>
                  <a:lnTo>
                    <a:pt x="646005" y="308492"/>
                  </a:lnTo>
                  <a:lnTo>
                    <a:pt x="647999" y="298599"/>
                  </a:lnTo>
                  <a:lnTo>
                    <a:pt x="647999" y="25400"/>
                  </a:lnTo>
                  <a:lnTo>
                    <a:pt x="646005" y="15507"/>
                  </a:lnTo>
                  <a:lnTo>
                    <a:pt x="640565" y="7434"/>
                  </a:lnTo>
                  <a:lnTo>
                    <a:pt x="632491" y="1994"/>
                  </a:lnTo>
                  <a:lnTo>
                    <a:pt x="622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0" name="object 210"/>
          <p:cNvSpPr txBox="1"/>
          <p:nvPr/>
        </p:nvSpPr>
        <p:spPr>
          <a:xfrm>
            <a:off x="883979" y="4128399"/>
            <a:ext cx="33337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F9CC15"/>
                </a:solidFill>
                <a:latin typeface="Courier New"/>
                <a:cs typeface="Courier New"/>
              </a:rPr>
              <a:t>LVL</a:t>
            </a:r>
            <a:r>
              <a:rPr dirty="0" sz="700" spc="-30" b="1">
                <a:solidFill>
                  <a:srgbClr val="F9CC15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25" b="1">
                <a:solidFill>
                  <a:srgbClr val="F9CC15"/>
                </a:solidFill>
                <a:latin typeface="Courier New"/>
                <a:cs typeface="Courier New"/>
              </a:rPr>
              <a:t>04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11" name="object 211"/>
          <p:cNvSpPr txBox="1"/>
          <p:nvPr/>
        </p:nvSpPr>
        <p:spPr>
          <a:xfrm>
            <a:off x="1511999" y="3994989"/>
            <a:ext cx="1176020" cy="39433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75"/>
              </a:spcBef>
            </a:pP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 xml:space="preserve">VISHING </a:t>
            </a:r>
            <a:r>
              <a:rPr dirty="0" sz="850" spc="-20" b="1">
                <a:solidFill>
                  <a:srgbClr val="FFFFFF"/>
                </a:solidFill>
                <a:latin typeface="Arial"/>
                <a:cs typeface="Arial"/>
              </a:rPr>
              <a:t>CALL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Tax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authority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arrest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 spc="-10">
                <a:solidFill>
                  <a:srgbClr val="667787"/>
                </a:solidFill>
                <a:latin typeface="Arial"/>
                <a:cs typeface="Arial"/>
              </a:rPr>
              <a:t>threat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12" name="object 212"/>
          <p:cNvGrpSpPr/>
          <p:nvPr/>
        </p:nvGrpSpPr>
        <p:grpSpPr>
          <a:xfrm>
            <a:off x="4536000" y="4140000"/>
            <a:ext cx="4860290" cy="108585"/>
            <a:chOff x="4536000" y="4140000"/>
            <a:chExt cx="4860290" cy="108585"/>
          </a:xfrm>
        </p:grpSpPr>
        <p:sp>
          <p:nvSpPr>
            <p:cNvPr id="213" name="object 213"/>
            <p:cNvSpPr/>
            <p:nvPr/>
          </p:nvSpPr>
          <p:spPr>
            <a:xfrm>
              <a:off x="4536000" y="4140000"/>
              <a:ext cx="4860290" cy="108585"/>
            </a:xfrm>
            <a:custGeom>
              <a:avLst/>
              <a:gdLst/>
              <a:ahLst/>
              <a:cxnLst/>
              <a:rect l="l" t="t" r="r" b="b"/>
              <a:pathLst>
                <a:path w="4860290" h="108585">
                  <a:moveTo>
                    <a:pt x="48409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49"/>
                  </a:lnTo>
                  <a:lnTo>
                    <a:pt x="1495" y="96368"/>
                  </a:lnTo>
                  <a:lnTo>
                    <a:pt x="5575" y="102423"/>
                  </a:lnTo>
                  <a:lnTo>
                    <a:pt x="11630" y="106503"/>
                  </a:lnTo>
                  <a:lnTo>
                    <a:pt x="19050" y="107999"/>
                  </a:lnTo>
                  <a:lnTo>
                    <a:pt x="4840949" y="107999"/>
                  </a:lnTo>
                  <a:lnTo>
                    <a:pt x="4848368" y="106503"/>
                  </a:lnTo>
                  <a:lnTo>
                    <a:pt x="4854423" y="102423"/>
                  </a:lnTo>
                  <a:lnTo>
                    <a:pt x="4858503" y="96368"/>
                  </a:lnTo>
                  <a:lnTo>
                    <a:pt x="4859999" y="88949"/>
                  </a:lnTo>
                  <a:lnTo>
                    <a:pt x="4859999" y="19050"/>
                  </a:lnTo>
                  <a:lnTo>
                    <a:pt x="4858503" y="11630"/>
                  </a:lnTo>
                  <a:lnTo>
                    <a:pt x="4854423" y="5575"/>
                  </a:lnTo>
                  <a:lnTo>
                    <a:pt x="4848368" y="1495"/>
                  </a:lnTo>
                  <a:lnTo>
                    <a:pt x="484094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4536000" y="4140000"/>
              <a:ext cx="3499485" cy="108585"/>
            </a:xfrm>
            <a:custGeom>
              <a:avLst/>
              <a:gdLst/>
              <a:ahLst/>
              <a:cxnLst/>
              <a:rect l="l" t="t" r="r" b="b"/>
              <a:pathLst>
                <a:path w="3499484" h="108585">
                  <a:moveTo>
                    <a:pt x="34801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49"/>
                  </a:lnTo>
                  <a:lnTo>
                    <a:pt x="1495" y="96368"/>
                  </a:lnTo>
                  <a:lnTo>
                    <a:pt x="5575" y="102423"/>
                  </a:lnTo>
                  <a:lnTo>
                    <a:pt x="11630" y="106503"/>
                  </a:lnTo>
                  <a:lnTo>
                    <a:pt x="19050" y="107999"/>
                  </a:lnTo>
                  <a:lnTo>
                    <a:pt x="3480149" y="107999"/>
                  </a:lnTo>
                  <a:lnTo>
                    <a:pt x="3487568" y="106503"/>
                  </a:lnTo>
                  <a:lnTo>
                    <a:pt x="3493623" y="102423"/>
                  </a:lnTo>
                  <a:lnTo>
                    <a:pt x="3497703" y="96368"/>
                  </a:lnTo>
                  <a:lnTo>
                    <a:pt x="3499199" y="88949"/>
                  </a:lnTo>
                  <a:lnTo>
                    <a:pt x="3499199" y="19050"/>
                  </a:lnTo>
                  <a:lnTo>
                    <a:pt x="3497703" y="11630"/>
                  </a:lnTo>
                  <a:lnTo>
                    <a:pt x="3493623" y="5575"/>
                  </a:lnTo>
                  <a:lnTo>
                    <a:pt x="3487568" y="1495"/>
                  </a:lnTo>
                  <a:lnTo>
                    <a:pt x="3480149" y="0"/>
                  </a:lnTo>
                  <a:close/>
                </a:path>
              </a:pathLst>
            </a:custGeom>
            <a:solidFill>
              <a:srgbClr val="F9CC1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5" name="object 215"/>
          <p:cNvSpPr txBox="1"/>
          <p:nvPr/>
        </p:nvSpPr>
        <p:spPr>
          <a:xfrm>
            <a:off x="9655379" y="4109349"/>
            <a:ext cx="40195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F9CC15"/>
                </a:solidFill>
                <a:latin typeface="Courier New"/>
                <a:cs typeface="Courier New"/>
              </a:rPr>
              <a:t>30</a:t>
            </a:r>
            <a:r>
              <a:rPr dirty="0" sz="850" spc="-15" b="1">
                <a:solidFill>
                  <a:srgbClr val="F9CC15"/>
                </a:solidFill>
                <a:latin typeface="Courier New"/>
                <a:cs typeface="Courier New"/>
              </a:rPr>
              <a:t xml:space="preserve"> </a:t>
            </a:r>
            <a:r>
              <a:rPr dirty="0" sz="850" spc="-25" b="1">
                <a:solidFill>
                  <a:srgbClr val="F9CC15"/>
                </a:solidFill>
                <a:latin typeface="Courier New"/>
                <a:cs typeface="Courier New"/>
              </a:rPr>
              <a:t>sec</a:t>
            </a:r>
            <a:endParaRPr sz="850">
              <a:latin typeface="Courier New"/>
              <a:cs typeface="Courier New"/>
            </a:endParaRPr>
          </a:p>
        </p:txBody>
      </p:sp>
      <p:grpSp>
        <p:nvGrpSpPr>
          <p:cNvPr id="216" name="object 216"/>
          <p:cNvGrpSpPr/>
          <p:nvPr/>
        </p:nvGrpSpPr>
        <p:grpSpPr>
          <a:xfrm>
            <a:off x="572824" y="4568824"/>
            <a:ext cx="9546590" cy="546735"/>
            <a:chOff x="572824" y="4568824"/>
            <a:chExt cx="9546590" cy="546735"/>
          </a:xfrm>
        </p:grpSpPr>
        <p:sp>
          <p:nvSpPr>
            <p:cNvPr id="217" name="object 217"/>
            <p:cNvSpPr/>
            <p:nvPr/>
          </p:nvSpPr>
          <p:spPr>
            <a:xfrm>
              <a:off x="575999" y="4571999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575999" y="4571999"/>
              <a:ext cx="9540240" cy="540385"/>
            </a:xfrm>
            <a:custGeom>
              <a:avLst/>
              <a:gdLst/>
              <a:ahLst/>
              <a:cxnLst/>
              <a:rect l="l" t="t" r="r" b="b"/>
              <a:pathLst>
                <a:path w="9540240" h="540385">
                  <a:moveTo>
                    <a:pt x="38100" y="540000"/>
                  </a:moveTo>
                  <a:lnTo>
                    <a:pt x="9501899" y="540000"/>
                  </a:lnTo>
                  <a:lnTo>
                    <a:pt x="9516738" y="537008"/>
                  </a:lnTo>
                  <a:lnTo>
                    <a:pt x="9528847" y="528848"/>
                  </a:lnTo>
                  <a:lnTo>
                    <a:pt x="9537008" y="516738"/>
                  </a:lnTo>
                  <a:lnTo>
                    <a:pt x="9539999" y="501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01900"/>
                  </a:lnTo>
                  <a:lnTo>
                    <a:pt x="2991" y="516738"/>
                  </a:lnTo>
                  <a:lnTo>
                    <a:pt x="11151" y="528848"/>
                  </a:lnTo>
                  <a:lnTo>
                    <a:pt x="23261" y="537008"/>
                  </a:lnTo>
                  <a:lnTo>
                    <a:pt x="38100" y="540000"/>
                  </a:lnTo>
                  <a:close/>
                </a:path>
              </a:pathLst>
            </a:custGeom>
            <a:ln w="6350">
              <a:solidFill>
                <a:srgbClr val="FF3B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575999" y="4571999"/>
              <a:ext cx="31750" cy="540385"/>
            </a:xfrm>
            <a:custGeom>
              <a:avLst/>
              <a:gdLst/>
              <a:ahLst/>
              <a:cxnLst/>
              <a:rect l="l" t="t" r="r" b="b"/>
              <a:pathLst>
                <a:path w="31750" h="540385">
                  <a:moveTo>
                    <a:pt x="31750" y="0"/>
                  </a:moveTo>
                  <a:lnTo>
                    <a:pt x="0" y="0"/>
                  </a:lnTo>
                  <a:lnTo>
                    <a:pt x="0" y="540000"/>
                  </a:lnTo>
                  <a:lnTo>
                    <a:pt x="31750" y="540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FF3B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719999" y="4679999"/>
              <a:ext cx="648335" cy="324485"/>
            </a:xfrm>
            <a:custGeom>
              <a:avLst/>
              <a:gdLst/>
              <a:ahLst/>
              <a:cxnLst/>
              <a:rect l="l" t="t" r="r" b="b"/>
              <a:pathLst>
                <a:path w="648335" h="324485">
                  <a:moveTo>
                    <a:pt x="622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298601"/>
                  </a:lnTo>
                  <a:lnTo>
                    <a:pt x="1994" y="308493"/>
                  </a:lnTo>
                  <a:lnTo>
                    <a:pt x="7434" y="316566"/>
                  </a:lnTo>
                  <a:lnTo>
                    <a:pt x="15507" y="322006"/>
                  </a:lnTo>
                  <a:lnTo>
                    <a:pt x="25400" y="324001"/>
                  </a:lnTo>
                  <a:lnTo>
                    <a:pt x="622599" y="324001"/>
                  </a:lnTo>
                  <a:lnTo>
                    <a:pt x="632491" y="322006"/>
                  </a:lnTo>
                  <a:lnTo>
                    <a:pt x="640565" y="316566"/>
                  </a:lnTo>
                  <a:lnTo>
                    <a:pt x="646005" y="308493"/>
                  </a:lnTo>
                  <a:lnTo>
                    <a:pt x="647999" y="298601"/>
                  </a:lnTo>
                  <a:lnTo>
                    <a:pt x="647999" y="25400"/>
                  </a:lnTo>
                  <a:lnTo>
                    <a:pt x="646005" y="15507"/>
                  </a:lnTo>
                  <a:lnTo>
                    <a:pt x="640565" y="7434"/>
                  </a:lnTo>
                  <a:lnTo>
                    <a:pt x="632491" y="1994"/>
                  </a:lnTo>
                  <a:lnTo>
                    <a:pt x="622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1" name="object 221"/>
          <p:cNvSpPr txBox="1"/>
          <p:nvPr/>
        </p:nvSpPr>
        <p:spPr>
          <a:xfrm>
            <a:off x="883979" y="4776399"/>
            <a:ext cx="33337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FF3B3B"/>
                </a:solidFill>
                <a:latin typeface="Courier New"/>
                <a:cs typeface="Courier New"/>
              </a:rPr>
              <a:t>LVL</a:t>
            </a:r>
            <a:r>
              <a:rPr dirty="0" sz="700" spc="-30" b="1">
                <a:solidFill>
                  <a:srgbClr val="FF3B3B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25" b="1">
                <a:solidFill>
                  <a:srgbClr val="FF3B3B"/>
                </a:solidFill>
                <a:latin typeface="Courier New"/>
                <a:cs typeface="Courier New"/>
              </a:rPr>
              <a:t>05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22" name="object 222"/>
          <p:cNvSpPr txBox="1"/>
          <p:nvPr/>
        </p:nvSpPr>
        <p:spPr>
          <a:xfrm>
            <a:off x="1511999" y="4642987"/>
            <a:ext cx="1134110" cy="39433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75"/>
              </a:spcBef>
            </a:pPr>
            <a:r>
              <a:rPr dirty="0" sz="850" spc="-10" b="1">
                <a:solidFill>
                  <a:srgbClr val="FFFFFF"/>
                </a:solidFill>
                <a:latin typeface="Arial"/>
                <a:cs typeface="Arial"/>
              </a:rPr>
              <a:t>MULTI-</a:t>
            </a: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STEP</a:t>
            </a:r>
            <a:r>
              <a:rPr dirty="0" sz="850" spc="5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850" spc="-10" b="1">
                <a:solidFill>
                  <a:srgbClr val="FFFFFF"/>
                </a:solidFill>
                <a:latin typeface="Arial"/>
                <a:cs typeface="Arial"/>
              </a:rPr>
              <a:t>ATTACK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Fake</a:t>
            </a:r>
            <a:r>
              <a:rPr dirty="0" sz="800" spc="-3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recruitment</a:t>
            </a:r>
            <a:r>
              <a:rPr dirty="0" sz="800" spc="-3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>scam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23" name="object 223"/>
          <p:cNvGrpSpPr/>
          <p:nvPr/>
        </p:nvGrpSpPr>
        <p:grpSpPr>
          <a:xfrm>
            <a:off x="4536000" y="4787999"/>
            <a:ext cx="4860290" cy="108585"/>
            <a:chOff x="4536000" y="4787999"/>
            <a:chExt cx="4860290" cy="108585"/>
          </a:xfrm>
        </p:grpSpPr>
        <p:sp>
          <p:nvSpPr>
            <p:cNvPr id="224" name="object 224"/>
            <p:cNvSpPr/>
            <p:nvPr/>
          </p:nvSpPr>
          <p:spPr>
            <a:xfrm>
              <a:off x="4536000" y="4787999"/>
              <a:ext cx="4860290" cy="108585"/>
            </a:xfrm>
            <a:custGeom>
              <a:avLst/>
              <a:gdLst/>
              <a:ahLst/>
              <a:cxnLst/>
              <a:rect l="l" t="t" r="r" b="b"/>
              <a:pathLst>
                <a:path w="4860290" h="108585">
                  <a:moveTo>
                    <a:pt x="48409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49"/>
                  </a:lnTo>
                  <a:lnTo>
                    <a:pt x="1495" y="96368"/>
                  </a:lnTo>
                  <a:lnTo>
                    <a:pt x="5575" y="102423"/>
                  </a:lnTo>
                  <a:lnTo>
                    <a:pt x="11630" y="106503"/>
                  </a:lnTo>
                  <a:lnTo>
                    <a:pt x="19050" y="107999"/>
                  </a:lnTo>
                  <a:lnTo>
                    <a:pt x="4840949" y="107999"/>
                  </a:lnTo>
                  <a:lnTo>
                    <a:pt x="4848368" y="106503"/>
                  </a:lnTo>
                  <a:lnTo>
                    <a:pt x="4854423" y="102423"/>
                  </a:lnTo>
                  <a:lnTo>
                    <a:pt x="4858503" y="96368"/>
                  </a:lnTo>
                  <a:lnTo>
                    <a:pt x="4859999" y="88949"/>
                  </a:lnTo>
                  <a:lnTo>
                    <a:pt x="4859999" y="19050"/>
                  </a:lnTo>
                  <a:lnTo>
                    <a:pt x="4858503" y="11630"/>
                  </a:lnTo>
                  <a:lnTo>
                    <a:pt x="4854423" y="5575"/>
                  </a:lnTo>
                  <a:lnTo>
                    <a:pt x="4848368" y="1495"/>
                  </a:lnTo>
                  <a:lnTo>
                    <a:pt x="484094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4536000" y="4787999"/>
              <a:ext cx="4277360" cy="108585"/>
            </a:xfrm>
            <a:custGeom>
              <a:avLst/>
              <a:gdLst/>
              <a:ahLst/>
              <a:cxnLst/>
              <a:rect l="l" t="t" r="r" b="b"/>
              <a:pathLst>
                <a:path w="4277359" h="108585">
                  <a:moveTo>
                    <a:pt x="4257749" y="0"/>
                  </a:moveTo>
                  <a:lnTo>
                    <a:pt x="19050" y="0"/>
                  </a:lnTo>
                  <a:lnTo>
                    <a:pt x="11630" y="1495"/>
                  </a:lnTo>
                  <a:lnTo>
                    <a:pt x="5575" y="5575"/>
                  </a:lnTo>
                  <a:lnTo>
                    <a:pt x="1495" y="11630"/>
                  </a:lnTo>
                  <a:lnTo>
                    <a:pt x="0" y="19050"/>
                  </a:lnTo>
                  <a:lnTo>
                    <a:pt x="0" y="88949"/>
                  </a:lnTo>
                  <a:lnTo>
                    <a:pt x="1495" y="96368"/>
                  </a:lnTo>
                  <a:lnTo>
                    <a:pt x="5575" y="102423"/>
                  </a:lnTo>
                  <a:lnTo>
                    <a:pt x="11630" y="106503"/>
                  </a:lnTo>
                  <a:lnTo>
                    <a:pt x="19050" y="107999"/>
                  </a:lnTo>
                  <a:lnTo>
                    <a:pt x="4257749" y="107999"/>
                  </a:lnTo>
                  <a:lnTo>
                    <a:pt x="4265169" y="106503"/>
                  </a:lnTo>
                  <a:lnTo>
                    <a:pt x="4271223" y="102423"/>
                  </a:lnTo>
                  <a:lnTo>
                    <a:pt x="4275304" y="96368"/>
                  </a:lnTo>
                  <a:lnTo>
                    <a:pt x="4276799" y="88949"/>
                  </a:lnTo>
                  <a:lnTo>
                    <a:pt x="4276799" y="19050"/>
                  </a:lnTo>
                  <a:lnTo>
                    <a:pt x="4275304" y="11630"/>
                  </a:lnTo>
                  <a:lnTo>
                    <a:pt x="4271223" y="5575"/>
                  </a:lnTo>
                  <a:lnTo>
                    <a:pt x="4265169" y="1495"/>
                  </a:lnTo>
                  <a:lnTo>
                    <a:pt x="4257749" y="0"/>
                  </a:lnTo>
                  <a:close/>
                </a:path>
              </a:pathLst>
            </a:custGeom>
            <a:solidFill>
              <a:srgbClr val="FF3B3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6" name="object 226"/>
          <p:cNvSpPr txBox="1"/>
          <p:nvPr/>
        </p:nvSpPr>
        <p:spPr>
          <a:xfrm>
            <a:off x="9655379" y="4757349"/>
            <a:ext cx="40195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FF3B3B"/>
                </a:solidFill>
                <a:latin typeface="Courier New"/>
                <a:cs typeface="Courier New"/>
              </a:rPr>
              <a:t>55</a:t>
            </a:r>
            <a:r>
              <a:rPr dirty="0" sz="850" spc="-15" b="1">
                <a:solidFill>
                  <a:srgbClr val="FF3B3B"/>
                </a:solidFill>
                <a:latin typeface="Courier New"/>
                <a:cs typeface="Courier New"/>
              </a:rPr>
              <a:t xml:space="preserve"> </a:t>
            </a:r>
            <a:r>
              <a:rPr dirty="0" sz="850" spc="-25" b="1">
                <a:solidFill>
                  <a:srgbClr val="FF3B3B"/>
                </a:solidFill>
                <a:latin typeface="Courier New"/>
                <a:cs typeface="Courier New"/>
              </a:rPr>
              <a:t>sec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227" name="object 2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228" name="object 2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 xml:space="preserve"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 xml:space="preserve"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 xml:space="preserve">06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197459"/>
            <a:ext cx="10692130" cy="362585"/>
            <a:chOff x="0" y="7197459"/>
            <a:chExt cx="10692130" cy="36258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63299" y="690399"/>
            <a:ext cx="4209415" cy="46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05"/>
              </a:lnSpc>
              <a:spcBef>
                <a:spcPts val="100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//</a:t>
            </a:r>
            <a:r>
              <a:rPr dirty="0" sz="700" spc="-2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AI</a:t>
            </a:r>
            <a:r>
              <a:rPr dirty="0" sz="700" spc="-1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10">
                <a:solidFill>
                  <a:srgbClr val="336687"/>
                </a:solidFill>
                <a:latin typeface="Courier New"/>
                <a:cs typeface="Courier New"/>
              </a:rPr>
              <a:t>COMPONENT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2745"/>
              </a:lnSpc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Behavioural</a:t>
            </a:r>
            <a:r>
              <a:rPr dirty="0" sz="2400" spc="-50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400" b="1">
                <a:solidFill>
                  <a:srgbClr val="00C8FF"/>
                </a:solidFill>
                <a:latin typeface="Arial"/>
                <a:cs typeface="Arial"/>
              </a:rPr>
              <a:t>Analysis</a:t>
            </a:r>
            <a:r>
              <a:rPr dirty="0" sz="2400" spc="-50" b="1">
                <a:solidFill>
                  <a:srgbClr val="00C8FF"/>
                </a:solidFill>
                <a:latin typeface="Arial"/>
                <a:cs typeface="Arial"/>
              </a:rPr>
              <a:t xml:space="preserve"> </a:t>
            </a:r>
            <a:r>
              <a:rPr dirty="0" sz="2400" spc="-10" b="1">
                <a:solidFill>
                  <a:srgbClr val="00C8FF"/>
                </a:solidFill>
                <a:latin typeface="Arial"/>
                <a:cs typeface="Arial"/>
              </a:rPr>
              <a:t>Engine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405409" y="1127649"/>
            <a:ext cx="2354580" cy="12700"/>
            <a:chOff x="2405409" y="1127649"/>
            <a:chExt cx="2354580" cy="12700"/>
          </a:xfrm>
        </p:grpSpPr>
        <p:sp>
          <p:nvSpPr>
            <p:cNvPr id="10" name="object 10"/>
            <p:cNvSpPr/>
            <p:nvPr/>
          </p:nvSpPr>
          <p:spPr>
            <a:xfrm>
              <a:off x="2405409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434841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464273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93705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523138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55257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582002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611434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640867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670299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699731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729163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758596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788028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81746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846892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876325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905757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935189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964621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994054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023486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052918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08235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111783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141215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170647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200079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229512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258944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3288376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317808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347241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376673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3406105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435537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46497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494402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523834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3553266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3582699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3612131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3641563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3670995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700428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72986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759292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788724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818157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3847589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3877021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3906453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3935886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965318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99475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4024182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4053615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4083047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4112479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4141911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4171344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4200776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4230208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425964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4289073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4318505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4347937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437737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4406802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4436234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4465666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4495098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4524531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4553963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4583395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4612827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4642260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4671692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4701124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4730556" y="1133999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5" h="0">
                  <a:moveTo>
                    <a:pt x="0" y="0"/>
                  </a:moveTo>
                  <a:lnTo>
                    <a:pt x="29432" y="0"/>
                  </a:lnTo>
                </a:path>
              </a:pathLst>
            </a:custGeom>
            <a:ln w="1270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/>
          <p:cNvGrpSpPr/>
          <p:nvPr/>
        </p:nvGrpSpPr>
        <p:grpSpPr>
          <a:xfrm>
            <a:off x="575999" y="1252379"/>
            <a:ext cx="2520315" cy="15240"/>
            <a:chOff x="575999" y="1252379"/>
            <a:chExt cx="2520315" cy="15240"/>
          </a:xfrm>
        </p:grpSpPr>
        <p:sp>
          <p:nvSpPr>
            <p:cNvPr id="91" name="object 91"/>
            <p:cNvSpPr/>
            <p:nvPr/>
          </p:nvSpPr>
          <p:spPr>
            <a:xfrm>
              <a:off x="57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07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3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7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701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33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6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796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2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5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890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2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5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85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01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04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079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11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4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17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20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23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26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30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33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36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39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42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45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48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52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55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58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61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64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67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71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74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77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80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83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86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89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93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96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99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02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05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208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211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215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218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221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224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227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230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234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237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240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243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246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249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252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256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259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262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265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268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71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74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278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281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284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287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290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93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297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300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303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306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/>
          <p:cNvSpPr txBox="1"/>
          <p:nvPr/>
        </p:nvSpPr>
        <p:spPr>
          <a:xfrm>
            <a:off x="563299" y="1427350"/>
            <a:ext cx="4189729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The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core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AI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system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that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tracks,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analyses,</a:t>
            </a:r>
            <a:r>
              <a:rPr dirty="0" sz="850" spc="-1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and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scores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every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player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decision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in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real</a:t>
            </a:r>
            <a:r>
              <a:rPr dirty="0" sz="850" spc="-1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 spc="-10">
                <a:solidFill>
                  <a:srgbClr val="AAAAAA"/>
                </a:solidFill>
                <a:latin typeface="Arial"/>
                <a:cs typeface="Arial"/>
              </a:rPr>
              <a:t>time.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72" name="object 172"/>
          <p:cNvGrpSpPr/>
          <p:nvPr/>
        </p:nvGrpSpPr>
        <p:grpSpPr>
          <a:xfrm>
            <a:off x="572824" y="1976824"/>
            <a:ext cx="4704715" cy="870585"/>
            <a:chOff x="572824" y="1976824"/>
            <a:chExt cx="4704715" cy="870585"/>
          </a:xfrm>
        </p:grpSpPr>
        <p:sp>
          <p:nvSpPr>
            <p:cNvPr id="173" name="object 173"/>
            <p:cNvSpPr/>
            <p:nvPr/>
          </p:nvSpPr>
          <p:spPr>
            <a:xfrm>
              <a:off x="575999" y="1979999"/>
              <a:ext cx="4698365" cy="864235"/>
            </a:xfrm>
            <a:custGeom>
              <a:avLst/>
              <a:gdLst/>
              <a:ahLst/>
              <a:cxnLst/>
              <a:rect l="l" t="t" r="r" b="b"/>
              <a:pathLst>
                <a:path w="4698365" h="864235">
                  <a:moveTo>
                    <a:pt x="4659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25900"/>
                  </a:lnTo>
                  <a:lnTo>
                    <a:pt x="2991" y="840738"/>
                  </a:lnTo>
                  <a:lnTo>
                    <a:pt x="11151" y="852848"/>
                  </a:lnTo>
                  <a:lnTo>
                    <a:pt x="23261" y="861008"/>
                  </a:lnTo>
                  <a:lnTo>
                    <a:pt x="38100" y="864000"/>
                  </a:lnTo>
                  <a:lnTo>
                    <a:pt x="4659900" y="864000"/>
                  </a:lnTo>
                  <a:lnTo>
                    <a:pt x="4674738" y="861008"/>
                  </a:lnTo>
                  <a:lnTo>
                    <a:pt x="4686848" y="852848"/>
                  </a:lnTo>
                  <a:lnTo>
                    <a:pt x="4695008" y="840738"/>
                  </a:lnTo>
                  <a:lnTo>
                    <a:pt x="4698000" y="825900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575999" y="1979999"/>
              <a:ext cx="4698365" cy="864235"/>
            </a:xfrm>
            <a:custGeom>
              <a:avLst/>
              <a:gdLst/>
              <a:ahLst/>
              <a:cxnLst/>
              <a:rect l="l" t="t" r="r" b="b"/>
              <a:pathLst>
                <a:path w="4698365" h="864235">
                  <a:moveTo>
                    <a:pt x="38100" y="864000"/>
                  </a:moveTo>
                  <a:lnTo>
                    <a:pt x="4659900" y="864000"/>
                  </a:lnTo>
                  <a:lnTo>
                    <a:pt x="4674738" y="861008"/>
                  </a:lnTo>
                  <a:lnTo>
                    <a:pt x="4686848" y="852848"/>
                  </a:lnTo>
                  <a:lnTo>
                    <a:pt x="4695008" y="840738"/>
                  </a:lnTo>
                  <a:lnTo>
                    <a:pt x="4698000" y="825900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25900"/>
                  </a:lnTo>
                  <a:lnTo>
                    <a:pt x="2991" y="840738"/>
                  </a:lnTo>
                  <a:lnTo>
                    <a:pt x="11151" y="852848"/>
                  </a:lnTo>
                  <a:lnTo>
                    <a:pt x="23261" y="861008"/>
                  </a:lnTo>
                  <a:lnTo>
                    <a:pt x="38100" y="864000"/>
                  </a:lnTo>
                  <a:close/>
                </a:path>
              </a:pathLst>
            </a:custGeom>
            <a:ln w="6349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575999" y="1979999"/>
              <a:ext cx="31750" cy="864235"/>
            </a:xfrm>
            <a:custGeom>
              <a:avLst/>
              <a:gdLst/>
              <a:ahLst/>
              <a:cxnLst/>
              <a:rect l="l" t="t" r="r" b="b"/>
              <a:pathLst>
                <a:path w="31750" h="864235">
                  <a:moveTo>
                    <a:pt x="31750" y="0"/>
                  </a:moveTo>
                  <a:lnTo>
                    <a:pt x="0" y="0"/>
                  </a:lnTo>
                  <a:lnTo>
                    <a:pt x="0" y="864000"/>
                  </a:lnTo>
                  <a:lnTo>
                    <a:pt x="31750" y="864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6" name="object 176"/>
          <p:cNvSpPr txBox="1"/>
          <p:nvPr/>
        </p:nvSpPr>
        <p:spPr>
          <a:xfrm>
            <a:off x="612512" y="2130399"/>
            <a:ext cx="4638675" cy="716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A78AF9"/>
                </a:solidFill>
                <a:latin typeface="Courier New"/>
                <a:cs typeface="Courier New"/>
              </a:rPr>
              <a:t>01</a:t>
            </a:r>
            <a:r>
              <a:rPr dirty="0" sz="700" spc="-20">
                <a:solidFill>
                  <a:srgbClr val="A78AF9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25">
                <a:solidFill>
                  <a:srgbClr val="A78AF9"/>
                </a:solidFill>
                <a:latin typeface="Courier New"/>
                <a:cs typeface="Courier New"/>
              </a:rPr>
              <a:t>//</a:t>
            </a:r>
            <a:endParaRPr sz="700">
              <a:latin typeface="Courier New"/>
              <a:cs typeface="Courier New"/>
            </a:endParaRPr>
          </a:p>
          <a:p>
            <a:pPr marL="142875">
              <a:lnSpc>
                <a:spcPct val="100000"/>
              </a:lnSpc>
              <a:spcBef>
                <a:spcPts val="760"/>
              </a:spcBef>
            </a:pPr>
            <a:r>
              <a:rPr dirty="0" sz="800" b="1">
                <a:solidFill>
                  <a:srgbClr val="E9E9E9"/>
                </a:solidFill>
                <a:latin typeface="Arial"/>
                <a:cs typeface="Arial"/>
              </a:rPr>
              <a:t>SCENARIO</a:t>
            </a:r>
            <a:r>
              <a:rPr dirty="0" sz="800" spc="-45" b="1">
                <a:solidFill>
                  <a:srgbClr val="E9E9E9"/>
                </a:solidFill>
                <a:latin typeface="Arial"/>
                <a:cs typeface="Arial"/>
              </a:rPr>
              <a:t xml:space="preserve"> </a:t>
            </a:r>
            <a:r>
              <a:rPr dirty="0" sz="800" spc="-10" b="1">
                <a:solidFill>
                  <a:srgbClr val="E9E9E9"/>
                </a:solidFill>
                <a:latin typeface="Arial"/>
                <a:cs typeface="Arial"/>
              </a:rPr>
              <a:t>GENERATION</a:t>
            </a:r>
            <a:endParaRPr sz="800">
              <a:latin typeface="Arial"/>
              <a:cs typeface="Arial"/>
            </a:endParaRPr>
          </a:p>
          <a:p>
            <a:pPr marL="142875" marR="151130">
              <a:lnSpc>
                <a:spcPct val="132300"/>
              </a:lnSpc>
              <a:spcBef>
                <a:spcPts val="50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Structured intelligent variation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creates realistic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phishing emails, scam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messages &amp;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fake pages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across </a:t>
            </a:r>
            <a:r>
              <a:rPr dirty="0" sz="750" spc="-50">
                <a:solidFill>
                  <a:srgbClr val="667787"/>
                </a:solidFill>
                <a:latin typeface="Arial"/>
                <a:cs typeface="Arial"/>
              </a:rPr>
              <a:t>5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 threat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levels.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77" name="object 177"/>
          <p:cNvGrpSpPr/>
          <p:nvPr/>
        </p:nvGrpSpPr>
        <p:grpSpPr>
          <a:xfrm>
            <a:off x="5414825" y="1976824"/>
            <a:ext cx="4704715" cy="870585"/>
            <a:chOff x="5414825" y="1976824"/>
            <a:chExt cx="4704715" cy="870585"/>
          </a:xfrm>
        </p:grpSpPr>
        <p:sp>
          <p:nvSpPr>
            <p:cNvPr id="178" name="object 178"/>
            <p:cNvSpPr/>
            <p:nvPr/>
          </p:nvSpPr>
          <p:spPr>
            <a:xfrm>
              <a:off x="5418000" y="1979999"/>
              <a:ext cx="4698365" cy="864235"/>
            </a:xfrm>
            <a:custGeom>
              <a:avLst/>
              <a:gdLst/>
              <a:ahLst/>
              <a:cxnLst/>
              <a:rect l="l" t="t" r="r" b="b"/>
              <a:pathLst>
                <a:path w="4698365" h="864235">
                  <a:moveTo>
                    <a:pt x="4659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25900"/>
                  </a:lnTo>
                  <a:lnTo>
                    <a:pt x="2991" y="840738"/>
                  </a:lnTo>
                  <a:lnTo>
                    <a:pt x="11151" y="852848"/>
                  </a:lnTo>
                  <a:lnTo>
                    <a:pt x="23261" y="861008"/>
                  </a:lnTo>
                  <a:lnTo>
                    <a:pt x="38100" y="864000"/>
                  </a:lnTo>
                  <a:lnTo>
                    <a:pt x="4659899" y="864000"/>
                  </a:lnTo>
                  <a:lnTo>
                    <a:pt x="4674737" y="861008"/>
                  </a:lnTo>
                  <a:lnTo>
                    <a:pt x="4686847" y="852848"/>
                  </a:lnTo>
                  <a:lnTo>
                    <a:pt x="4695007" y="840738"/>
                  </a:lnTo>
                  <a:lnTo>
                    <a:pt x="4697999" y="825900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5418000" y="1979999"/>
              <a:ext cx="4698365" cy="864235"/>
            </a:xfrm>
            <a:custGeom>
              <a:avLst/>
              <a:gdLst/>
              <a:ahLst/>
              <a:cxnLst/>
              <a:rect l="l" t="t" r="r" b="b"/>
              <a:pathLst>
                <a:path w="4698365" h="864235">
                  <a:moveTo>
                    <a:pt x="38100" y="864000"/>
                  </a:moveTo>
                  <a:lnTo>
                    <a:pt x="4659899" y="864000"/>
                  </a:lnTo>
                  <a:lnTo>
                    <a:pt x="4674737" y="861008"/>
                  </a:lnTo>
                  <a:lnTo>
                    <a:pt x="4686847" y="852848"/>
                  </a:lnTo>
                  <a:lnTo>
                    <a:pt x="4695007" y="840738"/>
                  </a:lnTo>
                  <a:lnTo>
                    <a:pt x="4697999" y="825900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25900"/>
                  </a:lnTo>
                  <a:lnTo>
                    <a:pt x="2991" y="840738"/>
                  </a:lnTo>
                  <a:lnTo>
                    <a:pt x="11151" y="852848"/>
                  </a:lnTo>
                  <a:lnTo>
                    <a:pt x="23261" y="861008"/>
                  </a:lnTo>
                  <a:lnTo>
                    <a:pt x="38100" y="864000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5418000" y="1979999"/>
              <a:ext cx="31750" cy="864235"/>
            </a:xfrm>
            <a:custGeom>
              <a:avLst/>
              <a:gdLst/>
              <a:ahLst/>
              <a:cxnLst/>
              <a:rect l="l" t="t" r="r" b="b"/>
              <a:pathLst>
                <a:path w="31750" h="864235">
                  <a:moveTo>
                    <a:pt x="31750" y="0"/>
                  </a:moveTo>
                  <a:lnTo>
                    <a:pt x="0" y="0"/>
                  </a:lnTo>
                  <a:lnTo>
                    <a:pt x="0" y="864000"/>
                  </a:lnTo>
                  <a:lnTo>
                    <a:pt x="31750" y="864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1" name="object 181"/>
          <p:cNvSpPr txBox="1"/>
          <p:nvPr/>
        </p:nvSpPr>
        <p:spPr>
          <a:xfrm>
            <a:off x="5456100" y="2130399"/>
            <a:ext cx="4636770" cy="565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1605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A78AF9"/>
                </a:solidFill>
                <a:latin typeface="Courier New"/>
                <a:cs typeface="Courier New"/>
              </a:rPr>
              <a:t>02</a:t>
            </a:r>
            <a:r>
              <a:rPr dirty="0" sz="700" spc="-20">
                <a:solidFill>
                  <a:srgbClr val="A78AF9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25">
                <a:solidFill>
                  <a:srgbClr val="A78AF9"/>
                </a:solidFill>
                <a:latin typeface="Courier New"/>
                <a:cs typeface="Courier New"/>
              </a:rPr>
              <a:t>//</a:t>
            </a:r>
            <a:endParaRPr sz="700">
              <a:latin typeface="Courier New"/>
              <a:cs typeface="Courier New"/>
            </a:endParaRPr>
          </a:p>
          <a:p>
            <a:pPr marL="141605">
              <a:lnSpc>
                <a:spcPct val="100000"/>
              </a:lnSpc>
              <a:spcBef>
                <a:spcPts val="760"/>
              </a:spcBef>
            </a:pPr>
            <a:r>
              <a:rPr dirty="0" sz="800" b="1">
                <a:solidFill>
                  <a:srgbClr val="E9E9E9"/>
                </a:solidFill>
                <a:latin typeface="Arial"/>
                <a:cs typeface="Arial"/>
              </a:rPr>
              <a:t xml:space="preserve">BEHAVIOURAL </a:t>
            </a:r>
            <a:r>
              <a:rPr dirty="0" sz="800" spc="-10" b="1">
                <a:solidFill>
                  <a:srgbClr val="E9E9E9"/>
                </a:solidFill>
                <a:latin typeface="Arial"/>
                <a:cs typeface="Arial"/>
              </a:rPr>
              <a:t>ANALYSIS</a:t>
            </a:r>
            <a:endParaRPr sz="800">
              <a:latin typeface="Arial"/>
              <a:cs typeface="Arial"/>
            </a:endParaRPr>
          </a:p>
          <a:p>
            <a:pPr marL="141605">
              <a:lnSpc>
                <a:spcPct val="100000"/>
              </a:lnSpc>
              <a:spcBef>
                <a:spcPts val="79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Monitors click patterns, hesitation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time, authority bias,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and urgency susceptibility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across all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decisions.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2" name="object 182"/>
          <p:cNvGrpSpPr/>
          <p:nvPr/>
        </p:nvGrpSpPr>
        <p:grpSpPr>
          <a:xfrm>
            <a:off x="572824" y="2948825"/>
            <a:ext cx="4704715" cy="870585"/>
            <a:chOff x="572824" y="2948825"/>
            <a:chExt cx="4704715" cy="870585"/>
          </a:xfrm>
        </p:grpSpPr>
        <p:sp>
          <p:nvSpPr>
            <p:cNvPr id="183" name="object 183"/>
            <p:cNvSpPr/>
            <p:nvPr/>
          </p:nvSpPr>
          <p:spPr>
            <a:xfrm>
              <a:off x="575999" y="2952000"/>
              <a:ext cx="4698365" cy="864235"/>
            </a:xfrm>
            <a:custGeom>
              <a:avLst/>
              <a:gdLst/>
              <a:ahLst/>
              <a:cxnLst/>
              <a:rect l="l" t="t" r="r" b="b"/>
              <a:pathLst>
                <a:path w="4698365" h="864235">
                  <a:moveTo>
                    <a:pt x="4659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25900"/>
                  </a:lnTo>
                  <a:lnTo>
                    <a:pt x="2991" y="840738"/>
                  </a:lnTo>
                  <a:lnTo>
                    <a:pt x="11151" y="852848"/>
                  </a:lnTo>
                  <a:lnTo>
                    <a:pt x="23261" y="861008"/>
                  </a:lnTo>
                  <a:lnTo>
                    <a:pt x="38100" y="864000"/>
                  </a:lnTo>
                  <a:lnTo>
                    <a:pt x="4659900" y="864000"/>
                  </a:lnTo>
                  <a:lnTo>
                    <a:pt x="4674738" y="861008"/>
                  </a:lnTo>
                  <a:lnTo>
                    <a:pt x="4686848" y="852848"/>
                  </a:lnTo>
                  <a:lnTo>
                    <a:pt x="4695008" y="840738"/>
                  </a:lnTo>
                  <a:lnTo>
                    <a:pt x="4698000" y="825900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575999" y="2952000"/>
              <a:ext cx="4698365" cy="864235"/>
            </a:xfrm>
            <a:custGeom>
              <a:avLst/>
              <a:gdLst/>
              <a:ahLst/>
              <a:cxnLst/>
              <a:rect l="l" t="t" r="r" b="b"/>
              <a:pathLst>
                <a:path w="4698365" h="864235">
                  <a:moveTo>
                    <a:pt x="38100" y="864000"/>
                  </a:moveTo>
                  <a:lnTo>
                    <a:pt x="4659900" y="864000"/>
                  </a:lnTo>
                  <a:lnTo>
                    <a:pt x="4674738" y="861008"/>
                  </a:lnTo>
                  <a:lnTo>
                    <a:pt x="4686848" y="852848"/>
                  </a:lnTo>
                  <a:lnTo>
                    <a:pt x="4695008" y="840738"/>
                  </a:lnTo>
                  <a:lnTo>
                    <a:pt x="4698000" y="825900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25900"/>
                  </a:lnTo>
                  <a:lnTo>
                    <a:pt x="2991" y="840738"/>
                  </a:lnTo>
                  <a:lnTo>
                    <a:pt x="11151" y="852848"/>
                  </a:lnTo>
                  <a:lnTo>
                    <a:pt x="23261" y="861008"/>
                  </a:lnTo>
                  <a:lnTo>
                    <a:pt x="38100" y="864000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575999" y="2952000"/>
              <a:ext cx="31750" cy="864235"/>
            </a:xfrm>
            <a:custGeom>
              <a:avLst/>
              <a:gdLst/>
              <a:ahLst/>
              <a:cxnLst/>
              <a:rect l="l" t="t" r="r" b="b"/>
              <a:pathLst>
                <a:path w="31750" h="864235">
                  <a:moveTo>
                    <a:pt x="31750" y="0"/>
                  </a:moveTo>
                  <a:lnTo>
                    <a:pt x="0" y="0"/>
                  </a:lnTo>
                  <a:lnTo>
                    <a:pt x="0" y="864000"/>
                  </a:lnTo>
                  <a:lnTo>
                    <a:pt x="31750" y="864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6" name="object 186"/>
          <p:cNvSpPr txBox="1"/>
          <p:nvPr/>
        </p:nvSpPr>
        <p:spPr>
          <a:xfrm>
            <a:off x="612512" y="3102400"/>
            <a:ext cx="4638675" cy="565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A78AF9"/>
                </a:solidFill>
                <a:latin typeface="Courier New"/>
                <a:cs typeface="Courier New"/>
              </a:rPr>
              <a:t>03</a:t>
            </a:r>
            <a:r>
              <a:rPr dirty="0" sz="700" spc="-20">
                <a:solidFill>
                  <a:srgbClr val="A78AF9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25">
                <a:solidFill>
                  <a:srgbClr val="A78AF9"/>
                </a:solidFill>
                <a:latin typeface="Courier New"/>
                <a:cs typeface="Courier New"/>
              </a:rPr>
              <a:t>//</a:t>
            </a:r>
            <a:endParaRPr sz="700">
              <a:latin typeface="Courier New"/>
              <a:cs typeface="Courier New"/>
            </a:endParaRPr>
          </a:p>
          <a:p>
            <a:pPr marL="142875">
              <a:lnSpc>
                <a:spcPct val="100000"/>
              </a:lnSpc>
              <a:spcBef>
                <a:spcPts val="760"/>
              </a:spcBef>
            </a:pPr>
            <a:r>
              <a:rPr dirty="0" sz="800" b="1">
                <a:solidFill>
                  <a:srgbClr val="E9E9E9"/>
                </a:solidFill>
                <a:latin typeface="Arial"/>
                <a:cs typeface="Arial"/>
              </a:rPr>
              <a:t>HUMAN</a:t>
            </a:r>
            <a:r>
              <a:rPr dirty="0" sz="800" spc="-10" b="1">
                <a:solidFill>
                  <a:srgbClr val="E9E9E9"/>
                </a:solidFill>
                <a:latin typeface="Arial"/>
                <a:cs typeface="Arial"/>
              </a:rPr>
              <a:t xml:space="preserve"> </a:t>
            </a:r>
            <a:r>
              <a:rPr dirty="0" sz="800" b="1">
                <a:solidFill>
                  <a:srgbClr val="E9E9E9"/>
                </a:solidFill>
                <a:latin typeface="Arial"/>
                <a:cs typeface="Arial"/>
              </a:rPr>
              <a:t>RISK</a:t>
            </a:r>
            <a:r>
              <a:rPr dirty="0" sz="800" spc="-10" b="1">
                <a:solidFill>
                  <a:srgbClr val="E9E9E9"/>
                </a:solidFill>
                <a:latin typeface="Arial"/>
                <a:cs typeface="Arial"/>
              </a:rPr>
              <a:t xml:space="preserve"> SCORE</a:t>
            </a:r>
            <a:endParaRPr sz="8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79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Calculates a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personalised risk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score (0-100)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showing exactly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how vulnerable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the user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is to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cyber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attacks.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7" name="object 187"/>
          <p:cNvGrpSpPr/>
          <p:nvPr/>
        </p:nvGrpSpPr>
        <p:grpSpPr>
          <a:xfrm>
            <a:off x="5414825" y="2948825"/>
            <a:ext cx="4704715" cy="870585"/>
            <a:chOff x="5414825" y="2948825"/>
            <a:chExt cx="4704715" cy="870585"/>
          </a:xfrm>
        </p:grpSpPr>
        <p:sp>
          <p:nvSpPr>
            <p:cNvPr id="188" name="object 188"/>
            <p:cNvSpPr/>
            <p:nvPr/>
          </p:nvSpPr>
          <p:spPr>
            <a:xfrm>
              <a:off x="5418000" y="2952000"/>
              <a:ext cx="4698365" cy="864235"/>
            </a:xfrm>
            <a:custGeom>
              <a:avLst/>
              <a:gdLst/>
              <a:ahLst/>
              <a:cxnLst/>
              <a:rect l="l" t="t" r="r" b="b"/>
              <a:pathLst>
                <a:path w="4698365" h="864235">
                  <a:moveTo>
                    <a:pt x="4659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25900"/>
                  </a:lnTo>
                  <a:lnTo>
                    <a:pt x="2991" y="840738"/>
                  </a:lnTo>
                  <a:lnTo>
                    <a:pt x="11151" y="852848"/>
                  </a:lnTo>
                  <a:lnTo>
                    <a:pt x="23261" y="861008"/>
                  </a:lnTo>
                  <a:lnTo>
                    <a:pt x="38100" y="864000"/>
                  </a:lnTo>
                  <a:lnTo>
                    <a:pt x="4659899" y="864000"/>
                  </a:lnTo>
                  <a:lnTo>
                    <a:pt x="4674737" y="861008"/>
                  </a:lnTo>
                  <a:lnTo>
                    <a:pt x="4686847" y="852848"/>
                  </a:lnTo>
                  <a:lnTo>
                    <a:pt x="4695007" y="840738"/>
                  </a:lnTo>
                  <a:lnTo>
                    <a:pt x="4697999" y="825900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5418000" y="2952000"/>
              <a:ext cx="4698365" cy="864235"/>
            </a:xfrm>
            <a:custGeom>
              <a:avLst/>
              <a:gdLst/>
              <a:ahLst/>
              <a:cxnLst/>
              <a:rect l="l" t="t" r="r" b="b"/>
              <a:pathLst>
                <a:path w="4698365" h="864235">
                  <a:moveTo>
                    <a:pt x="38100" y="864000"/>
                  </a:moveTo>
                  <a:lnTo>
                    <a:pt x="4659899" y="864000"/>
                  </a:lnTo>
                  <a:lnTo>
                    <a:pt x="4674737" y="861008"/>
                  </a:lnTo>
                  <a:lnTo>
                    <a:pt x="4686847" y="852848"/>
                  </a:lnTo>
                  <a:lnTo>
                    <a:pt x="4695007" y="840738"/>
                  </a:lnTo>
                  <a:lnTo>
                    <a:pt x="4697999" y="825900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825900"/>
                  </a:lnTo>
                  <a:lnTo>
                    <a:pt x="2991" y="840738"/>
                  </a:lnTo>
                  <a:lnTo>
                    <a:pt x="11151" y="852848"/>
                  </a:lnTo>
                  <a:lnTo>
                    <a:pt x="23261" y="861008"/>
                  </a:lnTo>
                  <a:lnTo>
                    <a:pt x="38100" y="864000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5418000" y="2952000"/>
              <a:ext cx="31750" cy="864235"/>
            </a:xfrm>
            <a:custGeom>
              <a:avLst/>
              <a:gdLst/>
              <a:ahLst/>
              <a:cxnLst/>
              <a:rect l="l" t="t" r="r" b="b"/>
              <a:pathLst>
                <a:path w="31750" h="864235">
                  <a:moveTo>
                    <a:pt x="31750" y="0"/>
                  </a:moveTo>
                  <a:lnTo>
                    <a:pt x="0" y="0"/>
                  </a:lnTo>
                  <a:lnTo>
                    <a:pt x="0" y="864000"/>
                  </a:lnTo>
                  <a:lnTo>
                    <a:pt x="31750" y="864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1" name="object 191"/>
          <p:cNvSpPr txBox="1"/>
          <p:nvPr/>
        </p:nvSpPr>
        <p:spPr>
          <a:xfrm>
            <a:off x="5454512" y="3102400"/>
            <a:ext cx="4638675" cy="716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A78AF9"/>
                </a:solidFill>
                <a:latin typeface="Courier New"/>
                <a:cs typeface="Courier New"/>
              </a:rPr>
              <a:t>04</a:t>
            </a:r>
            <a:r>
              <a:rPr dirty="0" sz="700" spc="-20">
                <a:solidFill>
                  <a:srgbClr val="A78AF9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25">
                <a:solidFill>
                  <a:srgbClr val="A78AF9"/>
                </a:solidFill>
                <a:latin typeface="Courier New"/>
                <a:cs typeface="Courier New"/>
              </a:rPr>
              <a:t>//</a:t>
            </a:r>
            <a:endParaRPr sz="700">
              <a:latin typeface="Courier New"/>
              <a:cs typeface="Courier New"/>
            </a:endParaRPr>
          </a:p>
          <a:p>
            <a:pPr marL="142875">
              <a:lnSpc>
                <a:spcPct val="100000"/>
              </a:lnSpc>
              <a:spcBef>
                <a:spcPts val="760"/>
              </a:spcBef>
            </a:pPr>
            <a:r>
              <a:rPr dirty="0" sz="800" spc="-10" b="1">
                <a:solidFill>
                  <a:srgbClr val="E9E9E9"/>
                </a:solidFill>
                <a:latin typeface="Arial"/>
                <a:cs typeface="Arial"/>
              </a:rPr>
              <a:t>PERSONALISED</a:t>
            </a:r>
            <a:r>
              <a:rPr dirty="0" sz="800" spc="55" b="1">
                <a:solidFill>
                  <a:srgbClr val="E9E9E9"/>
                </a:solidFill>
                <a:latin typeface="Arial"/>
                <a:cs typeface="Arial"/>
              </a:rPr>
              <a:t xml:space="preserve"> </a:t>
            </a:r>
            <a:r>
              <a:rPr dirty="0" sz="800" spc="-10" b="1">
                <a:solidFill>
                  <a:srgbClr val="E9E9E9"/>
                </a:solidFill>
                <a:latin typeface="Arial"/>
                <a:cs typeface="Arial"/>
              </a:rPr>
              <a:t>TRAINING</a:t>
            </a:r>
            <a:endParaRPr sz="800">
              <a:latin typeface="Arial"/>
              <a:cs typeface="Arial"/>
            </a:endParaRPr>
          </a:p>
          <a:p>
            <a:pPr marL="142875" marR="378460">
              <a:lnSpc>
                <a:spcPct val="132300"/>
              </a:lnSpc>
              <a:spcBef>
                <a:spcPts val="50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Recommends tailored safety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tips and security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insights based on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detected weaknesses after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every decision.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92" name="object 192"/>
          <p:cNvGrpSpPr/>
          <p:nvPr/>
        </p:nvGrpSpPr>
        <p:grpSpPr>
          <a:xfrm>
            <a:off x="572189" y="4064190"/>
            <a:ext cx="2338705" cy="584200"/>
            <a:chOff x="572189" y="4064190"/>
            <a:chExt cx="2338705" cy="584200"/>
          </a:xfrm>
        </p:grpSpPr>
        <p:sp>
          <p:nvSpPr>
            <p:cNvPr id="193" name="object 193"/>
            <p:cNvSpPr/>
            <p:nvPr/>
          </p:nvSpPr>
          <p:spPr>
            <a:xfrm>
              <a:off x="575999" y="4068000"/>
              <a:ext cx="2331085" cy="576580"/>
            </a:xfrm>
            <a:custGeom>
              <a:avLst/>
              <a:gdLst/>
              <a:ahLst/>
              <a:cxnLst/>
              <a:rect l="l" t="t" r="r" b="b"/>
              <a:pathLst>
                <a:path w="2331085" h="576579">
                  <a:moveTo>
                    <a:pt x="2292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899"/>
                  </a:lnTo>
                  <a:lnTo>
                    <a:pt x="2991" y="552738"/>
                  </a:lnTo>
                  <a:lnTo>
                    <a:pt x="11151" y="564847"/>
                  </a:lnTo>
                  <a:lnTo>
                    <a:pt x="23261" y="573008"/>
                  </a:lnTo>
                  <a:lnTo>
                    <a:pt x="38100" y="575999"/>
                  </a:lnTo>
                  <a:lnTo>
                    <a:pt x="2292899" y="575999"/>
                  </a:lnTo>
                  <a:lnTo>
                    <a:pt x="2307738" y="573008"/>
                  </a:lnTo>
                  <a:lnTo>
                    <a:pt x="2319847" y="564847"/>
                  </a:lnTo>
                  <a:lnTo>
                    <a:pt x="2328008" y="552738"/>
                  </a:lnTo>
                  <a:lnTo>
                    <a:pt x="2330999" y="537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7" y="11151"/>
                  </a:lnTo>
                  <a:lnTo>
                    <a:pt x="2307738" y="2991"/>
                  </a:lnTo>
                  <a:lnTo>
                    <a:pt x="2292899" y="0"/>
                  </a:lnTo>
                  <a:close/>
                </a:path>
              </a:pathLst>
            </a:custGeom>
            <a:solidFill>
              <a:srgbClr val="0A0E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575999" y="4068000"/>
              <a:ext cx="2331085" cy="576580"/>
            </a:xfrm>
            <a:custGeom>
              <a:avLst/>
              <a:gdLst/>
              <a:ahLst/>
              <a:cxnLst/>
              <a:rect l="l" t="t" r="r" b="b"/>
              <a:pathLst>
                <a:path w="2331085" h="576579">
                  <a:moveTo>
                    <a:pt x="38100" y="575999"/>
                  </a:moveTo>
                  <a:lnTo>
                    <a:pt x="2292899" y="575999"/>
                  </a:lnTo>
                  <a:lnTo>
                    <a:pt x="2307738" y="573008"/>
                  </a:lnTo>
                  <a:lnTo>
                    <a:pt x="2319847" y="564847"/>
                  </a:lnTo>
                  <a:lnTo>
                    <a:pt x="2328008" y="552738"/>
                  </a:lnTo>
                  <a:lnTo>
                    <a:pt x="2330999" y="537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7" y="11151"/>
                  </a:lnTo>
                  <a:lnTo>
                    <a:pt x="2307738" y="2991"/>
                  </a:lnTo>
                  <a:lnTo>
                    <a:pt x="2292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899"/>
                  </a:lnTo>
                  <a:lnTo>
                    <a:pt x="2991" y="552738"/>
                  </a:lnTo>
                  <a:lnTo>
                    <a:pt x="11151" y="564847"/>
                  </a:lnTo>
                  <a:lnTo>
                    <a:pt x="23261" y="573008"/>
                  </a:lnTo>
                  <a:lnTo>
                    <a:pt x="38100" y="575999"/>
                  </a:lnTo>
                  <a:close/>
                </a:path>
              </a:pathLst>
            </a:custGeom>
            <a:ln w="7620">
              <a:solidFill>
                <a:srgbClr val="00FF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5" name="object 195"/>
          <p:cNvSpPr txBox="1"/>
          <p:nvPr/>
        </p:nvSpPr>
        <p:spPr>
          <a:xfrm>
            <a:off x="671300" y="4182399"/>
            <a:ext cx="77660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00FF9C"/>
                </a:solidFill>
                <a:latin typeface="Arial"/>
                <a:cs typeface="Arial"/>
              </a:rPr>
              <a:t>HYPER-</a:t>
            </a:r>
            <a:r>
              <a:rPr dirty="0" sz="700" spc="-10" b="1">
                <a:solidFill>
                  <a:srgbClr val="00FF9C"/>
                </a:solidFill>
                <a:latin typeface="Arial"/>
                <a:cs typeface="Arial"/>
              </a:rPr>
              <a:t>VIGILANT</a:t>
            </a:r>
            <a:endParaRPr sz="700">
              <a:latin typeface="Arial"/>
              <a:cs typeface="Arial"/>
            </a:endParaRPr>
          </a:p>
        </p:txBody>
      </p:sp>
      <p:sp>
        <p:nvSpPr>
          <p:cNvPr id="196" name="object 196"/>
          <p:cNvSpPr txBox="1"/>
          <p:nvPr/>
        </p:nvSpPr>
        <p:spPr>
          <a:xfrm>
            <a:off x="671300" y="4398399"/>
            <a:ext cx="135001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667787"/>
                </a:solidFill>
                <a:latin typeface="Arial"/>
                <a:cs typeface="Arial"/>
              </a:rPr>
              <a:t>0%</a:t>
            </a:r>
            <a:r>
              <a:rPr dirty="0" sz="700" spc="-1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00">
                <a:solidFill>
                  <a:srgbClr val="667787"/>
                </a:solidFill>
                <a:latin typeface="Arial"/>
                <a:cs typeface="Arial"/>
              </a:rPr>
              <a:t>wrong</a:t>
            </a:r>
            <a:r>
              <a:rPr dirty="0" sz="70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00">
                <a:solidFill>
                  <a:srgbClr val="667787"/>
                </a:solidFill>
                <a:latin typeface="Arial"/>
                <a:cs typeface="Arial"/>
              </a:rPr>
              <a:t>—</a:t>
            </a:r>
            <a:r>
              <a:rPr dirty="0" sz="70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00">
                <a:solidFill>
                  <a:srgbClr val="667787"/>
                </a:solidFill>
                <a:latin typeface="Arial"/>
                <a:cs typeface="Arial"/>
              </a:rPr>
              <a:t>Elite</a:t>
            </a:r>
            <a:r>
              <a:rPr dirty="0" sz="70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00">
                <a:solidFill>
                  <a:srgbClr val="667787"/>
                </a:solidFill>
                <a:latin typeface="Arial"/>
                <a:cs typeface="Arial"/>
              </a:rPr>
              <a:t>cyber</a:t>
            </a:r>
            <a:r>
              <a:rPr dirty="0" sz="70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00" spc="-10">
                <a:solidFill>
                  <a:srgbClr val="667787"/>
                </a:solidFill>
                <a:latin typeface="Arial"/>
                <a:cs typeface="Arial"/>
              </a:rPr>
              <a:t>defender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97" name="object 197"/>
          <p:cNvGrpSpPr/>
          <p:nvPr/>
        </p:nvGrpSpPr>
        <p:grpSpPr>
          <a:xfrm>
            <a:off x="2975189" y="4064190"/>
            <a:ext cx="2338705" cy="584200"/>
            <a:chOff x="2975189" y="4064190"/>
            <a:chExt cx="2338705" cy="584200"/>
          </a:xfrm>
        </p:grpSpPr>
        <p:sp>
          <p:nvSpPr>
            <p:cNvPr id="198" name="object 198"/>
            <p:cNvSpPr/>
            <p:nvPr/>
          </p:nvSpPr>
          <p:spPr>
            <a:xfrm>
              <a:off x="2978999" y="4068000"/>
              <a:ext cx="2331085" cy="576580"/>
            </a:xfrm>
            <a:custGeom>
              <a:avLst/>
              <a:gdLst/>
              <a:ahLst/>
              <a:cxnLst/>
              <a:rect l="l" t="t" r="r" b="b"/>
              <a:pathLst>
                <a:path w="2331085" h="576579">
                  <a:moveTo>
                    <a:pt x="2292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899"/>
                  </a:lnTo>
                  <a:lnTo>
                    <a:pt x="2991" y="552738"/>
                  </a:lnTo>
                  <a:lnTo>
                    <a:pt x="11151" y="564847"/>
                  </a:lnTo>
                  <a:lnTo>
                    <a:pt x="23261" y="573008"/>
                  </a:lnTo>
                  <a:lnTo>
                    <a:pt x="38100" y="575999"/>
                  </a:lnTo>
                  <a:lnTo>
                    <a:pt x="2292899" y="575999"/>
                  </a:lnTo>
                  <a:lnTo>
                    <a:pt x="2307738" y="573008"/>
                  </a:lnTo>
                  <a:lnTo>
                    <a:pt x="2319848" y="564847"/>
                  </a:lnTo>
                  <a:lnTo>
                    <a:pt x="2328008" y="552738"/>
                  </a:lnTo>
                  <a:lnTo>
                    <a:pt x="2330999" y="537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close/>
                </a:path>
              </a:pathLst>
            </a:custGeom>
            <a:solidFill>
              <a:srgbClr val="0A0E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2978999" y="4068000"/>
              <a:ext cx="2331085" cy="576580"/>
            </a:xfrm>
            <a:custGeom>
              <a:avLst/>
              <a:gdLst/>
              <a:ahLst/>
              <a:cxnLst/>
              <a:rect l="l" t="t" r="r" b="b"/>
              <a:pathLst>
                <a:path w="2331085" h="576579">
                  <a:moveTo>
                    <a:pt x="38100" y="575999"/>
                  </a:moveTo>
                  <a:lnTo>
                    <a:pt x="2292899" y="575999"/>
                  </a:lnTo>
                  <a:lnTo>
                    <a:pt x="2307738" y="573008"/>
                  </a:lnTo>
                  <a:lnTo>
                    <a:pt x="2319848" y="564847"/>
                  </a:lnTo>
                  <a:lnTo>
                    <a:pt x="2328008" y="552738"/>
                  </a:lnTo>
                  <a:lnTo>
                    <a:pt x="2330999" y="537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899"/>
                  </a:lnTo>
                  <a:lnTo>
                    <a:pt x="2991" y="552738"/>
                  </a:lnTo>
                  <a:lnTo>
                    <a:pt x="11151" y="564847"/>
                  </a:lnTo>
                  <a:lnTo>
                    <a:pt x="23261" y="573008"/>
                  </a:lnTo>
                  <a:lnTo>
                    <a:pt x="38100" y="575999"/>
                  </a:lnTo>
                  <a:close/>
                </a:path>
              </a:pathLst>
            </a:custGeom>
            <a:ln w="7620">
              <a:solidFill>
                <a:srgbClr val="F9CC1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0" name="object 200"/>
          <p:cNvSpPr txBox="1"/>
          <p:nvPr/>
        </p:nvSpPr>
        <p:spPr>
          <a:xfrm>
            <a:off x="3074300" y="4182399"/>
            <a:ext cx="132969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F9CC15"/>
                </a:solidFill>
                <a:latin typeface="Arial"/>
                <a:cs typeface="Arial"/>
              </a:rPr>
              <a:t xml:space="preserve">CAUTIOUS BUT </a:t>
            </a:r>
            <a:r>
              <a:rPr dirty="0" sz="700" spc="-10" b="1">
                <a:solidFill>
                  <a:srgbClr val="F9CC15"/>
                </a:solidFill>
                <a:latin typeface="Arial"/>
                <a:cs typeface="Arial"/>
              </a:rPr>
              <a:t>VULNERABLE</a:t>
            </a:r>
            <a:endParaRPr sz="700">
              <a:latin typeface="Arial"/>
              <a:cs typeface="Arial"/>
            </a:endParaRPr>
          </a:p>
        </p:txBody>
      </p:sp>
      <p:sp>
        <p:nvSpPr>
          <p:cNvPr id="201" name="object 201"/>
          <p:cNvSpPr txBox="1"/>
          <p:nvPr/>
        </p:nvSpPr>
        <p:spPr>
          <a:xfrm>
            <a:off x="3074300" y="4398399"/>
            <a:ext cx="144907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667787"/>
                </a:solidFill>
                <a:latin typeface="Arial"/>
                <a:cs typeface="Arial"/>
              </a:rPr>
              <a:t xml:space="preserve">Under 30% wrong — Generally </a:t>
            </a:r>
            <a:r>
              <a:rPr dirty="0" sz="700" spc="-20">
                <a:solidFill>
                  <a:srgbClr val="667787"/>
                </a:solidFill>
                <a:latin typeface="Arial"/>
                <a:cs typeface="Arial"/>
              </a:rPr>
              <a:t>safe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202" name="object 202"/>
          <p:cNvGrpSpPr/>
          <p:nvPr/>
        </p:nvGrpSpPr>
        <p:grpSpPr>
          <a:xfrm>
            <a:off x="5378189" y="4064190"/>
            <a:ext cx="2338705" cy="584200"/>
            <a:chOff x="5378189" y="4064190"/>
            <a:chExt cx="2338705" cy="584200"/>
          </a:xfrm>
        </p:grpSpPr>
        <p:sp>
          <p:nvSpPr>
            <p:cNvPr id="203" name="object 203"/>
            <p:cNvSpPr/>
            <p:nvPr/>
          </p:nvSpPr>
          <p:spPr>
            <a:xfrm>
              <a:off x="5381999" y="4068000"/>
              <a:ext cx="2331085" cy="576580"/>
            </a:xfrm>
            <a:custGeom>
              <a:avLst/>
              <a:gdLst/>
              <a:ahLst/>
              <a:cxnLst/>
              <a:rect l="l" t="t" r="r" b="b"/>
              <a:pathLst>
                <a:path w="2331084" h="576579">
                  <a:moveTo>
                    <a:pt x="2292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899"/>
                  </a:lnTo>
                  <a:lnTo>
                    <a:pt x="2991" y="552738"/>
                  </a:lnTo>
                  <a:lnTo>
                    <a:pt x="11151" y="564847"/>
                  </a:lnTo>
                  <a:lnTo>
                    <a:pt x="23261" y="573008"/>
                  </a:lnTo>
                  <a:lnTo>
                    <a:pt x="38100" y="575999"/>
                  </a:lnTo>
                  <a:lnTo>
                    <a:pt x="2292899" y="575999"/>
                  </a:lnTo>
                  <a:lnTo>
                    <a:pt x="2307738" y="573008"/>
                  </a:lnTo>
                  <a:lnTo>
                    <a:pt x="2319848" y="564847"/>
                  </a:lnTo>
                  <a:lnTo>
                    <a:pt x="2328008" y="552738"/>
                  </a:lnTo>
                  <a:lnTo>
                    <a:pt x="2330999" y="537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close/>
                </a:path>
              </a:pathLst>
            </a:custGeom>
            <a:solidFill>
              <a:srgbClr val="0A0E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5381999" y="4068000"/>
              <a:ext cx="2331085" cy="576580"/>
            </a:xfrm>
            <a:custGeom>
              <a:avLst/>
              <a:gdLst/>
              <a:ahLst/>
              <a:cxnLst/>
              <a:rect l="l" t="t" r="r" b="b"/>
              <a:pathLst>
                <a:path w="2331084" h="576579">
                  <a:moveTo>
                    <a:pt x="38100" y="575999"/>
                  </a:moveTo>
                  <a:lnTo>
                    <a:pt x="2292899" y="575999"/>
                  </a:lnTo>
                  <a:lnTo>
                    <a:pt x="2307738" y="573008"/>
                  </a:lnTo>
                  <a:lnTo>
                    <a:pt x="2319848" y="564847"/>
                  </a:lnTo>
                  <a:lnTo>
                    <a:pt x="2328008" y="552738"/>
                  </a:lnTo>
                  <a:lnTo>
                    <a:pt x="2330999" y="537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899"/>
                  </a:lnTo>
                  <a:lnTo>
                    <a:pt x="2991" y="552738"/>
                  </a:lnTo>
                  <a:lnTo>
                    <a:pt x="11151" y="564847"/>
                  </a:lnTo>
                  <a:lnTo>
                    <a:pt x="23261" y="573008"/>
                  </a:lnTo>
                  <a:lnTo>
                    <a:pt x="38100" y="575999"/>
                  </a:lnTo>
                  <a:close/>
                </a:path>
              </a:pathLst>
            </a:custGeom>
            <a:ln w="7620">
              <a:solidFill>
                <a:srgbClr val="F9721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5" name="object 205"/>
          <p:cNvSpPr txBox="1"/>
          <p:nvPr/>
        </p:nvSpPr>
        <p:spPr>
          <a:xfrm>
            <a:off x="5477300" y="4182399"/>
            <a:ext cx="6972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F97216"/>
                </a:solidFill>
                <a:latin typeface="Arial"/>
                <a:cs typeface="Arial"/>
              </a:rPr>
              <a:t>TOO</a:t>
            </a:r>
            <a:r>
              <a:rPr dirty="0" sz="700" spc="-20" b="1">
                <a:solidFill>
                  <a:srgbClr val="F97216"/>
                </a:solidFill>
                <a:latin typeface="Arial"/>
                <a:cs typeface="Arial"/>
              </a:rPr>
              <a:t xml:space="preserve"> </a:t>
            </a:r>
            <a:r>
              <a:rPr dirty="0" sz="700" spc="-10" b="1">
                <a:solidFill>
                  <a:srgbClr val="F97216"/>
                </a:solidFill>
                <a:latin typeface="Arial"/>
                <a:cs typeface="Arial"/>
              </a:rPr>
              <a:t>TRUSTING</a:t>
            </a:r>
            <a:endParaRPr sz="700">
              <a:latin typeface="Arial"/>
              <a:cs typeface="Arial"/>
            </a:endParaRPr>
          </a:p>
        </p:txBody>
      </p:sp>
      <p:sp>
        <p:nvSpPr>
          <p:cNvPr id="206" name="object 206"/>
          <p:cNvSpPr txBox="1"/>
          <p:nvPr/>
        </p:nvSpPr>
        <p:spPr>
          <a:xfrm>
            <a:off x="5477300" y="4398399"/>
            <a:ext cx="144907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667787"/>
                </a:solidFill>
                <a:latin typeface="Arial"/>
                <a:cs typeface="Arial"/>
              </a:rPr>
              <a:t xml:space="preserve">Under 60% wrong — Needs </a:t>
            </a:r>
            <a:r>
              <a:rPr dirty="0" sz="700" spc="-10">
                <a:solidFill>
                  <a:srgbClr val="667787"/>
                </a:solidFill>
                <a:latin typeface="Arial"/>
                <a:cs typeface="Arial"/>
              </a:rPr>
              <a:t>training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207" name="object 207"/>
          <p:cNvGrpSpPr/>
          <p:nvPr/>
        </p:nvGrpSpPr>
        <p:grpSpPr>
          <a:xfrm>
            <a:off x="7781189" y="4064190"/>
            <a:ext cx="2338705" cy="584200"/>
            <a:chOff x="7781189" y="4064190"/>
            <a:chExt cx="2338705" cy="584200"/>
          </a:xfrm>
        </p:grpSpPr>
        <p:sp>
          <p:nvSpPr>
            <p:cNvPr id="208" name="object 208"/>
            <p:cNvSpPr/>
            <p:nvPr/>
          </p:nvSpPr>
          <p:spPr>
            <a:xfrm>
              <a:off x="7784999" y="4068000"/>
              <a:ext cx="2331085" cy="576580"/>
            </a:xfrm>
            <a:custGeom>
              <a:avLst/>
              <a:gdLst/>
              <a:ahLst/>
              <a:cxnLst/>
              <a:rect l="l" t="t" r="r" b="b"/>
              <a:pathLst>
                <a:path w="2331084" h="576579">
                  <a:moveTo>
                    <a:pt x="2292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899"/>
                  </a:lnTo>
                  <a:lnTo>
                    <a:pt x="2991" y="552738"/>
                  </a:lnTo>
                  <a:lnTo>
                    <a:pt x="11151" y="564847"/>
                  </a:lnTo>
                  <a:lnTo>
                    <a:pt x="23261" y="573008"/>
                  </a:lnTo>
                  <a:lnTo>
                    <a:pt x="38100" y="575999"/>
                  </a:lnTo>
                  <a:lnTo>
                    <a:pt x="2292899" y="575999"/>
                  </a:lnTo>
                  <a:lnTo>
                    <a:pt x="2307738" y="573008"/>
                  </a:lnTo>
                  <a:lnTo>
                    <a:pt x="2319848" y="564847"/>
                  </a:lnTo>
                  <a:lnTo>
                    <a:pt x="2328008" y="552738"/>
                  </a:lnTo>
                  <a:lnTo>
                    <a:pt x="2330999" y="537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close/>
                </a:path>
              </a:pathLst>
            </a:custGeom>
            <a:solidFill>
              <a:srgbClr val="0A0E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7784999" y="4068000"/>
              <a:ext cx="2331085" cy="576580"/>
            </a:xfrm>
            <a:custGeom>
              <a:avLst/>
              <a:gdLst/>
              <a:ahLst/>
              <a:cxnLst/>
              <a:rect l="l" t="t" r="r" b="b"/>
              <a:pathLst>
                <a:path w="2331084" h="576579">
                  <a:moveTo>
                    <a:pt x="38100" y="575999"/>
                  </a:moveTo>
                  <a:lnTo>
                    <a:pt x="2292899" y="575999"/>
                  </a:lnTo>
                  <a:lnTo>
                    <a:pt x="2307738" y="573008"/>
                  </a:lnTo>
                  <a:lnTo>
                    <a:pt x="2319848" y="564847"/>
                  </a:lnTo>
                  <a:lnTo>
                    <a:pt x="2328008" y="552738"/>
                  </a:lnTo>
                  <a:lnTo>
                    <a:pt x="2330999" y="537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37899"/>
                  </a:lnTo>
                  <a:lnTo>
                    <a:pt x="2991" y="552738"/>
                  </a:lnTo>
                  <a:lnTo>
                    <a:pt x="11151" y="564847"/>
                  </a:lnTo>
                  <a:lnTo>
                    <a:pt x="23261" y="573008"/>
                  </a:lnTo>
                  <a:lnTo>
                    <a:pt x="38100" y="575999"/>
                  </a:lnTo>
                  <a:close/>
                </a:path>
              </a:pathLst>
            </a:custGeom>
            <a:ln w="7620">
              <a:solidFill>
                <a:srgbClr val="FF3B3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0" name="object 210"/>
          <p:cNvSpPr txBox="1"/>
          <p:nvPr/>
        </p:nvSpPr>
        <p:spPr>
          <a:xfrm>
            <a:off x="7880300" y="4182399"/>
            <a:ext cx="104330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b="1">
                <a:solidFill>
                  <a:srgbClr val="FF3B3B"/>
                </a:solidFill>
                <a:latin typeface="Arial"/>
                <a:cs typeface="Arial"/>
              </a:rPr>
              <a:t xml:space="preserve">HIGH RISK </a:t>
            </a:r>
            <a:r>
              <a:rPr dirty="0" sz="700" spc="-10" b="1">
                <a:solidFill>
                  <a:srgbClr val="FF3B3B"/>
                </a:solidFill>
                <a:latin typeface="Arial"/>
                <a:cs typeface="Arial"/>
              </a:rPr>
              <a:t>BEHAVIOUR</a:t>
            </a:r>
            <a:endParaRPr sz="700">
              <a:latin typeface="Arial"/>
              <a:cs typeface="Arial"/>
            </a:endParaRPr>
          </a:p>
        </p:txBody>
      </p:sp>
      <p:sp>
        <p:nvSpPr>
          <p:cNvPr id="212" name="object 2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213" name="object 2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  <p:sp>
        <p:nvSpPr>
          <p:cNvPr id="211" name="object 211"/>
          <p:cNvSpPr txBox="1"/>
          <p:nvPr/>
        </p:nvSpPr>
        <p:spPr>
          <a:xfrm>
            <a:off x="7880300" y="4398399"/>
            <a:ext cx="134239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667787"/>
                </a:solidFill>
                <a:latin typeface="Arial"/>
                <a:cs typeface="Arial"/>
              </a:rPr>
              <a:t xml:space="preserve">60%+ wrong — Highly </a:t>
            </a:r>
            <a:r>
              <a:rPr dirty="0" sz="700" spc="-10">
                <a:solidFill>
                  <a:srgbClr val="667787"/>
                </a:solidFill>
                <a:latin typeface="Arial"/>
                <a:cs typeface="Arial"/>
              </a:rPr>
              <a:t>vulnerable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 xml:space="preserve"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 xml:space="preserve"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 xml:space="preserve">07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197459"/>
            <a:ext cx="10692130" cy="362585"/>
            <a:chOff x="0" y="7197459"/>
            <a:chExt cx="10692130" cy="36258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63299" y="690399"/>
            <a:ext cx="3548379" cy="46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05"/>
              </a:lnSpc>
              <a:spcBef>
                <a:spcPts val="100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//</a:t>
            </a:r>
            <a:r>
              <a:rPr dirty="0" sz="700" spc="-3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IMPACT</a:t>
            </a:r>
            <a:r>
              <a:rPr dirty="0" sz="700" spc="-2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&amp;</a:t>
            </a:r>
            <a:r>
              <a:rPr dirty="0" sz="700" spc="-2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SDG</a:t>
            </a:r>
            <a:r>
              <a:rPr dirty="0" sz="700" spc="-2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10">
                <a:solidFill>
                  <a:srgbClr val="336687"/>
                </a:solidFill>
                <a:latin typeface="Courier New"/>
                <a:cs typeface="Courier New"/>
              </a:rPr>
              <a:t>ALIGNMENT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2745"/>
              </a:lnSpc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Who</a:t>
            </a: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Does</a:t>
            </a: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400" spc="-10" b="1">
                <a:solidFill>
                  <a:srgbClr val="00C8FF"/>
                </a:solidFill>
                <a:latin typeface="Arial"/>
                <a:cs typeface="Arial"/>
              </a:rPr>
              <a:t>Protect?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862304" y="1127649"/>
            <a:ext cx="1236345" cy="12700"/>
            <a:chOff x="2862304" y="1127649"/>
            <a:chExt cx="1236345" cy="12700"/>
          </a:xfrm>
        </p:grpSpPr>
        <p:sp>
          <p:nvSpPr>
            <p:cNvPr id="10" name="object 10"/>
            <p:cNvSpPr/>
            <p:nvPr/>
          </p:nvSpPr>
          <p:spPr>
            <a:xfrm>
              <a:off x="286230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877757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89321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90866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924117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93957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95502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970477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98593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00138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016837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03229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04774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06319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07865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09410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10955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12501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14046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15591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17137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18682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20227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21773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233184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24863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26409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27954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29499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31045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332590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34135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35681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37226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338771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403171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41862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43407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44953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346498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348043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349589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351134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352679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54225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55770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57315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58861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60406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3619518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363497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365042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366587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68133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69678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371223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72769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74314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375859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377405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3789505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380495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382041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3835866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385131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386677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3882226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389767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391313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3928586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394403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395949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3974946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399039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4005852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4021306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403675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4052213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4067666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4083119" y="113399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 h="0">
                  <a:moveTo>
                    <a:pt x="0" y="0"/>
                  </a:moveTo>
                  <a:lnTo>
                    <a:pt x="15453" y="0"/>
                  </a:lnTo>
                </a:path>
              </a:pathLst>
            </a:custGeom>
            <a:ln w="1270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/>
          <p:cNvGrpSpPr/>
          <p:nvPr/>
        </p:nvGrpSpPr>
        <p:grpSpPr>
          <a:xfrm>
            <a:off x="575999" y="1252379"/>
            <a:ext cx="2520315" cy="15240"/>
            <a:chOff x="575999" y="1252379"/>
            <a:chExt cx="2520315" cy="15240"/>
          </a:xfrm>
        </p:grpSpPr>
        <p:sp>
          <p:nvSpPr>
            <p:cNvPr id="91" name="object 91"/>
            <p:cNvSpPr/>
            <p:nvPr/>
          </p:nvSpPr>
          <p:spPr>
            <a:xfrm>
              <a:off x="57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07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3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7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701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33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6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796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2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5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890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2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5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85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01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04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079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11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4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17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20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23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26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30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33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36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39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42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45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48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52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55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58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61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64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67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71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74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77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80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83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86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89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93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96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99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02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05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208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211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215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218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221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224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227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230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234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237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240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243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246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249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252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256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259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262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265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268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71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74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278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281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284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287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290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93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297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300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303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306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1" name="object 171"/>
          <p:cNvGrpSpPr/>
          <p:nvPr/>
        </p:nvGrpSpPr>
        <p:grpSpPr>
          <a:xfrm>
            <a:off x="572824" y="1616825"/>
            <a:ext cx="2337435" cy="1086485"/>
            <a:chOff x="572824" y="1616825"/>
            <a:chExt cx="2337435" cy="1086485"/>
          </a:xfrm>
        </p:grpSpPr>
        <p:sp>
          <p:nvSpPr>
            <p:cNvPr id="172" name="object 172"/>
            <p:cNvSpPr/>
            <p:nvPr/>
          </p:nvSpPr>
          <p:spPr>
            <a:xfrm>
              <a:off x="575999" y="1620000"/>
              <a:ext cx="2331085" cy="1080135"/>
            </a:xfrm>
            <a:custGeom>
              <a:avLst/>
              <a:gdLst/>
              <a:ahLst/>
              <a:cxnLst/>
              <a:rect l="l" t="t" r="r" b="b"/>
              <a:pathLst>
                <a:path w="2331085" h="1080135">
                  <a:moveTo>
                    <a:pt x="2292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041899"/>
                  </a:lnTo>
                  <a:lnTo>
                    <a:pt x="2991" y="1056737"/>
                  </a:lnTo>
                  <a:lnTo>
                    <a:pt x="11151" y="1068847"/>
                  </a:lnTo>
                  <a:lnTo>
                    <a:pt x="23261" y="1077007"/>
                  </a:lnTo>
                  <a:lnTo>
                    <a:pt x="38100" y="1079999"/>
                  </a:lnTo>
                  <a:lnTo>
                    <a:pt x="2292899" y="1079999"/>
                  </a:lnTo>
                  <a:lnTo>
                    <a:pt x="2307738" y="1077007"/>
                  </a:lnTo>
                  <a:lnTo>
                    <a:pt x="2319847" y="1068847"/>
                  </a:lnTo>
                  <a:lnTo>
                    <a:pt x="2328008" y="1056737"/>
                  </a:lnTo>
                  <a:lnTo>
                    <a:pt x="2330999" y="1041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7" y="11151"/>
                  </a:lnTo>
                  <a:lnTo>
                    <a:pt x="2307738" y="2991"/>
                  </a:lnTo>
                  <a:lnTo>
                    <a:pt x="2292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575999" y="1620000"/>
              <a:ext cx="2331085" cy="1080135"/>
            </a:xfrm>
            <a:custGeom>
              <a:avLst/>
              <a:gdLst/>
              <a:ahLst/>
              <a:cxnLst/>
              <a:rect l="l" t="t" r="r" b="b"/>
              <a:pathLst>
                <a:path w="2331085" h="1080135">
                  <a:moveTo>
                    <a:pt x="38100" y="1079999"/>
                  </a:moveTo>
                  <a:lnTo>
                    <a:pt x="2292899" y="1079999"/>
                  </a:lnTo>
                  <a:lnTo>
                    <a:pt x="2307738" y="1077007"/>
                  </a:lnTo>
                  <a:lnTo>
                    <a:pt x="2319847" y="1068847"/>
                  </a:lnTo>
                  <a:lnTo>
                    <a:pt x="2328008" y="1056737"/>
                  </a:lnTo>
                  <a:lnTo>
                    <a:pt x="2330999" y="1041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7" y="11151"/>
                  </a:lnTo>
                  <a:lnTo>
                    <a:pt x="2307738" y="2991"/>
                  </a:lnTo>
                  <a:lnTo>
                    <a:pt x="2292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041899"/>
                  </a:lnTo>
                  <a:lnTo>
                    <a:pt x="2991" y="1056737"/>
                  </a:lnTo>
                  <a:lnTo>
                    <a:pt x="11151" y="1068847"/>
                  </a:lnTo>
                  <a:lnTo>
                    <a:pt x="23261" y="1077007"/>
                  </a:lnTo>
                  <a:lnTo>
                    <a:pt x="38100" y="1079999"/>
                  </a:lnTo>
                  <a:close/>
                </a:path>
              </a:pathLst>
            </a:custGeom>
            <a:ln w="63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575999" y="1619999"/>
              <a:ext cx="31750" cy="1080135"/>
            </a:xfrm>
            <a:custGeom>
              <a:avLst/>
              <a:gdLst/>
              <a:ahLst/>
              <a:cxnLst/>
              <a:rect l="l" t="t" r="r" b="b"/>
              <a:pathLst>
                <a:path w="31750" h="1080135">
                  <a:moveTo>
                    <a:pt x="31750" y="0"/>
                  </a:moveTo>
                  <a:lnTo>
                    <a:pt x="0" y="0"/>
                  </a:lnTo>
                  <a:lnTo>
                    <a:pt x="0" y="1079999"/>
                  </a:lnTo>
                  <a:lnTo>
                    <a:pt x="31750" y="107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5" name="object 175"/>
          <p:cNvSpPr txBox="1"/>
          <p:nvPr/>
        </p:nvSpPr>
        <p:spPr>
          <a:xfrm>
            <a:off x="612512" y="1787349"/>
            <a:ext cx="2271395" cy="566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100"/>
              </a:spcBef>
            </a:pPr>
            <a:r>
              <a:rPr dirty="0" sz="850" spc="-10" b="1">
                <a:solidFill>
                  <a:srgbClr val="00C8FF"/>
                </a:solidFill>
                <a:latin typeface="Arial"/>
                <a:cs typeface="Arial"/>
              </a:rPr>
              <a:t>COMPANIES</a:t>
            </a:r>
            <a:endParaRPr sz="850">
              <a:latin typeface="Arial"/>
              <a:cs typeface="Arial"/>
            </a:endParaRPr>
          </a:p>
          <a:p>
            <a:pPr marL="107314" marR="318770">
              <a:lnSpc>
                <a:spcPct val="141700"/>
              </a:lnSpc>
              <a:spcBef>
                <a:spcPts val="685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Staff</a:t>
            </a:r>
            <a:r>
              <a:rPr dirty="0" sz="75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cybersecurity awareness and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 xml:space="preserve">phishing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resistance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training.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76" name="object 176"/>
          <p:cNvGrpSpPr/>
          <p:nvPr/>
        </p:nvGrpSpPr>
        <p:grpSpPr>
          <a:xfrm>
            <a:off x="2975824" y="1616825"/>
            <a:ext cx="2337435" cy="1086485"/>
            <a:chOff x="2975824" y="1616825"/>
            <a:chExt cx="2337435" cy="1086485"/>
          </a:xfrm>
        </p:grpSpPr>
        <p:sp>
          <p:nvSpPr>
            <p:cNvPr id="177" name="object 177"/>
            <p:cNvSpPr/>
            <p:nvPr/>
          </p:nvSpPr>
          <p:spPr>
            <a:xfrm>
              <a:off x="2978999" y="1620000"/>
              <a:ext cx="2331085" cy="1080135"/>
            </a:xfrm>
            <a:custGeom>
              <a:avLst/>
              <a:gdLst/>
              <a:ahLst/>
              <a:cxnLst/>
              <a:rect l="l" t="t" r="r" b="b"/>
              <a:pathLst>
                <a:path w="2331085" h="1080135">
                  <a:moveTo>
                    <a:pt x="2292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041899"/>
                  </a:lnTo>
                  <a:lnTo>
                    <a:pt x="2991" y="1056737"/>
                  </a:lnTo>
                  <a:lnTo>
                    <a:pt x="11151" y="1068847"/>
                  </a:lnTo>
                  <a:lnTo>
                    <a:pt x="23261" y="1077007"/>
                  </a:lnTo>
                  <a:lnTo>
                    <a:pt x="38100" y="1079999"/>
                  </a:lnTo>
                  <a:lnTo>
                    <a:pt x="2292899" y="1079999"/>
                  </a:lnTo>
                  <a:lnTo>
                    <a:pt x="2307738" y="1077007"/>
                  </a:lnTo>
                  <a:lnTo>
                    <a:pt x="2319848" y="1068847"/>
                  </a:lnTo>
                  <a:lnTo>
                    <a:pt x="2328008" y="1056737"/>
                  </a:lnTo>
                  <a:lnTo>
                    <a:pt x="2330999" y="1041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2978999" y="1620000"/>
              <a:ext cx="2331085" cy="1080135"/>
            </a:xfrm>
            <a:custGeom>
              <a:avLst/>
              <a:gdLst/>
              <a:ahLst/>
              <a:cxnLst/>
              <a:rect l="l" t="t" r="r" b="b"/>
              <a:pathLst>
                <a:path w="2331085" h="1080135">
                  <a:moveTo>
                    <a:pt x="38100" y="1079999"/>
                  </a:moveTo>
                  <a:lnTo>
                    <a:pt x="2292899" y="1079999"/>
                  </a:lnTo>
                  <a:lnTo>
                    <a:pt x="2307738" y="1077007"/>
                  </a:lnTo>
                  <a:lnTo>
                    <a:pt x="2319848" y="1068847"/>
                  </a:lnTo>
                  <a:lnTo>
                    <a:pt x="2328008" y="1056737"/>
                  </a:lnTo>
                  <a:lnTo>
                    <a:pt x="2330999" y="1041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041899"/>
                  </a:lnTo>
                  <a:lnTo>
                    <a:pt x="2991" y="1056737"/>
                  </a:lnTo>
                  <a:lnTo>
                    <a:pt x="11151" y="1068847"/>
                  </a:lnTo>
                  <a:lnTo>
                    <a:pt x="23261" y="1077007"/>
                  </a:lnTo>
                  <a:lnTo>
                    <a:pt x="38100" y="1079999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2978999" y="1619999"/>
              <a:ext cx="31750" cy="1080135"/>
            </a:xfrm>
            <a:custGeom>
              <a:avLst/>
              <a:gdLst/>
              <a:ahLst/>
              <a:cxnLst/>
              <a:rect l="l" t="t" r="r" b="b"/>
              <a:pathLst>
                <a:path w="31750" h="1080135">
                  <a:moveTo>
                    <a:pt x="31750" y="0"/>
                  </a:moveTo>
                  <a:lnTo>
                    <a:pt x="0" y="0"/>
                  </a:lnTo>
                  <a:lnTo>
                    <a:pt x="0" y="1079999"/>
                  </a:lnTo>
                  <a:lnTo>
                    <a:pt x="31750" y="107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0" name="object 180"/>
          <p:cNvSpPr txBox="1"/>
          <p:nvPr/>
        </p:nvSpPr>
        <p:spPr>
          <a:xfrm>
            <a:off x="3015512" y="1787349"/>
            <a:ext cx="2271395" cy="404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100"/>
              </a:spcBef>
            </a:pPr>
            <a:r>
              <a:rPr dirty="0" sz="850" spc="-10" b="1">
                <a:solidFill>
                  <a:srgbClr val="A854F6"/>
                </a:solidFill>
                <a:latin typeface="Arial"/>
                <a:cs typeface="Arial"/>
              </a:rPr>
              <a:t>SCHOOLS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850">
              <a:latin typeface="Arial"/>
              <a:cs typeface="Arial"/>
            </a:endParaRPr>
          </a:p>
          <a:p>
            <a:pPr marL="107314">
              <a:lnSpc>
                <a:spcPct val="100000"/>
              </a:lnSpc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Digital safety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education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integrated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into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curricula.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1" name="object 181"/>
          <p:cNvGrpSpPr/>
          <p:nvPr/>
        </p:nvGrpSpPr>
        <p:grpSpPr>
          <a:xfrm>
            <a:off x="5378824" y="1616825"/>
            <a:ext cx="2337435" cy="1086485"/>
            <a:chOff x="5378824" y="1616825"/>
            <a:chExt cx="2337435" cy="1086485"/>
          </a:xfrm>
        </p:grpSpPr>
        <p:sp>
          <p:nvSpPr>
            <p:cNvPr id="182" name="object 182"/>
            <p:cNvSpPr/>
            <p:nvPr/>
          </p:nvSpPr>
          <p:spPr>
            <a:xfrm>
              <a:off x="5381999" y="1620000"/>
              <a:ext cx="2331085" cy="1080135"/>
            </a:xfrm>
            <a:custGeom>
              <a:avLst/>
              <a:gdLst/>
              <a:ahLst/>
              <a:cxnLst/>
              <a:rect l="l" t="t" r="r" b="b"/>
              <a:pathLst>
                <a:path w="2331084" h="1080135">
                  <a:moveTo>
                    <a:pt x="2292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041899"/>
                  </a:lnTo>
                  <a:lnTo>
                    <a:pt x="2991" y="1056737"/>
                  </a:lnTo>
                  <a:lnTo>
                    <a:pt x="11151" y="1068847"/>
                  </a:lnTo>
                  <a:lnTo>
                    <a:pt x="23261" y="1077007"/>
                  </a:lnTo>
                  <a:lnTo>
                    <a:pt x="38100" y="1079999"/>
                  </a:lnTo>
                  <a:lnTo>
                    <a:pt x="2292899" y="1079999"/>
                  </a:lnTo>
                  <a:lnTo>
                    <a:pt x="2307738" y="1077007"/>
                  </a:lnTo>
                  <a:lnTo>
                    <a:pt x="2319848" y="1068847"/>
                  </a:lnTo>
                  <a:lnTo>
                    <a:pt x="2328008" y="1056737"/>
                  </a:lnTo>
                  <a:lnTo>
                    <a:pt x="2330999" y="1041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5381999" y="1620000"/>
              <a:ext cx="2331085" cy="1080135"/>
            </a:xfrm>
            <a:custGeom>
              <a:avLst/>
              <a:gdLst/>
              <a:ahLst/>
              <a:cxnLst/>
              <a:rect l="l" t="t" r="r" b="b"/>
              <a:pathLst>
                <a:path w="2331084" h="1080135">
                  <a:moveTo>
                    <a:pt x="38100" y="1079999"/>
                  </a:moveTo>
                  <a:lnTo>
                    <a:pt x="2292899" y="1079999"/>
                  </a:lnTo>
                  <a:lnTo>
                    <a:pt x="2307738" y="1077007"/>
                  </a:lnTo>
                  <a:lnTo>
                    <a:pt x="2319848" y="1068847"/>
                  </a:lnTo>
                  <a:lnTo>
                    <a:pt x="2328008" y="1056737"/>
                  </a:lnTo>
                  <a:lnTo>
                    <a:pt x="2330999" y="1041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041899"/>
                  </a:lnTo>
                  <a:lnTo>
                    <a:pt x="2991" y="1056737"/>
                  </a:lnTo>
                  <a:lnTo>
                    <a:pt x="11151" y="1068847"/>
                  </a:lnTo>
                  <a:lnTo>
                    <a:pt x="23261" y="1077007"/>
                  </a:lnTo>
                  <a:lnTo>
                    <a:pt x="38100" y="1079999"/>
                  </a:lnTo>
                  <a:close/>
                </a:path>
              </a:pathLst>
            </a:custGeom>
            <a:ln w="6350">
              <a:solidFill>
                <a:srgbClr val="05B5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5381999" y="1619999"/>
              <a:ext cx="31750" cy="1080135"/>
            </a:xfrm>
            <a:custGeom>
              <a:avLst/>
              <a:gdLst/>
              <a:ahLst/>
              <a:cxnLst/>
              <a:rect l="l" t="t" r="r" b="b"/>
              <a:pathLst>
                <a:path w="31750" h="1080135">
                  <a:moveTo>
                    <a:pt x="31750" y="0"/>
                  </a:moveTo>
                  <a:lnTo>
                    <a:pt x="0" y="0"/>
                  </a:lnTo>
                  <a:lnTo>
                    <a:pt x="0" y="1079999"/>
                  </a:lnTo>
                  <a:lnTo>
                    <a:pt x="31750" y="107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5B5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5" name="object 185"/>
          <p:cNvSpPr txBox="1"/>
          <p:nvPr/>
        </p:nvSpPr>
        <p:spPr>
          <a:xfrm>
            <a:off x="5418512" y="1787349"/>
            <a:ext cx="2271395" cy="566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100"/>
              </a:spcBef>
            </a:pPr>
            <a:r>
              <a:rPr dirty="0" sz="850" spc="-10" b="1">
                <a:solidFill>
                  <a:srgbClr val="05B5D4"/>
                </a:solidFill>
                <a:latin typeface="Arial"/>
                <a:cs typeface="Arial"/>
              </a:rPr>
              <a:t>FAMILIES</a:t>
            </a:r>
            <a:endParaRPr sz="850">
              <a:latin typeface="Arial"/>
              <a:cs typeface="Arial"/>
            </a:endParaRPr>
          </a:p>
          <a:p>
            <a:pPr marL="107314" marR="498475">
              <a:lnSpc>
                <a:spcPct val="141700"/>
              </a:lnSpc>
              <a:spcBef>
                <a:spcPts val="685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Child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online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protection</a:t>
            </a:r>
            <a:r>
              <a:rPr dirty="0" sz="750" spc="1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&amp;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parental</a:t>
            </a:r>
            <a:r>
              <a:rPr dirty="0" sz="750" spc="1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 spc="-20">
                <a:solidFill>
                  <a:srgbClr val="667787"/>
                </a:solidFill>
                <a:latin typeface="Arial"/>
                <a:cs typeface="Arial"/>
              </a:rPr>
              <a:t>scam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 xml:space="preserve"> guidance.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6" name="object 186"/>
          <p:cNvGrpSpPr/>
          <p:nvPr/>
        </p:nvGrpSpPr>
        <p:grpSpPr>
          <a:xfrm>
            <a:off x="7781825" y="1616825"/>
            <a:ext cx="2337435" cy="1086485"/>
            <a:chOff x="7781825" y="1616825"/>
            <a:chExt cx="2337435" cy="1086485"/>
          </a:xfrm>
        </p:grpSpPr>
        <p:sp>
          <p:nvSpPr>
            <p:cNvPr id="187" name="object 187"/>
            <p:cNvSpPr/>
            <p:nvPr/>
          </p:nvSpPr>
          <p:spPr>
            <a:xfrm>
              <a:off x="7785000" y="1620000"/>
              <a:ext cx="2331085" cy="1080135"/>
            </a:xfrm>
            <a:custGeom>
              <a:avLst/>
              <a:gdLst/>
              <a:ahLst/>
              <a:cxnLst/>
              <a:rect l="l" t="t" r="r" b="b"/>
              <a:pathLst>
                <a:path w="2331084" h="1080135">
                  <a:moveTo>
                    <a:pt x="2292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041899"/>
                  </a:lnTo>
                  <a:lnTo>
                    <a:pt x="2991" y="1056737"/>
                  </a:lnTo>
                  <a:lnTo>
                    <a:pt x="11151" y="1068847"/>
                  </a:lnTo>
                  <a:lnTo>
                    <a:pt x="23261" y="1077007"/>
                  </a:lnTo>
                  <a:lnTo>
                    <a:pt x="38100" y="1079999"/>
                  </a:lnTo>
                  <a:lnTo>
                    <a:pt x="2292899" y="1079999"/>
                  </a:lnTo>
                  <a:lnTo>
                    <a:pt x="2307738" y="1077007"/>
                  </a:lnTo>
                  <a:lnTo>
                    <a:pt x="2319848" y="1068847"/>
                  </a:lnTo>
                  <a:lnTo>
                    <a:pt x="2328008" y="1056737"/>
                  </a:lnTo>
                  <a:lnTo>
                    <a:pt x="2330999" y="1041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7785000" y="1620000"/>
              <a:ext cx="2331085" cy="1080135"/>
            </a:xfrm>
            <a:custGeom>
              <a:avLst/>
              <a:gdLst/>
              <a:ahLst/>
              <a:cxnLst/>
              <a:rect l="l" t="t" r="r" b="b"/>
              <a:pathLst>
                <a:path w="2331084" h="1080135">
                  <a:moveTo>
                    <a:pt x="38100" y="1079999"/>
                  </a:moveTo>
                  <a:lnTo>
                    <a:pt x="2292899" y="1079999"/>
                  </a:lnTo>
                  <a:lnTo>
                    <a:pt x="2307738" y="1077007"/>
                  </a:lnTo>
                  <a:lnTo>
                    <a:pt x="2319848" y="1068847"/>
                  </a:lnTo>
                  <a:lnTo>
                    <a:pt x="2328008" y="1056737"/>
                  </a:lnTo>
                  <a:lnTo>
                    <a:pt x="2330999" y="1041899"/>
                  </a:lnTo>
                  <a:lnTo>
                    <a:pt x="2330999" y="38100"/>
                  </a:lnTo>
                  <a:lnTo>
                    <a:pt x="2328008" y="23261"/>
                  </a:lnTo>
                  <a:lnTo>
                    <a:pt x="2319848" y="11151"/>
                  </a:lnTo>
                  <a:lnTo>
                    <a:pt x="2307738" y="2991"/>
                  </a:lnTo>
                  <a:lnTo>
                    <a:pt x="2292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1041899"/>
                  </a:lnTo>
                  <a:lnTo>
                    <a:pt x="2991" y="1056737"/>
                  </a:lnTo>
                  <a:lnTo>
                    <a:pt x="11151" y="1068847"/>
                  </a:lnTo>
                  <a:lnTo>
                    <a:pt x="23261" y="1077007"/>
                  </a:lnTo>
                  <a:lnTo>
                    <a:pt x="38100" y="1079999"/>
                  </a:lnTo>
                  <a:close/>
                </a:path>
              </a:pathLst>
            </a:custGeom>
            <a:ln w="6350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7785000" y="1619999"/>
              <a:ext cx="31750" cy="1080135"/>
            </a:xfrm>
            <a:custGeom>
              <a:avLst/>
              <a:gdLst/>
              <a:ahLst/>
              <a:cxnLst/>
              <a:rect l="l" t="t" r="r" b="b"/>
              <a:pathLst>
                <a:path w="31750" h="1080135">
                  <a:moveTo>
                    <a:pt x="31750" y="0"/>
                  </a:moveTo>
                  <a:lnTo>
                    <a:pt x="0" y="0"/>
                  </a:lnTo>
                  <a:lnTo>
                    <a:pt x="0" y="1079999"/>
                  </a:lnTo>
                  <a:lnTo>
                    <a:pt x="31750" y="107999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0" name="object 190"/>
          <p:cNvSpPr txBox="1"/>
          <p:nvPr/>
        </p:nvSpPr>
        <p:spPr>
          <a:xfrm>
            <a:off x="7821512" y="1787349"/>
            <a:ext cx="2271395" cy="566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100"/>
              </a:spcBef>
            </a:pPr>
            <a:r>
              <a:rPr dirty="0" sz="850" spc="-10" b="1">
                <a:solidFill>
                  <a:srgbClr val="21C45D"/>
                </a:solidFill>
                <a:latin typeface="Arial"/>
                <a:cs typeface="Arial"/>
              </a:rPr>
              <a:t>ELDERLY</a:t>
            </a:r>
            <a:endParaRPr sz="850">
              <a:latin typeface="Arial"/>
              <a:cs typeface="Arial"/>
            </a:endParaRPr>
          </a:p>
          <a:p>
            <a:pPr marL="107314" marR="429895">
              <a:lnSpc>
                <a:spcPct val="141700"/>
              </a:lnSpc>
              <a:spcBef>
                <a:spcPts val="685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Accessible scam awareness for the </a:t>
            </a:r>
            <a:r>
              <a:rPr dirty="0" sz="750" spc="-20">
                <a:solidFill>
                  <a:srgbClr val="667787"/>
                </a:solidFill>
                <a:latin typeface="Arial"/>
                <a:cs typeface="Arial"/>
              </a:rPr>
              <a:t>most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 xml:space="preserve"> vulnerable.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91" name="object 191"/>
          <p:cNvGrpSpPr/>
          <p:nvPr/>
        </p:nvGrpSpPr>
        <p:grpSpPr>
          <a:xfrm>
            <a:off x="571554" y="2983554"/>
            <a:ext cx="3141345" cy="1017269"/>
            <a:chOff x="571554" y="2983554"/>
            <a:chExt cx="3141345" cy="1017269"/>
          </a:xfrm>
        </p:grpSpPr>
        <p:sp>
          <p:nvSpPr>
            <p:cNvPr id="192" name="object 192"/>
            <p:cNvSpPr/>
            <p:nvPr/>
          </p:nvSpPr>
          <p:spPr>
            <a:xfrm>
              <a:off x="575999" y="2987999"/>
              <a:ext cx="3132455" cy="1008380"/>
            </a:xfrm>
            <a:custGeom>
              <a:avLst/>
              <a:gdLst/>
              <a:ahLst/>
              <a:cxnLst/>
              <a:rect l="l" t="t" r="r" b="b"/>
              <a:pathLst>
                <a:path w="3132454" h="1008379">
                  <a:moveTo>
                    <a:pt x="3093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lnTo>
                    <a:pt x="3093899" y="1008000"/>
                  </a:lnTo>
                  <a:lnTo>
                    <a:pt x="3108738" y="1005008"/>
                  </a:lnTo>
                  <a:lnTo>
                    <a:pt x="3120848" y="996848"/>
                  </a:lnTo>
                  <a:lnTo>
                    <a:pt x="3129008" y="984738"/>
                  </a:lnTo>
                  <a:lnTo>
                    <a:pt x="3131999" y="969900"/>
                  </a:lnTo>
                  <a:lnTo>
                    <a:pt x="3131999" y="38100"/>
                  </a:lnTo>
                  <a:lnTo>
                    <a:pt x="3129008" y="23261"/>
                  </a:lnTo>
                  <a:lnTo>
                    <a:pt x="3120848" y="11151"/>
                  </a:lnTo>
                  <a:lnTo>
                    <a:pt x="3108738" y="2991"/>
                  </a:lnTo>
                  <a:lnTo>
                    <a:pt x="3093899" y="0"/>
                  </a:lnTo>
                  <a:close/>
                </a:path>
              </a:pathLst>
            </a:custGeom>
            <a:solidFill>
              <a:srgbClr val="050C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575999" y="2987999"/>
              <a:ext cx="3132455" cy="1008380"/>
            </a:xfrm>
            <a:custGeom>
              <a:avLst/>
              <a:gdLst/>
              <a:ahLst/>
              <a:cxnLst/>
              <a:rect l="l" t="t" r="r" b="b"/>
              <a:pathLst>
                <a:path w="3132454" h="1008379">
                  <a:moveTo>
                    <a:pt x="38100" y="1008000"/>
                  </a:moveTo>
                  <a:lnTo>
                    <a:pt x="3093899" y="1008000"/>
                  </a:lnTo>
                  <a:lnTo>
                    <a:pt x="3108738" y="1005008"/>
                  </a:lnTo>
                  <a:lnTo>
                    <a:pt x="3120848" y="996848"/>
                  </a:lnTo>
                  <a:lnTo>
                    <a:pt x="3129008" y="984738"/>
                  </a:lnTo>
                  <a:lnTo>
                    <a:pt x="3131999" y="969900"/>
                  </a:lnTo>
                  <a:lnTo>
                    <a:pt x="3131999" y="38100"/>
                  </a:lnTo>
                  <a:lnTo>
                    <a:pt x="3129008" y="23261"/>
                  </a:lnTo>
                  <a:lnTo>
                    <a:pt x="3120848" y="11151"/>
                  </a:lnTo>
                  <a:lnTo>
                    <a:pt x="3108738" y="2991"/>
                  </a:lnTo>
                  <a:lnTo>
                    <a:pt x="3093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close/>
                </a:path>
              </a:pathLst>
            </a:custGeom>
            <a:ln w="889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4" name="object 194"/>
          <p:cNvSpPr txBox="1"/>
          <p:nvPr/>
        </p:nvSpPr>
        <p:spPr>
          <a:xfrm>
            <a:off x="707299" y="3193499"/>
            <a:ext cx="1103630" cy="475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0C8FF"/>
                </a:solidFill>
                <a:latin typeface="Arial"/>
                <a:cs typeface="Arial"/>
              </a:rPr>
              <a:t>SDG</a:t>
            </a:r>
            <a:r>
              <a:rPr dirty="0" sz="1400" spc="-35" b="1">
                <a:solidFill>
                  <a:srgbClr val="00C8FF"/>
                </a:solidFill>
                <a:latin typeface="Arial"/>
                <a:cs typeface="Arial"/>
              </a:rPr>
              <a:t xml:space="preserve"> </a:t>
            </a:r>
            <a:r>
              <a:rPr dirty="0" sz="1400" spc="-50" b="1">
                <a:solidFill>
                  <a:srgbClr val="00C8FF"/>
                </a:solidFill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800" b="1">
                <a:solidFill>
                  <a:srgbClr val="00C8FF"/>
                </a:solidFill>
                <a:latin typeface="Arial"/>
                <a:cs typeface="Arial"/>
              </a:rPr>
              <a:t>QUALITY</a:t>
            </a:r>
            <a:r>
              <a:rPr dirty="0" sz="800" spc="-40" b="1">
                <a:solidFill>
                  <a:srgbClr val="00C8FF"/>
                </a:solidFill>
                <a:latin typeface="Arial"/>
                <a:cs typeface="Arial"/>
              </a:rPr>
              <a:t xml:space="preserve"> </a:t>
            </a:r>
            <a:r>
              <a:rPr dirty="0" sz="800" spc="-10" b="1">
                <a:solidFill>
                  <a:srgbClr val="00C8FF"/>
                </a:solidFill>
                <a:latin typeface="Arial"/>
                <a:cs typeface="Arial"/>
              </a:rPr>
              <a:t>EDUCATION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195" name="object 195"/>
          <p:cNvSpPr txBox="1"/>
          <p:nvPr/>
        </p:nvSpPr>
        <p:spPr>
          <a:xfrm>
            <a:off x="707299" y="3744049"/>
            <a:ext cx="223329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Digital literacy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through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interactive,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gamified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learning.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96" name="object 196"/>
          <p:cNvGrpSpPr/>
          <p:nvPr/>
        </p:nvGrpSpPr>
        <p:grpSpPr>
          <a:xfrm>
            <a:off x="3775555" y="2983554"/>
            <a:ext cx="3141345" cy="1017269"/>
            <a:chOff x="3775555" y="2983554"/>
            <a:chExt cx="3141345" cy="1017269"/>
          </a:xfrm>
        </p:grpSpPr>
        <p:sp>
          <p:nvSpPr>
            <p:cNvPr id="197" name="object 197"/>
            <p:cNvSpPr/>
            <p:nvPr/>
          </p:nvSpPr>
          <p:spPr>
            <a:xfrm>
              <a:off x="3780000" y="2987999"/>
              <a:ext cx="3132455" cy="1008380"/>
            </a:xfrm>
            <a:custGeom>
              <a:avLst/>
              <a:gdLst/>
              <a:ahLst/>
              <a:cxnLst/>
              <a:rect l="l" t="t" r="r" b="b"/>
              <a:pathLst>
                <a:path w="3132454" h="1008379">
                  <a:moveTo>
                    <a:pt x="3093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lnTo>
                    <a:pt x="3093900" y="1008000"/>
                  </a:lnTo>
                  <a:lnTo>
                    <a:pt x="3108738" y="1005008"/>
                  </a:lnTo>
                  <a:lnTo>
                    <a:pt x="3120848" y="996848"/>
                  </a:lnTo>
                  <a:lnTo>
                    <a:pt x="3129009" y="984738"/>
                  </a:lnTo>
                  <a:lnTo>
                    <a:pt x="3132000" y="969900"/>
                  </a:lnTo>
                  <a:lnTo>
                    <a:pt x="3132000" y="38100"/>
                  </a:lnTo>
                  <a:lnTo>
                    <a:pt x="3129009" y="23261"/>
                  </a:lnTo>
                  <a:lnTo>
                    <a:pt x="3120848" y="11151"/>
                  </a:lnTo>
                  <a:lnTo>
                    <a:pt x="3108738" y="2991"/>
                  </a:lnTo>
                  <a:lnTo>
                    <a:pt x="3093900" y="0"/>
                  </a:lnTo>
                  <a:close/>
                </a:path>
              </a:pathLst>
            </a:custGeom>
            <a:solidFill>
              <a:srgbClr val="050C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3780000" y="2987999"/>
              <a:ext cx="3132455" cy="1008380"/>
            </a:xfrm>
            <a:custGeom>
              <a:avLst/>
              <a:gdLst/>
              <a:ahLst/>
              <a:cxnLst/>
              <a:rect l="l" t="t" r="r" b="b"/>
              <a:pathLst>
                <a:path w="3132454" h="1008379">
                  <a:moveTo>
                    <a:pt x="38100" y="1008000"/>
                  </a:moveTo>
                  <a:lnTo>
                    <a:pt x="3093900" y="1008000"/>
                  </a:lnTo>
                  <a:lnTo>
                    <a:pt x="3108738" y="1005008"/>
                  </a:lnTo>
                  <a:lnTo>
                    <a:pt x="3120848" y="996848"/>
                  </a:lnTo>
                  <a:lnTo>
                    <a:pt x="3129009" y="984738"/>
                  </a:lnTo>
                  <a:lnTo>
                    <a:pt x="3132000" y="969900"/>
                  </a:lnTo>
                  <a:lnTo>
                    <a:pt x="3132000" y="38100"/>
                  </a:lnTo>
                  <a:lnTo>
                    <a:pt x="3129009" y="23261"/>
                  </a:lnTo>
                  <a:lnTo>
                    <a:pt x="3120848" y="11151"/>
                  </a:lnTo>
                  <a:lnTo>
                    <a:pt x="3108738" y="2991"/>
                  </a:lnTo>
                  <a:lnTo>
                    <a:pt x="3093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close/>
                </a:path>
              </a:pathLst>
            </a:custGeom>
            <a:ln w="889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9" name="object 199"/>
          <p:cNvSpPr txBox="1"/>
          <p:nvPr/>
        </p:nvSpPr>
        <p:spPr>
          <a:xfrm>
            <a:off x="3911300" y="3193499"/>
            <a:ext cx="663575" cy="475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A854F6"/>
                </a:solidFill>
                <a:latin typeface="Arial"/>
                <a:cs typeface="Arial"/>
              </a:rPr>
              <a:t>SDG</a:t>
            </a:r>
            <a:r>
              <a:rPr dirty="0" sz="1400" spc="-35" b="1">
                <a:solidFill>
                  <a:srgbClr val="A854F6"/>
                </a:solidFill>
                <a:latin typeface="Arial"/>
                <a:cs typeface="Arial"/>
              </a:rPr>
              <a:t xml:space="preserve"> </a:t>
            </a:r>
            <a:r>
              <a:rPr dirty="0" sz="1400" spc="-50" b="1">
                <a:solidFill>
                  <a:srgbClr val="A854F6"/>
                </a:solidFill>
                <a:latin typeface="Arial"/>
                <a:cs typeface="Arial"/>
              </a:rPr>
              <a:t>9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800" spc="-10" b="1">
                <a:solidFill>
                  <a:srgbClr val="A854F6"/>
                </a:solidFill>
                <a:latin typeface="Arial"/>
                <a:cs typeface="Arial"/>
              </a:rPr>
              <a:t>INNOVATION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3911300" y="3744049"/>
            <a:ext cx="182054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AI-driven cybersecurity training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innovation.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201" name="object 201"/>
          <p:cNvGrpSpPr/>
          <p:nvPr/>
        </p:nvGrpSpPr>
        <p:grpSpPr>
          <a:xfrm>
            <a:off x="6979555" y="2983554"/>
            <a:ext cx="3141345" cy="1017269"/>
            <a:chOff x="6979555" y="2983554"/>
            <a:chExt cx="3141345" cy="1017269"/>
          </a:xfrm>
        </p:grpSpPr>
        <p:sp>
          <p:nvSpPr>
            <p:cNvPr id="202" name="object 202"/>
            <p:cNvSpPr/>
            <p:nvPr/>
          </p:nvSpPr>
          <p:spPr>
            <a:xfrm>
              <a:off x="6984000" y="2987999"/>
              <a:ext cx="3132455" cy="1008380"/>
            </a:xfrm>
            <a:custGeom>
              <a:avLst/>
              <a:gdLst/>
              <a:ahLst/>
              <a:cxnLst/>
              <a:rect l="l" t="t" r="r" b="b"/>
              <a:pathLst>
                <a:path w="3132454" h="1008379">
                  <a:moveTo>
                    <a:pt x="3093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lnTo>
                    <a:pt x="3093899" y="1008000"/>
                  </a:lnTo>
                  <a:lnTo>
                    <a:pt x="3108737" y="1005008"/>
                  </a:lnTo>
                  <a:lnTo>
                    <a:pt x="3120847" y="996848"/>
                  </a:lnTo>
                  <a:lnTo>
                    <a:pt x="3129007" y="984738"/>
                  </a:lnTo>
                  <a:lnTo>
                    <a:pt x="3131999" y="969900"/>
                  </a:lnTo>
                  <a:lnTo>
                    <a:pt x="3131999" y="38100"/>
                  </a:lnTo>
                  <a:lnTo>
                    <a:pt x="3129007" y="23261"/>
                  </a:lnTo>
                  <a:lnTo>
                    <a:pt x="3120847" y="11151"/>
                  </a:lnTo>
                  <a:lnTo>
                    <a:pt x="3108737" y="2991"/>
                  </a:lnTo>
                  <a:lnTo>
                    <a:pt x="3093899" y="0"/>
                  </a:lnTo>
                  <a:close/>
                </a:path>
              </a:pathLst>
            </a:custGeom>
            <a:solidFill>
              <a:srgbClr val="050C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6984000" y="2987999"/>
              <a:ext cx="3132455" cy="1008380"/>
            </a:xfrm>
            <a:custGeom>
              <a:avLst/>
              <a:gdLst/>
              <a:ahLst/>
              <a:cxnLst/>
              <a:rect l="l" t="t" r="r" b="b"/>
              <a:pathLst>
                <a:path w="3132454" h="1008379">
                  <a:moveTo>
                    <a:pt x="38100" y="1008000"/>
                  </a:moveTo>
                  <a:lnTo>
                    <a:pt x="3093899" y="1008000"/>
                  </a:lnTo>
                  <a:lnTo>
                    <a:pt x="3108737" y="1005008"/>
                  </a:lnTo>
                  <a:lnTo>
                    <a:pt x="3120847" y="996848"/>
                  </a:lnTo>
                  <a:lnTo>
                    <a:pt x="3129007" y="984738"/>
                  </a:lnTo>
                  <a:lnTo>
                    <a:pt x="3131999" y="969900"/>
                  </a:lnTo>
                  <a:lnTo>
                    <a:pt x="3131999" y="38100"/>
                  </a:lnTo>
                  <a:lnTo>
                    <a:pt x="3129007" y="23261"/>
                  </a:lnTo>
                  <a:lnTo>
                    <a:pt x="3120847" y="11151"/>
                  </a:lnTo>
                  <a:lnTo>
                    <a:pt x="3108737" y="2991"/>
                  </a:lnTo>
                  <a:lnTo>
                    <a:pt x="3093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close/>
                </a:path>
              </a:pathLst>
            </a:custGeom>
            <a:ln w="8890">
              <a:solidFill>
                <a:srgbClr val="05B5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4" name="object 204"/>
          <p:cNvSpPr txBox="1"/>
          <p:nvPr/>
        </p:nvSpPr>
        <p:spPr>
          <a:xfrm>
            <a:off x="7115299" y="3193499"/>
            <a:ext cx="934719" cy="475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5B5D4"/>
                </a:solidFill>
                <a:latin typeface="Arial"/>
                <a:cs typeface="Arial"/>
              </a:rPr>
              <a:t>SDG</a:t>
            </a:r>
            <a:r>
              <a:rPr dirty="0" sz="1400" spc="-35" b="1">
                <a:solidFill>
                  <a:srgbClr val="05B5D4"/>
                </a:solidFill>
                <a:latin typeface="Arial"/>
                <a:cs typeface="Arial"/>
              </a:rPr>
              <a:t xml:space="preserve"> </a:t>
            </a:r>
            <a:r>
              <a:rPr dirty="0" sz="1400" spc="-25" b="1">
                <a:solidFill>
                  <a:srgbClr val="05B5D4"/>
                </a:solidFill>
                <a:latin typeface="Arial"/>
                <a:cs typeface="Arial"/>
              </a:rPr>
              <a:t>16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800" b="1">
                <a:solidFill>
                  <a:srgbClr val="05B5D4"/>
                </a:solidFill>
                <a:latin typeface="Arial"/>
                <a:cs typeface="Arial"/>
              </a:rPr>
              <a:t>PEACE</a:t>
            </a:r>
            <a:r>
              <a:rPr dirty="0" sz="800" spc="-15" b="1">
                <a:solidFill>
                  <a:srgbClr val="05B5D4"/>
                </a:solidFill>
                <a:latin typeface="Arial"/>
                <a:cs typeface="Arial"/>
              </a:rPr>
              <a:t xml:space="preserve"> </a:t>
            </a:r>
            <a:r>
              <a:rPr dirty="0" sz="800" b="1">
                <a:solidFill>
                  <a:srgbClr val="05B5D4"/>
                </a:solidFill>
                <a:latin typeface="Arial"/>
                <a:cs typeface="Arial"/>
              </a:rPr>
              <a:t>&amp;</a:t>
            </a:r>
            <a:r>
              <a:rPr dirty="0" sz="800" spc="-15" b="1">
                <a:solidFill>
                  <a:srgbClr val="05B5D4"/>
                </a:solidFill>
                <a:latin typeface="Arial"/>
                <a:cs typeface="Arial"/>
              </a:rPr>
              <a:t xml:space="preserve"> </a:t>
            </a:r>
            <a:r>
              <a:rPr dirty="0" sz="800" spc="-10" b="1">
                <a:solidFill>
                  <a:srgbClr val="05B5D4"/>
                </a:solidFill>
                <a:latin typeface="Arial"/>
                <a:cs typeface="Arial"/>
              </a:rPr>
              <a:t>JUSTICE</a:t>
            </a:r>
            <a:endParaRPr sz="800">
              <a:latin typeface="Arial"/>
              <a:cs typeface="Arial"/>
            </a:endParaRPr>
          </a:p>
        </p:txBody>
      </p:sp>
      <p:sp>
        <p:nvSpPr>
          <p:cNvPr id="206" name="object 20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207" name="object 20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  <p:sp>
        <p:nvSpPr>
          <p:cNvPr id="205" name="object 205"/>
          <p:cNvSpPr txBox="1"/>
          <p:nvPr/>
        </p:nvSpPr>
        <p:spPr>
          <a:xfrm>
            <a:off x="7115299" y="3744049"/>
            <a:ext cx="240855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Reducing cybercrime by strengthening human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defences.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 xml:space="preserve"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 xml:space="preserve"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 xml:space="preserve">08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197459"/>
            <a:ext cx="10692130" cy="362585"/>
            <a:chOff x="0" y="7197459"/>
            <a:chExt cx="10692130" cy="36258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63299" y="690399"/>
            <a:ext cx="2684145" cy="46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05"/>
              </a:lnSpc>
              <a:spcBef>
                <a:spcPts val="100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//</a:t>
            </a:r>
            <a:r>
              <a:rPr dirty="0" sz="700" spc="-3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AI</a:t>
            </a:r>
            <a:r>
              <a:rPr dirty="0" sz="700" spc="-3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TOOLS</a:t>
            </a:r>
            <a:r>
              <a:rPr dirty="0" sz="700" spc="-3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&amp;</a:t>
            </a:r>
            <a:r>
              <a:rPr dirty="0" sz="700" spc="-3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RESEARCH</a:t>
            </a:r>
            <a:r>
              <a:rPr dirty="0" sz="700" spc="-30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10">
                <a:solidFill>
                  <a:srgbClr val="336687"/>
                </a:solidFill>
                <a:latin typeface="Courier New"/>
                <a:cs typeface="Courier New"/>
              </a:rPr>
              <a:t>METHODOLOGY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2745"/>
              </a:lnSpc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 xml:space="preserve">How We </a:t>
            </a:r>
            <a:r>
              <a:rPr dirty="0" sz="2400" b="1">
                <a:solidFill>
                  <a:srgbClr val="00C8FF"/>
                </a:solidFill>
                <a:latin typeface="Arial"/>
                <a:cs typeface="Arial"/>
              </a:rPr>
              <a:t xml:space="preserve">Built </a:t>
            </a:r>
            <a:r>
              <a:rPr dirty="0" sz="2400" spc="-20" b="1">
                <a:solidFill>
                  <a:srgbClr val="00C8FF"/>
                </a:solidFill>
                <a:latin typeface="Arial"/>
                <a:cs typeface="Arial"/>
              </a:rPr>
              <a:t>This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46101" y="1127649"/>
            <a:ext cx="1388745" cy="12700"/>
            <a:chOff x="1846101" y="1127649"/>
            <a:chExt cx="1388745" cy="12700"/>
          </a:xfrm>
        </p:grpSpPr>
        <p:sp>
          <p:nvSpPr>
            <p:cNvPr id="10" name="object 10"/>
            <p:cNvSpPr/>
            <p:nvPr/>
          </p:nvSpPr>
          <p:spPr>
            <a:xfrm>
              <a:off x="184610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86345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880817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89817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91553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93289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95025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96760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984968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00232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01968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03704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05440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07175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089118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10647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123835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14119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15855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175910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193268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21062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227985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24534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26270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280060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297418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31477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332135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34949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366852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384210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401568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418927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436285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45364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471002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2488360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505718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523077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2540435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255779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2575152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2592510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260986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2627227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2644585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266194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2679302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2696660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271401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2731377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2748735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276609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2783452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280081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281816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2835527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285288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287024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2887602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290496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292231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2939677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295703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297439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299175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300911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302646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3043828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306118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307854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309590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311326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3130619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3147978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3165336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3182694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3200053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3217411" y="113399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 h="0">
                  <a:moveTo>
                    <a:pt x="0" y="0"/>
                  </a:moveTo>
                  <a:lnTo>
                    <a:pt x="17358" y="0"/>
                  </a:lnTo>
                </a:path>
              </a:pathLst>
            </a:custGeom>
            <a:ln w="1270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/>
          <p:cNvGrpSpPr/>
          <p:nvPr/>
        </p:nvGrpSpPr>
        <p:grpSpPr>
          <a:xfrm>
            <a:off x="575999" y="1252379"/>
            <a:ext cx="2520315" cy="15240"/>
            <a:chOff x="575999" y="1252379"/>
            <a:chExt cx="2520315" cy="15240"/>
          </a:xfrm>
        </p:grpSpPr>
        <p:sp>
          <p:nvSpPr>
            <p:cNvPr id="91" name="object 91"/>
            <p:cNvSpPr/>
            <p:nvPr/>
          </p:nvSpPr>
          <p:spPr>
            <a:xfrm>
              <a:off x="57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07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3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7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701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33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6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796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2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5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890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2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5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85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01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04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079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11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4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17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20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23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26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30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33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36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39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42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45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48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52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55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58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61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64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67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71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74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77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80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83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86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89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93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96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99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02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05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208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211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215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218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221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224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227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230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234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237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240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243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246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249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252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256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259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262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265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268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71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74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278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281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284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287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290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93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297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300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303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306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/>
          <p:cNvSpPr txBox="1"/>
          <p:nvPr/>
        </p:nvSpPr>
        <p:spPr>
          <a:xfrm>
            <a:off x="563299" y="1427350"/>
            <a:ext cx="783844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This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project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was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built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using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combination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of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AI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tools,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combined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research,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and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collaborative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development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—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each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contributing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a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unique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strength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to</a:t>
            </a:r>
            <a:r>
              <a:rPr dirty="0" sz="850" spc="-25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the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>
                <a:solidFill>
                  <a:srgbClr val="AAAAAA"/>
                </a:solidFill>
                <a:latin typeface="Arial"/>
                <a:cs typeface="Arial"/>
              </a:rPr>
              <a:t>final</a:t>
            </a:r>
            <a:r>
              <a:rPr dirty="0" sz="850" spc="-20">
                <a:solidFill>
                  <a:srgbClr val="AAAAAA"/>
                </a:solidFill>
                <a:latin typeface="Arial"/>
                <a:cs typeface="Arial"/>
              </a:rPr>
              <a:t xml:space="preserve"> </a:t>
            </a:r>
            <a:r>
              <a:rPr dirty="0" sz="850" spc="-10">
                <a:solidFill>
                  <a:srgbClr val="AAAAAA"/>
                </a:solidFill>
                <a:latin typeface="Arial"/>
                <a:cs typeface="Arial"/>
              </a:rPr>
              <a:t>product.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72" name="object 172"/>
          <p:cNvGrpSpPr/>
          <p:nvPr/>
        </p:nvGrpSpPr>
        <p:grpSpPr>
          <a:xfrm>
            <a:off x="572824" y="2048824"/>
            <a:ext cx="4704715" cy="1014730"/>
            <a:chOff x="572824" y="2048824"/>
            <a:chExt cx="4704715" cy="1014730"/>
          </a:xfrm>
        </p:grpSpPr>
        <p:sp>
          <p:nvSpPr>
            <p:cNvPr id="173" name="object 173"/>
            <p:cNvSpPr/>
            <p:nvPr/>
          </p:nvSpPr>
          <p:spPr>
            <a:xfrm>
              <a:off x="575999" y="2051999"/>
              <a:ext cx="4698365" cy="1008380"/>
            </a:xfrm>
            <a:custGeom>
              <a:avLst/>
              <a:gdLst/>
              <a:ahLst/>
              <a:cxnLst/>
              <a:rect l="l" t="t" r="r" b="b"/>
              <a:pathLst>
                <a:path w="4698365" h="1008380">
                  <a:moveTo>
                    <a:pt x="4659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lnTo>
                    <a:pt x="4659900" y="1008000"/>
                  </a:lnTo>
                  <a:lnTo>
                    <a:pt x="4674738" y="1005008"/>
                  </a:lnTo>
                  <a:lnTo>
                    <a:pt x="4686848" y="996848"/>
                  </a:lnTo>
                  <a:lnTo>
                    <a:pt x="4695008" y="984738"/>
                  </a:lnTo>
                  <a:lnTo>
                    <a:pt x="4698000" y="969900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575999" y="2051999"/>
              <a:ext cx="4698365" cy="1008380"/>
            </a:xfrm>
            <a:custGeom>
              <a:avLst/>
              <a:gdLst/>
              <a:ahLst/>
              <a:cxnLst/>
              <a:rect l="l" t="t" r="r" b="b"/>
              <a:pathLst>
                <a:path w="4698365" h="1008380">
                  <a:moveTo>
                    <a:pt x="38100" y="1008000"/>
                  </a:moveTo>
                  <a:lnTo>
                    <a:pt x="4659900" y="1008000"/>
                  </a:lnTo>
                  <a:lnTo>
                    <a:pt x="4674738" y="1005008"/>
                  </a:lnTo>
                  <a:lnTo>
                    <a:pt x="4686848" y="996848"/>
                  </a:lnTo>
                  <a:lnTo>
                    <a:pt x="4695008" y="984738"/>
                  </a:lnTo>
                  <a:lnTo>
                    <a:pt x="4698000" y="969900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close/>
                </a:path>
              </a:pathLst>
            </a:custGeom>
            <a:ln w="63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575999" y="2051999"/>
              <a:ext cx="31750" cy="1008380"/>
            </a:xfrm>
            <a:custGeom>
              <a:avLst/>
              <a:gdLst/>
              <a:ahLst/>
              <a:cxnLst/>
              <a:rect l="l" t="t" r="r" b="b"/>
              <a:pathLst>
                <a:path w="31750" h="1008380">
                  <a:moveTo>
                    <a:pt x="31750" y="0"/>
                  </a:moveTo>
                  <a:lnTo>
                    <a:pt x="0" y="0"/>
                  </a:lnTo>
                  <a:lnTo>
                    <a:pt x="0" y="1008000"/>
                  </a:lnTo>
                  <a:lnTo>
                    <a:pt x="31750" y="1008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6" name="object 176"/>
          <p:cNvSpPr txBox="1"/>
          <p:nvPr/>
        </p:nvSpPr>
        <p:spPr>
          <a:xfrm>
            <a:off x="612512" y="2183349"/>
            <a:ext cx="4638675" cy="735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00C8FF"/>
                </a:solidFill>
                <a:latin typeface="Arial"/>
                <a:cs typeface="Arial"/>
              </a:rPr>
              <a:t xml:space="preserve">CLAUDE </a:t>
            </a:r>
            <a:r>
              <a:rPr dirty="0" sz="850" spc="-10" b="1">
                <a:solidFill>
                  <a:srgbClr val="00C8FF"/>
                </a:solidFill>
                <a:latin typeface="Arial"/>
                <a:cs typeface="Arial"/>
              </a:rPr>
              <a:t>(ANTHROPIC)</a:t>
            </a:r>
            <a:endParaRPr sz="85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880"/>
              </a:spcBef>
            </a:pPr>
            <a:r>
              <a:rPr dirty="0" sz="650">
                <a:solidFill>
                  <a:srgbClr val="445466"/>
                </a:solidFill>
                <a:latin typeface="Courier New"/>
                <a:cs typeface="Courier New"/>
              </a:rPr>
              <a:t xml:space="preserve">PRIMARY DEVELOPMENT </a:t>
            </a:r>
            <a:r>
              <a:rPr dirty="0" sz="650" spc="-25">
                <a:solidFill>
                  <a:srgbClr val="445466"/>
                </a:solidFill>
                <a:latin typeface="Courier New"/>
                <a:cs typeface="Courier New"/>
              </a:rPr>
              <a:t>AI</a:t>
            </a:r>
            <a:endParaRPr sz="650">
              <a:latin typeface="Courier New"/>
              <a:cs typeface="Courier New"/>
            </a:endParaRPr>
          </a:p>
          <a:p>
            <a:pPr marL="142875" marR="256540">
              <a:lnSpc>
                <a:spcPct val="132300"/>
              </a:lnSpc>
              <a:spcBef>
                <a:spcPts val="53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Frontend development, game logic, Behavioural Analysis Engine, UI/UX design, documentation, </a:t>
            </a:r>
            <a:r>
              <a:rPr dirty="0" sz="750" spc="-25">
                <a:solidFill>
                  <a:srgbClr val="667787"/>
                </a:solidFill>
                <a:latin typeface="Arial"/>
                <a:cs typeface="Arial"/>
              </a:rPr>
              <a:t>and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 presentation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structure.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77" name="object 177"/>
          <p:cNvGrpSpPr/>
          <p:nvPr/>
        </p:nvGrpSpPr>
        <p:grpSpPr>
          <a:xfrm>
            <a:off x="5414825" y="2048824"/>
            <a:ext cx="4704715" cy="1014730"/>
            <a:chOff x="5414825" y="2048824"/>
            <a:chExt cx="4704715" cy="1014730"/>
          </a:xfrm>
        </p:grpSpPr>
        <p:sp>
          <p:nvSpPr>
            <p:cNvPr id="178" name="object 178"/>
            <p:cNvSpPr/>
            <p:nvPr/>
          </p:nvSpPr>
          <p:spPr>
            <a:xfrm>
              <a:off x="5418000" y="2051999"/>
              <a:ext cx="4698365" cy="1008380"/>
            </a:xfrm>
            <a:custGeom>
              <a:avLst/>
              <a:gdLst/>
              <a:ahLst/>
              <a:cxnLst/>
              <a:rect l="l" t="t" r="r" b="b"/>
              <a:pathLst>
                <a:path w="4698365" h="1008380">
                  <a:moveTo>
                    <a:pt x="4659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lnTo>
                    <a:pt x="4659899" y="1008000"/>
                  </a:lnTo>
                  <a:lnTo>
                    <a:pt x="4674737" y="1005008"/>
                  </a:lnTo>
                  <a:lnTo>
                    <a:pt x="4686847" y="996848"/>
                  </a:lnTo>
                  <a:lnTo>
                    <a:pt x="4695007" y="984738"/>
                  </a:lnTo>
                  <a:lnTo>
                    <a:pt x="4697999" y="969900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5418000" y="2051999"/>
              <a:ext cx="4698365" cy="1008380"/>
            </a:xfrm>
            <a:custGeom>
              <a:avLst/>
              <a:gdLst/>
              <a:ahLst/>
              <a:cxnLst/>
              <a:rect l="l" t="t" r="r" b="b"/>
              <a:pathLst>
                <a:path w="4698365" h="1008380">
                  <a:moveTo>
                    <a:pt x="38100" y="1008000"/>
                  </a:moveTo>
                  <a:lnTo>
                    <a:pt x="4659899" y="1008000"/>
                  </a:lnTo>
                  <a:lnTo>
                    <a:pt x="4674737" y="1005008"/>
                  </a:lnTo>
                  <a:lnTo>
                    <a:pt x="4686847" y="996848"/>
                  </a:lnTo>
                  <a:lnTo>
                    <a:pt x="4695007" y="984738"/>
                  </a:lnTo>
                  <a:lnTo>
                    <a:pt x="4697999" y="969900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close/>
                </a:path>
              </a:pathLst>
            </a:custGeom>
            <a:ln w="6349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5418000" y="2051999"/>
              <a:ext cx="31750" cy="1008380"/>
            </a:xfrm>
            <a:custGeom>
              <a:avLst/>
              <a:gdLst/>
              <a:ahLst/>
              <a:cxnLst/>
              <a:rect l="l" t="t" r="r" b="b"/>
              <a:pathLst>
                <a:path w="31750" h="1008380">
                  <a:moveTo>
                    <a:pt x="31750" y="0"/>
                  </a:moveTo>
                  <a:lnTo>
                    <a:pt x="0" y="0"/>
                  </a:lnTo>
                  <a:lnTo>
                    <a:pt x="0" y="1008000"/>
                  </a:lnTo>
                  <a:lnTo>
                    <a:pt x="31750" y="1008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1" name="object 181"/>
          <p:cNvSpPr txBox="1"/>
          <p:nvPr/>
        </p:nvSpPr>
        <p:spPr>
          <a:xfrm>
            <a:off x="5454512" y="2183349"/>
            <a:ext cx="4638675" cy="735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21C45D"/>
                </a:solidFill>
                <a:latin typeface="Arial"/>
                <a:cs typeface="Arial"/>
              </a:rPr>
              <a:t>CHATGPT</a:t>
            </a:r>
            <a:r>
              <a:rPr dirty="0" sz="850" spc="-45" b="1">
                <a:solidFill>
                  <a:srgbClr val="21C45D"/>
                </a:solidFill>
                <a:latin typeface="Arial"/>
                <a:cs typeface="Arial"/>
              </a:rPr>
              <a:t xml:space="preserve"> </a:t>
            </a:r>
            <a:r>
              <a:rPr dirty="0" sz="850" spc="-10" b="1">
                <a:solidFill>
                  <a:srgbClr val="21C45D"/>
                </a:solidFill>
                <a:latin typeface="Arial"/>
                <a:cs typeface="Arial"/>
              </a:rPr>
              <a:t>(OPENAI)</a:t>
            </a:r>
            <a:endParaRPr sz="85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880"/>
              </a:spcBef>
            </a:pPr>
            <a:r>
              <a:rPr dirty="0" sz="650">
                <a:solidFill>
                  <a:srgbClr val="445466"/>
                </a:solidFill>
                <a:latin typeface="Courier New"/>
                <a:cs typeface="Courier New"/>
              </a:rPr>
              <a:t xml:space="preserve">CONTENT &amp; </a:t>
            </a:r>
            <a:r>
              <a:rPr dirty="0" sz="650" spc="-10">
                <a:solidFill>
                  <a:srgbClr val="445466"/>
                </a:solidFill>
                <a:latin typeface="Courier New"/>
                <a:cs typeface="Courier New"/>
              </a:rPr>
              <a:t>IDEATION</a:t>
            </a:r>
            <a:endParaRPr sz="650">
              <a:latin typeface="Courier New"/>
              <a:cs typeface="Courier New"/>
            </a:endParaRPr>
          </a:p>
          <a:p>
            <a:pPr marL="142875" marR="187960">
              <a:lnSpc>
                <a:spcPct val="132300"/>
              </a:lnSpc>
              <a:spcBef>
                <a:spcPts val="53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Brainstorming scam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scenarios, refining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problem statements,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drafting initial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proposal content</a:t>
            </a:r>
            <a:r>
              <a:rPr dirty="0" sz="750" spc="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and </a:t>
            </a:r>
            <a:r>
              <a:rPr dirty="0" sz="750" spc="-20">
                <a:solidFill>
                  <a:srgbClr val="667787"/>
                </a:solidFill>
                <a:latin typeface="Arial"/>
                <a:cs typeface="Arial"/>
              </a:rPr>
              <a:t>game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 narrative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ideas.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2" name="object 182"/>
          <p:cNvGrpSpPr/>
          <p:nvPr/>
        </p:nvGrpSpPr>
        <p:grpSpPr>
          <a:xfrm>
            <a:off x="572824" y="3164824"/>
            <a:ext cx="4704715" cy="1014730"/>
            <a:chOff x="572824" y="3164824"/>
            <a:chExt cx="4704715" cy="1014730"/>
          </a:xfrm>
        </p:grpSpPr>
        <p:sp>
          <p:nvSpPr>
            <p:cNvPr id="183" name="object 183"/>
            <p:cNvSpPr/>
            <p:nvPr/>
          </p:nvSpPr>
          <p:spPr>
            <a:xfrm>
              <a:off x="575999" y="3167999"/>
              <a:ext cx="4698365" cy="1008380"/>
            </a:xfrm>
            <a:custGeom>
              <a:avLst/>
              <a:gdLst/>
              <a:ahLst/>
              <a:cxnLst/>
              <a:rect l="l" t="t" r="r" b="b"/>
              <a:pathLst>
                <a:path w="4698365" h="1008379">
                  <a:moveTo>
                    <a:pt x="4659900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lnTo>
                    <a:pt x="4659900" y="1008000"/>
                  </a:lnTo>
                  <a:lnTo>
                    <a:pt x="4674738" y="1005008"/>
                  </a:lnTo>
                  <a:lnTo>
                    <a:pt x="4686848" y="996848"/>
                  </a:lnTo>
                  <a:lnTo>
                    <a:pt x="4695008" y="984738"/>
                  </a:lnTo>
                  <a:lnTo>
                    <a:pt x="4698000" y="969900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575999" y="3167999"/>
              <a:ext cx="4698365" cy="1008380"/>
            </a:xfrm>
            <a:custGeom>
              <a:avLst/>
              <a:gdLst/>
              <a:ahLst/>
              <a:cxnLst/>
              <a:rect l="l" t="t" r="r" b="b"/>
              <a:pathLst>
                <a:path w="4698365" h="1008379">
                  <a:moveTo>
                    <a:pt x="38100" y="1008000"/>
                  </a:moveTo>
                  <a:lnTo>
                    <a:pt x="4659900" y="1008000"/>
                  </a:lnTo>
                  <a:lnTo>
                    <a:pt x="4674738" y="1005008"/>
                  </a:lnTo>
                  <a:lnTo>
                    <a:pt x="4686848" y="996848"/>
                  </a:lnTo>
                  <a:lnTo>
                    <a:pt x="4695008" y="984738"/>
                  </a:lnTo>
                  <a:lnTo>
                    <a:pt x="4698000" y="969900"/>
                  </a:lnTo>
                  <a:lnTo>
                    <a:pt x="4698000" y="38100"/>
                  </a:lnTo>
                  <a:lnTo>
                    <a:pt x="4695008" y="23261"/>
                  </a:lnTo>
                  <a:lnTo>
                    <a:pt x="4686848" y="11151"/>
                  </a:lnTo>
                  <a:lnTo>
                    <a:pt x="4674738" y="2991"/>
                  </a:lnTo>
                  <a:lnTo>
                    <a:pt x="4659900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575999" y="3167999"/>
              <a:ext cx="31750" cy="1008380"/>
            </a:xfrm>
            <a:custGeom>
              <a:avLst/>
              <a:gdLst/>
              <a:ahLst/>
              <a:cxnLst/>
              <a:rect l="l" t="t" r="r" b="b"/>
              <a:pathLst>
                <a:path w="31750" h="1008379">
                  <a:moveTo>
                    <a:pt x="31750" y="0"/>
                  </a:moveTo>
                  <a:lnTo>
                    <a:pt x="0" y="0"/>
                  </a:lnTo>
                  <a:lnTo>
                    <a:pt x="0" y="1008000"/>
                  </a:lnTo>
                  <a:lnTo>
                    <a:pt x="31750" y="1008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6" name="object 186"/>
          <p:cNvSpPr txBox="1"/>
          <p:nvPr/>
        </p:nvSpPr>
        <p:spPr>
          <a:xfrm>
            <a:off x="612512" y="3299348"/>
            <a:ext cx="4638675" cy="735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A854F6"/>
                </a:solidFill>
                <a:latin typeface="Arial"/>
                <a:cs typeface="Arial"/>
              </a:rPr>
              <a:t>GOOGLE</a:t>
            </a:r>
            <a:r>
              <a:rPr dirty="0" sz="850" spc="-40" b="1">
                <a:solidFill>
                  <a:srgbClr val="A854F6"/>
                </a:solidFill>
                <a:latin typeface="Arial"/>
                <a:cs typeface="Arial"/>
              </a:rPr>
              <a:t xml:space="preserve"> </a:t>
            </a:r>
            <a:r>
              <a:rPr dirty="0" sz="850" spc="-10" b="1">
                <a:solidFill>
                  <a:srgbClr val="A854F6"/>
                </a:solidFill>
                <a:latin typeface="Arial"/>
                <a:cs typeface="Arial"/>
              </a:rPr>
              <a:t>GEMINI</a:t>
            </a:r>
            <a:endParaRPr sz="85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880"/>
              </a:spcBef>
            </a:pPr>
            <a:r>
              <a:rPr dirty="0" sz="650">
                <a:solidFill>
                  <a:srgbClr val="445466"/>
                </a:solidFill>
                <a:latin typeface="Courier New"/>
                <a:cs typeface="Courier New"/>
              </a:rPr>
              <a:t xml:space="preserve">RESEARCH &amp; </a:t>
            </a:r>
            <a:r>
              <a:rPr dirty="0" sz="650" spc="-10">
                <a:solidFill>
                  <a:srgbClr val="445466"/>
                </a:solidFill>
                <a:latin typeface="Courier New"/>
                <a:cs typeface="Courier New"/>
              </a:rPr>
              <a:t>VALIDATION</a:t>
            </a:r>
            <a:endParaRPr sz="650">
              <a:latin typeface="Courier New"/>
              <a:cs typeface="Courier New"/>
            </a:endParaRPr>
          </a:p>
          <a:p>
            <a:pPr marL="142875" marR="314960">
              <a:lnSpc>
                <a:spcPct val="132300"/>
              </a:lnSpc>
              <a:spcBef>
                <a:spcPts val="53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Cross-referencing</a:t>
            </a:r>
            <a:r>
              <a:rPr dirty="0" sz="75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cybersecurity statistics,</a:t>
            </a:r>
            <a:r>
              <a:rPr dirty="0" sz="75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validating scam</a:t>
            </a:r>
            <a:r>
              <a:rPr dirty="0" sz="75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patterns, and supporting</a:t>
            </a:r>
            <a:r>
              <a:rPr dirty="0" sz="75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SDG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 xml:space="preserve">alignment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research across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Africa.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87" name="object 187"/>
          <p:cNvGrpSpPr/>
          <p:nvPr/>
        </p:nvGrpSpPr>
        <p:grpSpPr>
          <a:xfrm>
            <a:off x="5414825" y="3164824"/>
            <a:ext cx="4704715" cy="1014730"/>
            <a:chOff x="5414825" y="3164824"/>
            <a:chExt cx="4704715" cy="1014730"/>
          </a:xfrm>
        </p:grpSpPr>
        <p:sp>
          <p:nvSpPr>
            <p:cNvPr id="188" name="object 188"/>
            <p:cNvSpPr/>
            <p:nvPr/>
          </p:nvSpPr>
          <p:spPr>
            <a:xfrm>
              <a:off x="5418000" y="3167999"/>
              <a:ext cx="4698365" cy="1008380"/>
            </a:xfrm>
            <a:custGeom>
              <a:avLst/>
              <a:gdLst/>
              <a:ahLst/>
              <a:cxnLst/>
              <a:rect l="l" t="t" r="r" b="b"/>
              <a:pathLst>
                <a:path w="4698365" h="1008379">
                  <a:moveTo>
                    <a:pt x="4659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lnTo>
                    <a:pt x="4659899" y="1008000"/>
                  </a:lnTo>
                  <a:lnTo>
                    <a:pt x="4674737" y="1005008"/>
                  </a:lnTo>
                  <a:lnTo>
                    <a:pt x="4686847" y="996848"/>
                  </a:lnTo>
                  <a:lnTo>
                    <a:pt x="4695007" y="984738"/>
                  </a:lnTo>
                  <a:lnTo>
                    <a:pt x="4697999" y="969900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5418000" y="3167999"/>
              <a:ext cx="4698365" cy="1008380"/>
            </a:xfrm>
            <a:custGeom>
              <a:avLst/>
              <a:gdLst/>
              <a:ahLst/>
              <a:cxnLst/>
              <a:rect l="l" t="t" r="r" b="b"/>
              <a:pathLst>
                <a:path w="4698365" h="1008379">
                  <a:moveTo>
                    <a:pt x="38100" y="1008000"/>
                  </a:moveTo>
                  <a:lnTo>
                    <a:pt x="4659899" y="1008000"/>
                  </a:lnTo>
                  <a:lnTo>
                    <a:pt x="4674737" y="1005008"/>
                  </a:lnTo>
                  <a:lnTo>
                    <a:pt x="4686847" y="996848"/>
                  </a:lnTo>
                  <a:lnTo>
                    <a:pt x="4695007" y="984738"/>
                  </a:lnTo>
                  <a:lnTo>
                    <a:pt x="4697999" y="969900"/>
                  </a:lnTo>
                  <a:lnTo>
                    <a:pt x="4697999" y="38100"/>
                  </a:lnTo>
                  <a:lnTo>
                    <a:pt x="4695007" y="23261"/>
                  </a:lnTo>
                  <a:lnTo>
                    <a:pt x="4686847" y="11151"/>
                  </a:lnTo>
                  <a:lnTo>
                    <a:pt x="4674737" y="2991"/>
                  </a:lnTo>
                  <a:lnTo>
                    <a:pt x="4659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969900"/>
                  </a:lnTo>
                  <a:lnTo>
                    <a:pt x="2991" y="984738"/>
                  </a:lnTo>
                  <a:lnTo>
                    <a:pt x="11151" y="996848"/>
                  </a:lnTo>
                  <a:lnTo>
                    <a:pt x="23261" y="1005008"/>
                  </a:lnTo>
                  <a:lnTo>
                    <a:pt x="38100" y="1008000"/>
                  </a:lnTo>
                  <a:close/>
                </a:path>
              </a:pathLst>
            </a:custGeom>
            <a:ln w="6350">
              <a:solidFill>
                <a:srgbClr val="F9CC1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5418000" y="3167999"/>
              <a:ext cx="31750" cy="1008380"/>
            </a:xfrm>
            <a:custGeom>
              <a:avLst/>
              <a:gdLst/>
              <a:ahLst/>
              <a:cxnLst/>
              <a:rect l="l" t="t" r="r" b="b"/>
              <a:pathLst>
                <a:path w="31750" h="1008379">
                  <a:moveTo>
                    <a:pt x="31750" y="0"/>
                  </a:moveTo>
                  <a:lnTo>
                    <a:pt x="0" y="0"/>
                  </a:lnTo>
                  <a:lnTo>
                    <a:pt x="0" y="1008000"/>
                  </a:lnTo>
                  <a:lnTo>
                    <a:pt x="31750" y="1008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F9CC1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1" name="object 191"/>
          <p:cNvSpPr txBox="1"/>
          <p:nvPr/>
        </p:nvSpPr>
        <p:spPr>
          <a:xfrm>
            <a:off x="5454512" y="3299348"/>
            <a:ext cx="4638675" cy="735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F9CC15"/>
                </a:solidFill>
                <a:latin typeface="Arial"/>
                <a:cs typeface="Arial"/>
              </a:rPr>
              <a:t>GOOGLE</a:t>
            </a:r>
            <a:r>
              <a:rPr dirty="0" sz="850" spc="-40" b="1">
                <a:solidFill>
                  <a:srgbClr val="F9CC15"/>
                </a:solidFill>
                <a:latin typeface="Arial"/>
                <a:cs typeface="Arial"/>
              </a:rPr>
              <a:t xml:space="preserve"> </a:t>
            </a:r>
            <a:r>
              <a:rPr dirty="0" sz="850" spc="-10" b="1">
                <a:solidFill>
                  <a:srgbClr val="F9CC15"/>
                </a:solidFill>
                <a:latin typeface="Arial"/>
                <a:cs typeface="Arial"/>
              </a:rPr>
              <a:t>RESEARCH</a:t>
            </a:r>
            <a:endParaRPr sz="85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880"/>
              </a:spcBef>
            </a:pPr>
            <a:r>
              <a:rPr dirty="0" sz="650">
                <a:solidFill>
                  <a:srgbClr val="445466"/>
                </a:solidFill>
                <a:latin typeface="Courier New"/>
                <a:cs typeface="Courier New"/>
              </a:rPr>
              <a:t xml:space="preserve">DATA &amp; </a:t>
            </a:r>
            <a:r>
              <a:rPr dirty="0" sz="650" spc="-10">
                <a:solidFill>
                  <a:srgbClr val="445466"/>
                </a:solidFill>
                <a:latin typeface="Courier New"/>
                <a:cs typeface="Courier New"/>
              </a:rPr>
              <a:t>STATISTICS</a:t>
            </a:r>
            <a:endParaRPr sz="650">
              <a:latin typeface="Courier New"/>
              <a:cs typeface="Courier New"/>
            </a:endParaRPr>
          </a:p>
          <a:p>
            <a:pPr marL="142875" marR="553720">
              <a:lnSpc>
                <a:spcPct val="132300"/>
              </a:lnSpc>
              <a:spcBef>
                <a:spcPts val="530"/>
              </a:spcBef>
            </a:pP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Sourcing</a:t>
            </a:r>
            <a:r>
              <a:rPr dirty="0" sz="75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cybercrime statistics, real-world</a:t>
            </a:r>
            <a:r>
              <a:rPr dirty="0" sz="75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>scam examples, and best</a:t>
            </a:r>
            <a:r>
              <a:rPr dirty="0" sz="750" spc="-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practices in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 xml:space="preserve">cybersecurity </a:t>
            </a:r>
            <a:r>
              <a:rPr dirty="0" sz="750">
                <a:solidFill>
                  <a:srgbClr val="667787"/>
                </a:solidFill>
                <a:latin typeface="Arial"/>
                <a:cs typeface="Arial"/>
              </a:rPr>
              <a:t xml:space="preserve">awareness </a:t>
            </a:r>
            <a:r>
              <a:rPr dirty="0" sz="750" spc="-10">
                <a:solidFill>
                  <a:srgbClr val="667787"/>
                </a:solidFill>
                <a:latin typeface="Arial"/>
                <a:cs typeface="Arial"/>
              </a:rPr>
              <a:t>training.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92" name="object 192"/>
          <p:cNvGrpSpPr/>
          <p:nvPr/>
        </p:nvGrpSpPr>
        <p:grpSpPr>
          <a:xfrm>
            <a:off x="572824" y="4424824"/>
            <a:ext cx="9546590" cy="510540"/>
            <a:chOff x="572824" y="4424824"/>
            <a:chExt cx="9546590" cy="510540"/>
          </a:xfrm>
        </p:grpSpPr>
        <p:sp>
          <p:nvSpPr>
            <p:cNvPr id="193" name="object 193"/>
            <p:cNvSpPr/>
            <p:nvPr/>
          </p:nvSpPr>
          <p:spPr>
            <a:xfrm>
              <a:off x="575999" y="4427999"/>
              <a:ext cx="9540240" cy="504190"/>
            </a:xfrm>
            <a:custGeom>
              <a:avLst/>
              <a:gdLst/>
              <a:ahLst/>
              <a:cxnLst/>
              <a:rect l="l" t="t" r="r" b="b"/>
              <a:pathLst>
                <a:path w="9540240" h="504189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099"/>
                  </a:lnTo>
                  <a:lnTo>
                    <a:pt x="0" y="465900"/>
                  </a:lnTo>
                  <a:lnTo>
                    <a:pt x="2991" y="480739"/>
                  </a:lnTo>
                  <a:lnTo>
                    <a:pt x="11151" y="492848"/>
                  </a:lnTo>
                  <a:lnTo>
                    <a:pt x="23261" y="501009"/>
                  </a:lnTo>
                  <a:lnTo>
                    <a:pt x="38100" y="504000"/>
                  </a:lnTo>
                  <a:lnTo>
                    <a:pt x="9501899" y="504000"/>
                  </a:lnTo>
                  <a:lnTo>
                    <a:pt x="9516738" y="501009"/>
                  </a:lnTo>
                  <a:lnTo>
                    <a:pt x="9528847" y="492848"/>
                  </a:lnTo>
                  <a:lnTo>
                    <a:pt x="9537008" y="480739"/>
                  </a:lnTo>
                  <a:lnTo>
                    <a:pt x="9539999" y="465900"/>
                  </a:lnTo>
                  <a:lnTo>
                    <a:pt x="9539999" y="38099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575999" y="4427999"/>
              <a:ext cx="9540240" cy="504190"/>
            </a:xfrm>
            <a:custGeom>
              <a:avLst/>
              <a:gdLst/>
              <a:ahLst/>
              <a:cxnLst/>
              <a:rect l="l" t="t" r="r" b="b"/>
              <a:pathLst>
                <a:path w="9540240" h="504189">
                  <a:moveTo>
                    <a:pt x="38100" y="504000"/>
                  </a:moveTo>
                  <a:lnTo>
                    <a:pt x="9501899" y="504000"/>
                  </a:lnTo>
                  <a:lnTo>
                    <a:pt x="9516738" y="501009"/>
                  </a:lnTo>
                  <a:lnTo>
                    <a:pt x="9528847" y="492848"/>
                  </a:lnTo>
                  <a:lnTo>
                    <a:pt x="9537008" y="480739"/>
                  </a:lnTo>
                  <a:lnTo>
                    <a:pt x="9539999" y="465900"/>
                  </a:lnTo>
                  <a:lnTo>
                    <a:pt x="9539999" y="38099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099"/>
                  </a:lnTo>
                  <a:lnTo>
                    <a:pt x="0" y="465900"/>
                  </a:lnTo>
                  <a:lnTo>
                    <a:pt x="2991" y="480739"/>
                  </a:lnTo>
                  <a:lnTo>
                    <a:pt x="11151" y="492848"/>
                  </a:lnTo>
                  <a:lnTo>
                    <a:pt x="23261" y="501009"/>
                  </a:lnTo>
                  <a:lnTo>
                    <a:pt x="38100" y="504000"/>
                  </a:lnTo>
                  <a:close/>
                </a:path>
              </a:pathLst>
            </a:custGeom>
            <a:ln w="63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575999" y="4428000"/>
              <a:ext cx="31750" cy="504190"/>
            </a:xfrm>
            <a:custGeom>
              <a:avLst/>
              <a:gdLst/>
              <a:ahLst/>
              <a:cxnLst/>
              <a:rect l="l" t="t" r="r" b="b"/>
              <a:pathLst>
                <a:path w="31750" h="504189">
                  <a:moveTo>
                    <a:pt x="31750" y="0"/>
                  </a:moveTo>
                  <a:lnTo>
                    <a:pt x="0" y="0"/>
                  </a:lnTo>
                  <a:lnTo>
                    <a:pt x="0" y="504000"/>
                  </a:lnTo>
                  <a:lnTo>
                    <a:pt x="31750" y="504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6" name="object 196"/>
          <p:cNvSpPr txBox="1"/>
          <p:nvPr/>
        </p:nvSpPr>
        <p:spPr>
          <a:xfrm>
            <a:off x="612512" y="4506400"/>
            <a:ext cx="9480550" cy="351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00C8FF"/>
                </a:solidFill>
                <a:latin typeface="Courier New"/>
                <a:cs typeface="Courier New"/>
              </a:rPr>
              <a:t>COMBINED</a:t>
            </a:r>
            <a:r>
              <a:rPr dirty="0" sz="700" spc="-50">
                <a:solidFill>
                  <a:srgbClr val="00C8FF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00C8FF"/>
                </a:solidFill>
                <a:latin typeface="Courier New"/>
                <a:cs typeface="Courier New"/>
              </a:rPr>
              <a:t>AI</a:t>
            </a:r>
            <a:r>
              <a:rPr dirty="0" sz="700" spc="-50">
                <a:solidFill>
                  <a:srgbClr val="00C8FF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00C8FF"/>
                </a:solidFill>
                <a:latin typeface="Courier New"/>
                <a:cs typeface="Courier New"/>
              </a:rPr>
              <a:t>+</a:t>
            </a:r>
            <a:r>
              <a:rPr dirty="0" sz="700" spc="-45">
                <a:solidFill>
                  <a:srgbClr val="00C8FF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00C8FF"/>
                </a:solidFill>
                <a:latin typeface="Courier New"/>
                <a:cs typeface="Courier New"/>
              </a:rPr>
              <a:t>HUMAN</a:t>
            </a:r>
            <a:r>
              <a:rPr dirty="0" sz="700" spc="-50">
                <a:solidFill>
                  <a:srgbClr val="00C8FF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00C8FF"/>
                </a:solidFill>
                <a:latin typeface="Courier New"/>
                <a:cs typeface="Courier New"/>
              </a:rPr>
              <a:t>INTELLIGENCE</a:t>
            </a:r>
            <a:r>
              <a:rPr dirty="0" sz="700" spc="-45">
                <a:solidFill>
                  <a:srgbClr val="00C8FF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10">
                <a:solidFill>
                  <a:srgbClr val="00C8FF"/>
                </a:solidFill>
                <a:latin typeface="Courier New"/>
                <a:cs typeface="Courier New"/>
              </a:rPr>
              <a:t>APPROACH</a:t>
            </a:r>
            <a:endParaRPr sz="700">
              <a:latin typeface="Courier New"/>
              <a:cs typeface="Courier New"/>
            </a:endParaRPr>
          </a:p>
          <a:p>
            <a:pPr marL="142875">
              <a:lnSpc>
                <a:spcPct val="100000"/>
              </a:lnSpc>
              <a:spcBef>
                <a:spcPts val="760"/>
              </a:spcBef>
            </a:pP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Multiple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AI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tools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were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used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collaboratively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alongside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team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research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and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human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insight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—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ensuring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accuracy,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realism,</a:t>
            </a:r>
            <a:r>
              <a:rPr dirty="0" sz="800" spc="-25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>
                <a:solidFill>
                  <a:srgbClr val="667787"/>
                </a:solidFill>
                <a:latin typeface="Arial"/>
                <a:cs typeface="Arial"/>
              </a:rPr>
              <a:t>and</a:t>
            </a:r>
            <a:r>
              <a:rPr dirty="0" sz="800" spc="-20">
                <a:solidFill>
                  <a:srgbClr val="667787"/>
                </a:solidFill>
                <a:latin typeface="Arial"/>
                <a:cs typeface="Arial"/>
              </a:rPr>
              <a:t xml:space="preserve"> </a:t>
            </a:r>
            <a:r>
              <a:rPr dirty="0" sz="800" spc="-10">
                <a:solidFill>
                  <a:srgbClr val="667787"/>
                </a:solidFill>
                <a:latin typeface="Arial"/>
                <a:cs typeface="Arial"/>
              </a:rPr>
              <a:t>impact.</a:t>
            </a:r>
            <a:endParaRPr sz="800">
              <a:latin typeface="Arial"/>
              <a:cs typeface="Arial"/>
            </a:endParaRPr>
          </a:p>
        </p:txBody>
      </p:sp>
      <p:sp>
        <p:nvSpPr>
          <p:cNvPr id="197" name="object 19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198" name="object 19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 xml:space="preserve"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 xml:space="preserve"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 xml:space="preserve">09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197459"/>
            <a:ext cx="10692130" cy="362585"/>
            <a:chOff x="0" y="7197459"/>
            <a:chExt cx="10692130" cy="36258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63299" y="690399"/>
            <a:ext cx="1944370" cy="46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05"/>
              </a:lnSpc>
              <a:spcBef>
                <a:spcPts val="100"/>
              </a:spcBef>
            </a:pP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//</a:t>
            </a:r>
            <a:r>
              <a:rPr dirty="0" sz="700" spc="-3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336687"/>
                </a:solidFill>
                <a:latin typeface="Courier New"/>
                <a:cs typeface="Courier New"/>
              </a:rPr>
              <a:t>FUTURE</a:t>
            </a:r>
            <a:r>
              <a:rPr dirty="0" sz="700" spc="-35">
                <a:solidFill>
                  <a:srgbClr val="336687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10">
                <a:solidFill>
                  <a:srgbClr val="336687"/>
                </a:solidFill>
                <a:latin typeface="Courier New"/>
                <a:cs typeface="Courier New"/>
              </a:rPr>
              <a:t>ROADMAP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2745"/>
              </a:lnSpc>
            </a:pP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What's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 xml:space="preserve"> </a:t>
            </a:r>
            <a:r>
              <a:rPr dirty="0" sz="2400" spc="-10" b="1">
                <a:solidFill>
                  <a:srgbClr val="00C8FF"/>
                </a:solidFill>
                <a:latin typeface="Arial"/>
                <a:cs typeface="Arial"/>
              </a:rPr>
              <a:t>Next?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647676" y="1127649"/>
            <a:ext cx="847090" cy="12700"/>
            <a:chOff x="1647676" y="1127649"/>
            <a:chExt cx="847090" cy="12700"/>
          </a:xfrm>
        </p:grpSpPr>
        <p:sp>
          <p:nvSpPr>
            <p:cNvPr id="10" name="object 10"/>
            <p:cNvSpPr/>
            <p:nvPr/>
          </p:nvSpPr>
          <p:spPr>
            <a:xfrm>
              <a:off x="1647676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658260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1C6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668844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3C4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67942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5C3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690013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8C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700597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ABF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711181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CBF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721765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EBC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732349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FBC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742933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1BA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75351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5B8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764102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6B8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774686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8B5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785270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AB5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795854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CB3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806439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FB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817023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1B1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827607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3AF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838191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4AE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848775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6AC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859359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AAA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869944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BA8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88052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DA8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891112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FA5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901696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1A5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912280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4A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922865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6A1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933449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8A1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944033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A9E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954617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B9E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965201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F9C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975785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19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986370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29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996954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49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00753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697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018122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995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028706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B93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2039291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D91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049875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F90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060459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08E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2071043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48E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2081627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68C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2092211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78A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2102796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98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2113380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B8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2123964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D8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213454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608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2145132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628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2155717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6482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2166301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6680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2176885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6980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2187469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6B7E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2198053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6D7C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2208637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6E7B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2219222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707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2229806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727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2240390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7577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2250974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777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226155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797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2272142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7B72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2282727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7E70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2293311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070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2303895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26E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2314479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36D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2325063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56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233564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76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2346232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96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2356816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C6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2367400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8E66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2377984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906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238856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9362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2399153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9560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2409737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9760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2420321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995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2430905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9A5D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2441489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9C5B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2452074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9E59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2462658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159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2473242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356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2483826" y="1127649"/>
              <a:ext cx="10795" cy="12700"/>
            </a:xfrm>
            <a:custGeom>
              <a:avLst/>
              <a:gdLst/>
              <a:ahLst/>
              <a:cxnLst/>
              <a:rect l="l" t="t" r="r" b="b"/>
              <a:pathLst>
                <a:path w="10794" h="12700">
                  <a:moveTo>
                    <a:pt x="0" y="12700"/>
                  </a:moveTo>
                  <a:lnTo>
                    <a:pt x="10584" y="12700"/>
                  </a:lnTo>
                  <a:lnTo>
                    <a:pt x="10584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A556F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/>
          <p:cNvGrpSpPr/>
          <p:nvPr/>
        </p:nvGrpSpPr>
        <p:grpSpPr>
          <a:xfrm>
            <a:off x="575999" y="1252379"/>
            <a:ext cx="2520315" cy="15240"/>
            <a:chOff x="575999" y="1252379"/>
            <a:chExt cx="2520315" cy="15240"/>
          </a:xfrm>
        </p:grpSpPr>
        <p:sp>
          <p:nvSpPr>
            <p:cNvPr id="91" name="object 91"/>
            <p:cNvSpPr/>
            <p:nvPr/>
          </p:nvSpPr>
          <p:spPr>
            <a:xfrm>
              <a:off x="57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07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3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7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701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33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6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796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2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5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890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2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5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85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01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04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079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11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4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17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20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23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268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0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30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33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36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39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42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45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48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52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55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58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61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64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67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71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74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77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80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83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86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89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93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96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99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02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05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208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211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215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218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221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224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227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230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234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237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2403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243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2465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2497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2529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2560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2592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2623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2654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2686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717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749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2781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2812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2843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2875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2906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501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938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29700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3001500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30329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3064499" y="125999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 h="0">
                  <a:moveTo>
                    <a:pt x="0" y="0"/>
                  </a:moveTo>
                  <a:lnTo>
                    <a:pt x="314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1" name="object 171"/>
          <p:cNvGrpSpPr/>
          <p:nvPr/>
        </p:nvGrpSpPr>
        <p:grpSpPr>
          <a:xfrm>
            <a:off x="572824" y="1688825"/>
            <a:ext cx="9546590" cy="618490"/>
            <a:chOff x="572824" y="1688825"/>
            <a:chExt cx="9546590" cy="618490"/>
          </a:xfrm>
        </p:grpSpPr>
        <p:sp>
          <p:nvSpPr>
            <p:cNvPr id="172" name="object 172"/>
            <p:cNvSpPr/>
            <p:nvPr/>
          </p:nvSpPr>
          <p:spPr>
            <a:xfrm>
              <a:off x="575999" y="1692000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899"/>
                  </a:lnTo>
                  <a:lnTo>
                    <a:pt x="2991" y="588737"/>
                  </a:lnTo>
                  <a:lnTo>
                    <a:pt x="11151" y="600847"/>
                  </a:lnTo>
                  <a:lnTo>
                    <a:pt x="23261" y="609007"/>
                  </a:lnTo>
                  <a:lnTo>
                    <a:pt x="38100" y="611999"/>
                  </a:lnTo>
                  <a:lnTo>
                    <a:pt x="9501899" y="611999"/>
                  </a:lnTo>
                  <a:lnTo>
                    <a:pt x="9516738" y="609007"/>
                  </a:lnTo>
                  <a:lnTo>
                    <a:pt x="9528847" y="600847"/>
                  </a:lnTo>
                  <a:lnTo>
                    <a:pt x="9537008" y="588737"/>
                  </a:lnTo>
                  <a:lnTo>
                    <a:pt x="9539999" y="573899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575999" y="1692000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38100" y="611999"/>
                  </a:moveTo>
                  <a:lnTo>
                    <a:pt x="9501899" y="611999"/>
                  </a:lnTo>
                  <a:lnTo>
                    <a:pt x="9516738" y="609007"/>
                  </a:lnTo>
                  <a:lnTo>
                    <a:pt x="9528847" y="600847"/>
                  </a:lnTo>
                  <a:lnTo>
                    <a:pt x="9537008" y="588737"/>
                  </a:lnTo>
                  <a:lnTo>
                    <a:pt x="9539999" y="573899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899"/>
                  </a:lnTo>
                  <a:lnTo>
                    <a:pt x="2991" y="588737"/>
                  </a:lnTo>
                  <a:lnTo>
                    <a:pt x="11151" y="600847"/>
                  </a:lnTo>
                  <a:lnTo>
                    <a:pt x="23261" y="609007"/>
                  </a:lnTo>
                  <a:lnTo>
                    <a:pt x="38100" y="611999"/>
                  </a:lnTo>
                  <a:close/>
                </a:path>
              </a:pathLst>
            </a:custGeom>
            <a:ln w="6350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575999" y="1691999"/>
              <a:ext cx="31750" cy="612140"/>
            </a:xfrm>
            <a:custGeom>
              <a:avLst/>
              <a:gdLst/>
              <a:ahLst/>
              <a:cxnLst/>
              <a:rect l="l" t="t" r="r" b="b"/>
              <a:pathLst>
                <a:path w="31750" h="612139">
                  <a:moveTo>
                    <a:pt x="31750" y="0"/>
                  </a:moveTo>
                  <a:lnTo>
                    <a:pt x="0" y="0"/>
                  </a:lnTo>
                  <a:lnTo>
                    <a:pt x="0" y="612000"/>
                  </a:lnTo>
                  <a:lnTo>
                    <a:pt x="31750" y="612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5" name="object 17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000" y="1872000"/>
              <a:ext cx="252000" cy="251999"/>
            </a:xfrm>
            <a:prstGeom prst="rect">
              <a:avLst/>
            </a:prstGeom>
          </p:spPr>
        </p:pic>
        <p:sp>
          <p:nvSpPr>
            <p:cNvPr id="176" name="object 176"/>
            <p:cNvSpPr/>
            <p:nvPr/>
          </p:nvSpPr>
          <p:spPr>
            <a:xfrm>
              <a:off x="1116000" y="1799999"/>
              <a:ext cx="792480" cy="396240"/>
            </a:xfrm>
            <a:custGeom>
              <a:avLst/>
              <a:gdLst/>
              <a:ahLst/>
              <a:cxnLst/>
              <a:rect l="l" t="t" r="r" b="b"/>
              <a:pathLst>
                <a:path w="792480" h="396239">
                  <a:moveTo>
                    <a:pt x="766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766599" y="395999"/>
                  </a:lnTo>
                  <a:lnTo>
                    <a:pt x="776492" y="394005"/>
                  </a:lnTo>
                  <a:lnTo>
                    <a:pt x="784565" y="388565"/>
                  </a:lnTo>
                  <a:lnTo>
                    <a:pt x="790005" y="380492"/>
                  </a:lnTo>
                  <a:lnTo>
                    <a:pt x="791999" y="370599"/>
                  </a:lnTo>
                  <a:lnTo>
                    <a:pt x="791999" y="25400"/>
                  </a:lnTo>
                  <a:lnTo>
                    <a:pt x="790005" y="15507"/>
                  </a:lnTo>
                  <a:lnTo>
                    <a:pt x="784565" y="7434"/>
                  </a:lnTo>
                  <a:lnTo>
                    <a:pt x="776492" y="1994"/>
                  </a:lnTo>
                  <a:lnTo>
                    <a:pt x="766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7" name="object 177"/>
          <p:cNvSpPr txBox="1"/>
          <p:nvPr/>
        </p:nvSpPr>
        <p:spPr>
          <a:xfrm>
            <a:off x="587112" y="1924999"/>
            <a:ext cx="95313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37870">
              <a:lnSpc>
                <a:spcPct val="100000"/>
              </a:lnSpc>
              <a:spcBef>
                <a:spcPts val="100"/>
              </a:spcBef>
              <a:tabLst>
                <a:tab pos="1500505" algn="l"/>
              </a:tabLst>
            </a:pPr>
            <a:r>
              <a:rPr dirty="0" baseline="-11904" sz="1050" b="1">
                <a:solidFill>
                  <a:srgbClr val="21C45D"/>
                </a:solidFill>
                <a:latin typeface="Courier New"/>
                <a:cs typeface="Courier New"/>
              </a:rPr>
              <a:t>PHASE</a:t>
            </a:r>
            <a:r>
              <a:rPr dirty="0" baseline="-11904" sz="1050" spc="-67" b="1">
                <a:solidFill>
                  <a:srgbClr val="21C45D"/>
                </a:solidFill>
                <a:latin typeface="Courier New"/>
                <a:cs typeface="Courier New"/>
              </a:rPr>
              <a:t xml:space="preserve"> </a:t>
            </a:r>
            <a:r>
              <a:rPr dirty="0" baseline="-11904" sz="1050" spc="-75" b="1">
                <a:solidFill>
                  <a:srgbClr val="21C45D"/>
                </a:solidFill>
                <a:latin typeface="Courier New"/>
                <a:cs typeface="Courier New"/>
              </a:rPr>
              <a:t>1</a:t>
            </a:r>
            <a:r>
              <a:rPr dirty="0" baseline="-11904" sz="1050" b="1">
                <a:solidFill>
                  <a:srgbClr val="21C45D"/>
                </a:solidFill>
                <a:latin typeface="Courier New"/>
                <a:cs typeface="Courier New"/>
              </a:rPr>
              <a:t xml:space="preserve">	</a:t>
            </a:r>
            <a:r>
              <a:rPr dirty="0" sz="900">
                <a:solidFill>
                  <a:srgbClr val="E9E9E9"/>
                </a:solidFill>
                <a:latin typeface="Arial"/>
                <a:cs typeface="Arial"/>
              </a:rPr>
              <a:t xml:space="preserve">Current: 5-level game with Behavioural Analysis Engine — fully </a:t>
            </a:r>
            <a:r>
              <a:rPr dirty="0" sz="900" spc="-10">
                <a:solidFill>
                  <a:srgbClr val="E9E9E9"/>
                </a:solidFill>
                <a:latin typeface="Arial"/>
                <a:cs typeface="Arial"/>
              </a:rPr>
              <a:t>functional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78" name="object 178"/>
          <p:cNvGrpSpPr/>
          <p:nvPr/>
        </p:nvGrpSpPr>
        <p:grpSpPr>
          <a:xfrm>
            <a:off x="572824" y="2408825"/>
            <a:ext cx="9546590" cy="618490"/>
            <a:chOff x="572824" y="2408825"/>
            <a:chExt cx="9546590" cy="618490"/>
          </a:xfrm>
        </p:grpSpPr>
        <p:sp>
          <p:nvSpPr>
            <p:cNvPr id="179" name="object 179"/>
            <p:cNvSpPr/>
            <p:nvPr/>
          </p:nvSpPr>
          <p:spPr>
            <a:xfrm>
              <a:off x="575999" y="2412000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899"/>
                  </a:lnTo>
                  <a:lnTo>
                    <a:pt x="2991" y="588737"/>
                  </a:lnTo>
                  <a:lnTo>
                    <a:pt x="11151" y="600847"/>
                  </a:lnTo>
                  <a:lnTo>
                    <a:pt x="23261" y="609007"/>
                  </a:lnTo>
                  <a:lnTo>
                    <a:pt x="38100" y="611999"/>
                  </a:lnTo>
                  <a:lnTo>
                    <a:pt x="9501899" y="611999"/>
                  </a:lnTo>
                  <a:lnTo>
                    <a:pt x="9516738" y="609007"/>
                  </a:lnTo>
                  <a:lnTo>
                    <a:pt x="9528847" y="600847"/>
                  </a:lnTo>
                  <a:lnTo>
                    <a:pt x="9537008" y="588737"/>
                  </a:lnTo>
                  <a:lnTo>
                    <a:pt x="9539999" y="573899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575999" y="2412000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38100" y="611999"/>
                  </a:moveTo>
                  <a:lnTo>
                    <a:pt x="9501899" y="611999"/>
                  </a:lnTo>
                  <a:lnTo>
                    <a:pt x="9516738" y="609007"/>
                  </a:lnTo>
                  <a:lnTo>
                    <a:pt x="9528847" y="600847"/>
                  </a:lnTo>
                  <a:lnTo>
                    <a:pt x="9537008" y="588737"/>
                  </a:lnTo>
                  <a:lnTo>
                    <a:pt x="9539999" y="573899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899"/>
                  </a:lnTo>
                  <a:lnTo>
                    <a:pt x="2991" y="588737"/>
                  </a:lnTo>
                  <a:lnTo>
                    <a:pt x="11151" y="600847"/>
                  </a:lnTo>
                  <a:lnTo>
                    <a:pt x="23261" y="609007"/>
                  </a:lnTo>
                  <a:lnTo>
                    <a:pt x="38100" y="611999"/>
                  </a:lnTo>
                  <a:close/>
                </a:path>
              </a:pathLst>
            </a:custGeom>
            <a:ln w="635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575999" y="2411999"/>
              <a:ext cx="31750" cy="612140"/>
            </a:xfrm>
            <a:custGeom>
              <a:avLst/>
              <a:gdLst/>
              <a:ahLst/>
              <a:cxnLst/>
              <a:rect l="l" t="t" r="r" b="b"/>
              <a:pathLst>
                <a:path w="31750" h="612139">
                  <a:moveTo>
                    <a:pt x="31750" y="0"/>
                  </a:moveTo>
                  <a:lnTo>
                    <a:pt x="0" y="0"/>
                  </a:lnTo>
                  <a:lnTo>
                    <a:pt x="0" y="612000"/>
                  </a:lnTo>
                  <a:lnTo>
                    <a:pt x="31750" y="612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C8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2" name="object 18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00" y="2591999"/>
              <a:ext cx="252000" cy="251999"/>
            </a:xfrm>
            <a:prstGeom prst="rect">
              <a:avLst/>
            </a:prstGeom>
          </p:spPr>
        </p:pic>
        <p:sp>
          <p:nvSpPr>
            <p:cNvPr id="183" name="object 183"/>
            <p:cNvSpPr/>
            <p:nvPr/>
          </p:nvSpPr>
          <p:spPr>
            <a:xfrm>
              <a:off x="1116000" y="2519999"/>
              <a:ext cx="792480" cy="396240"/>
            </a:xfrm>
            <a:custGeom>
              <a:avLst/>
              <a:gdLst/>
              <a:ahLst/>
              <a:cxnLst/>
              <a:rect l="l" t="t" r="r" b="b"/>
              <a:pathLst>
                <a:path w="792480" h="396239">
                  <a:moveTo>
                    <a:pt x="766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766599" y="395999"/>
                  </a:lnTo>
                  <a:lnTo>
                    <a:pt x="776492" y="394005"/>
                  </a:lnTo>
                  <a:lnTo>
                    <a:pt x="784565" y="388565"/>
                  </a:lnTo>
                  <a:lnTo>
                    <a:pt x="790005" y="380492"/>
                  </a:lnTo>
                  <a:lnTo>
                    <a:pt x="791999" y="370599"/>
                  </a:lnTo>
                  <a:lnTo>
                    <a:pt x="791999" y="25400"/>
                  </a:lnTo>
                  <a:lnTo>
                    <a:pt x="790005" y="15507"/>
                  </a:lnTo>
                  <a:lnTo>
                    <a:pt x="784565" y="7434"/>
                  </a:lnTo>
                  <a:lnTo>
                    <a:pt x="776492" y="1994"/>
                  </a:lnTo>
                  <a:lnTo>
                    <a:pt x="766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4" name="object 184"/>
          <p:cNvSpPr txBox="1"/>
          <p:nvPr/>
        </p:nvSpPr>
        <p:spPr>
          <a:xfrm>
            <a:off x="587112" y="2644999"/>
            <a:ext cx="95313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37870">
              <a:lnSpc>
                <a:spcPct val="100000"/>
              </a:lnSpc>
              <a:spcBef>
                <a:spcPts val="100"/>
              </a:spcBef>
              <a:tabLst>
                <a:tab pos="1500505" algn="l"/>
              </a:tabLst>
            </a:pPr>
            <a:r>
              <a:rPr dirty="0" baseline="-11904" sz="1050" b="1">
                <a:solidFill>
                  <a:srgbClr val="00C8FF"/>
                </a:solidFill>
                <a:latin typeface="Courier New"/>
                <a:cs typeface="Courier New"/>
              </a:rPr>
              <a:t>PHASE</a:t>
            </a:r>
            <a:r>
              <a:rPr dirty="0" baseline="-11904" sz="1050" spc="-67" b="1">
                <a:solidFill>
                  <a:srgbClr val="00C8FF"/>
                </a:solidFill>
                <a:latin typeface="Courier New"/>
                <a:cs typeface="Courier New"/>
              </a:rPr>
              <a:t xml:space="preserve"> </a:t>
            </a:r>
            <a:r>
              <a:rPr dirty="0" baseline="-11904" sz="1050" spc="-75" b="1">
                <a:solidFill>
                  <a:srgbClr val="00C8FF"/>
                </a:solidFill>
                <a:latin typeface="Courier New"/>
                <a:cs typeface="Courier New"/>
              </a:rPr>
              <a:t>2</a:t>
            </a:r>
            <a:r>
              <a:rPr dirty="0" baseline="-11904" sz="1050" b="1">
                <a:solidFill>
                  <a:srgbClr val="00C8FF"/>
                </a:solidFill>
                <a:latin typeface="Courier New"/>
                <a:cs typeface="Courier New"/>
              </a:rPr>
              <a:t xml:space="preserve">	</a:t>
            </a:r>
            <a:r>
              <a:rPr dirty="0" sz="900">
                <a:solidFill>
                  <a:srgbClr val="E9E9E9"/>
                </a:solidFill>
                <a:latin typeface="Arial"/>
                <a:cs typeface="Arial"/>
              </a:rPr>
              <a:t xml:space="preserve">Real-time AI via Claude API for dynamic scenario </a:t>
            </a:r>
            <a:r>
              <a:rPr dirty="0" sz="900" spc="-10">
                <a:solidFill>
                  <a:srgbClr val="E9E9E9"/>
                </a:solidFill>
                <a:latin typeface="Arial"/>
                <a:cs typeface="Arial"/>
              </a:rPr>
              <a:t>generation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85" name="object 185"/>
          <p:cNvGrpSpPr/>
          <p:nvPr/>
        </p:nvGrpSpPr>
        <p:grpSpPr>
          <a:xfrm>
            <a:off x="572824" y="3128824"/>
            <a:ext cx="9546590" cy="618490"/>
            <a:chOff x="572824" y="3128824"/>
            <a:chExt cx="9546590" cy="618490"/>
          </a:xfrm>
        </p:grpSpPr>
        <p:sp>
          <p:nvSpPr>
            <p:cNvPr id="186" name="object 186"/>
            <p:cNvSpPr/>
            <p:nvPr/>
          </p:nvSpPr>
          <p:spPr>
            <a:xfrm>
              <a:off x="575999" y="3131999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900"/>
                  </a:lnTo>
                  <a:lnTo>
                    <a:pt x="2991" y="588738"/>
                  </a:lnTo>
                  <a:lnTo>
                    <a:pt x="11151" y="600848"/>
                  </a:lnTo>
                  <a:lnTo>
                    <a:pt x="23261" y="609008"/>
                  </a:lnTo>
                  <a:lnTo>
                    <a:pt x="38100" y="612000"/>
                  </a:lnTo>
                  <a:lnTo>
                    <a:pt x="9501899" y="612000"/>
                  </a:lnTo>
                  <a:lnTo>
                    <a:pt x="9516738" y="609008"/>
                  </a:lnTo>
                  <a:lnTo>
                    <a:pt x="9528847" y="600848"/>
                  </a:lnTo>
                  <a:lnTo>
                    <a:pt x="9537008" y="588738"/>
                  </a:lnTo>
                  <a:lnTo>
                    <a:pt x="9539999" y="573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575999" y="3131999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38100" y="612000"/>
                  </a:moveTo>
                  <a:lnTo>
                    <a:pt x="9501899" y="612000"/>
                  </a:lnTo>
                  <a:lnTo>
                    <a:pt x="9516738" y="609008"/>
                  </a:lnTo>
                  <a:lnTo>
                    <a:pt x="9528847" y="600848"/>
                  </a:lnTo>
                  <a:lnTo>
                    <a:pt x="9537008" y="588738"/>
                  </a:lnTo>
                  <a:lnTo>
                    <a:pt x="9539999" y="573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900"/>
                  </a:lnTo>
                  <a:lnTo>
                    <a:pt x="2991" y="588738"/>
                  </a:lnTo>
                  <a:lnTo>
                    <a:pt x="11151" y="600848"/>
                  </a:lnTo>
                  <a:lnTo>
                    <a:pt x="23261" y="609008"/>
                  </a:lnTo>
                  <a:lnTo>
                    <a:pt x="38100" y="612000"/>
                  </a:lnTo>
                  <a:close/>
                </a:path>
              </a:pathLst>
            </a:custGeom>
            <a:ln w="6350">
              <a:solidFill>
                <a:srgbClr val="A8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575999" y="3132000"/>
              <a:ext cx="31750" cy="612140"/>
            </a:xfrm>
            <a:custGeom>
              <a:avLst/>
              <a:gdLst/>
              <a:ahLst/>
              <a:cxnLst/>
              <a:rect l="l" t="t" r="r" b="b"/>
              <a:pathLst>
                <a:path w="31750" h="612139">
                  <a:moveTo>
                    <a:pt x="31750" y="0"/>
                  </a:moveTo>
                  <a:lnTo>
                    <a:pt x="0" y="0"/>
                  </a:lnTo>
                  <a:lnTo>
                    <a:pt x="0" y="612000"/>
                  </a:lnTo>
                  <a:lnTo>
                    <a:pt x="31750" y="612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9" name="object 18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8000" y="3311999"/>
              <a:ext cx="252000" cy="251999"/>
            </a:xfrm>
            <a:prstGeom prst="rect">
              <a:avLst/>
            </a:prstGeom>
          </p:spPr>
        </p:pic>
        <p:sp>
          <p:nvSpPr>
            <p:cNvPr id="190" name="object 190"/>
            <p:cNvSpPr/>
            <p:nvPr/>
          </p:nvSpPr>
          <p:spPr>
            <a:xfrm>
              <a:off x="1116000" y="3239999"/>
              <a:ext cx="792480" cy="396240"/>
            </a:xfrm>
            <a:custGeom>
              <a:avLst/>
              <a:gdLst/>
              <a:ahLst/>
              <a:cxnLst/>
              <a:rect l="l" t="t" r="r" b="b"/>
              <a:pathLst>
                <a:path w="792480" h="396239">
                  <a:moveTo>
                    <a:pt x="766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766599" y="395999"/>
                  </a:lnTo>
                  <a:lnTo>
                    <a:pt x="776492" y="394005"/>
                  </a:lnTo>
                  <a:lnTo>
                    <a:pt x="784565" y="388565"/>
                  </a:lnTo>
                  <a:lnTo>
                    <a:pt x="790005" y="380492"/>
                  </a:lnTo>
                  <a:lnTo>
                    <a:pt x="791999" y="370599"/>
                  </a:lnTo>
                  <a:lnTo>
                    <a:pt x="791999" y="25400"/>
                  </a:lnTo>
                  <a:lnTo>
                    <a:pt x="790005" y="15507"/>
                  </a:lnTo>
                  <a:lnTo>
                    <a:pt x="784565" y="7434"/>
                  </a:lnTo>
                  <a:lnTo>
                    <a:pt x="776492" y="1994"/>
                  </a:lnTo>
                  <a:lnTo>
                    <a:pt x="766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1" name="object 191"/>
          <p:cNvSpPr txBox="1"/>
          <p:nvPr/>
        </p:nvSpPr>
        <p:spPr>
          <a:xfrm>
            <a:off x="587112" y="3364999"/>
            <a:ext cx="95313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37870">
              <a:lnSpc>
                <a:spcPct val="100000"/>
              </a:lnSpc>
              <a:spcBef>
                <a:spcPts val="100"/>
              </a:spcBef>
              <a:tabLst>
                <a:tab pos="1500505" algn="l"/>
              </a:tabLst>
            </a:pPr>
            <a:r>
              <a:rPr dirty="0" baseline="-11904" sz="1050" b="1">
                <a:solidFill>
                  <a:srgbClr val="A854F6"/>
                </a:solidFill>
                <a:latin typeface="Courier New"/>
                <a:cs typeface="Courier New"/>
              </a:rPr>
              <a:t>PHASE</a:t>
            </a:r>
            <a:r>
              <a:rPr dirty="0" baseline="-11904" sz="1050" spc="-67" b="1">
                <a:solidFill>
                  <a:srgbClr val="A854F6"/>
                </a:solidFill>
                <a:latin typeface="Courier New"/>
                <a:cs typeface="Courier New"/>
              </a:rPr>
              <a:t xml:space="preserve"> </a:t>
            </a:r>
            <a:r>
              <a:rPr dirty="0" baseline="-11904" sz="1050" spc="-75" b="1">
                <a:solidFill>
                  <a:srgbClr val="A854F6"/>
                </a:solidFill>
                <a:latin typeface="Courier New"/>
                <a:cs typeface="Courier New"/>
              </a:rPr>
              <a:t>3</a:t>
            </a:r>
            <a:r>
              <a:rPr dirty="0" baseline="-11904" sz="1050" b="1">
                <a:solidFill>
                  <a:srgbClr val="A854F6"/>
                </a:solidFill>
                <a:latin typeface="Courier New"/>
                <a:cs typeface="Courier New"/>
              </a:rPr>
              <a:t xml:space="preserve">	</a:t>
            </a:r>
            <a:r>
              <a:rPr dirty="0" sz="900">
                <a:solidFill>
                  <a:srgbClr val="E9E9E9"/>
                </a:solidFill>
                <a:latin typeface="Arial"/>
                <a:cs typeface="Arial"/>
              </a:rPr>
              <a:t xml:space="preserve">Multiplayer competitive mode — teams compete in real </a:t>
            </a:r>
            <a:r>
              <a:rPr dirty="0" sz="900" spc="-20">
                <a:solidFill>
                  <a:srgbClr val="E9E9E9"/>
                </a:solidFill>
                <a:latin typeface="Arial"/>
                <a:cs typeface="Arial"/>
              </a:rPr>
              <a:t>time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92" name="object 192"/>
          <p:cNvGrpSpPr/>
          <p:nvPr/>
        </p:nvGrpSpPr>
        <p:grpSpPr>
          <a:xfrm>
            <a:off x="572824" y="3848824"/>
            <a:ext cx="9546590" cy="618490"/>
            <a:chOff x="572824" y="3848824"/>
            <a:chExt cx="9546590" cy="618490"/>
          </a:xfrm>
        </p:grpSpPr>
        <p:sp>
          <p:nvSpPr>
            <p:cNvPr id="193" name="object 193"/>
            <p:cNvSpPr/>
            <p:nvPr/>
          </p:nvSpPr>
          <p:spPr>
            <a:xfrm>
              <a:off x="575999" y="3851999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900"/>
                  </a:lnTo>
                  <a:lnTo>
                    <a:pt x="2991" y="588738"/>
                  </a:lnTo>
                  <a:lnTo>
                    <a:pt x="11151" y="600848"/>
                  </a:lnTo>
                  <a:lnTo>
                    <a:pt x="23261" y="609008"/>
                  </a:lnTo>
                  <a:lnTo>
                    <a:pt x="38100" y="612000"/>
                  </a:lnTo>
                  <a:lnTo>
                    <a:pt x="9501899" y="612000"/>
                  </a:lnTo>
                  <a:lnTo>
                    <a:pt x="9516738" y="609008"/>
                  </a:lnTo>
                  <a:lnTo>
                    <a:pt x="9528847" y="600848"/>
                  </a:lnTo>
                  <a:lnTo>
                    <a:pt x="9537008" y="588738"/>
                  </a:lnTo>
                  <a:lnTo>
                    <a:pt x="9539999" y="573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575999" y="3851999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38100" y="612000"/>
                  </a:moveTo>
                  <a:lnTo>
                    <a:pt x="9501899" y="612000"/>
                  </a:lnTo>
                  <a:lnTo>
                    <a:pt x="9516738" y="609008"/>
                  </a:lnTo>
                  <a:lnTo>
                    <a:pt x="9528847" y="600848"/>
                  </a:lnTo>
                  <a:lnTo>
                    <a:pt x="9537008" y="588738"/>
                  </a:lnTo>
                  <a:lnTo>
                    <a:pt x="9539999" y="573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900"/>
                  </a:lnTo>
                  <a:lnTo>
                    <a:pt x="2991" y="588738"/>
                  </a:lnTo>
                  <a:lnTo>
                    <a:pt x="11151" y="600848"/>
                  </a:lnTo>
                  <a:lnTo>
                    <a:pt x="23261" y="609008"/>
                  </a:lnTo>
                  <a:lnTo>
                    <a:pt x="38100" y="612000"/>
                  </a:lnTo>
                  <a:close/>
                </a:path>
              </a:pathLst>
            </a:custGeom>
            <a:ln w="6349">
              <a:solidFill>
                <a:srgbClr val="F9CC1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575999" y="3852000"/>
              <a:ext cx="31750" cy="612140"/>
            </a:xfrm>
            <a:custGeom>
              <a:avLst/>
              <a:gdLst/>
              <a:ahLst/>
              <a:cxnLst/>
              <a:rect l="l" t="t" r="r" b="b"/>
              <a:pathLst>
                <a:path w="31750" h="612139">
                  <a:moveTo>
                    <a:pt x="31750" y="0"/>
                  </a:moveTo>
                  <a:lnTo>
                    <a:pt x="0" y="0"/>
                  </a:lnTo>
                  <a:lnTo>
                    <a:pt x="0" y="612000"/>
                  </a:lnTo>
                  <a:lnTo>
                    <a:pt x="31750" y="612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F9CC1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6" name="object 19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8000" y="4031999"/>
              <a:ext cx="252000" cy="251999"/>
            </a:xfrm>
            <a:prstGeom prst="rect">
              <a:avLst/>
            </a:prstGeom>
          </p:spPr>
        </p:pic>
        <p:sp>
          <p:nvSpPr>
            <p:cNvPr id="197" name="object 197"/>
            <p:cNvSpPr/>
            <p:nvPr/>
          </p:nvSpPr>
          <p:spPr>
            <a:xfrm>
              <a:off x="1116000" y="3959999"/>
              <a:ext cx="792480" cy="396240"/>
            </a:xfrm>
            <a:custGeom>
              <a:avLst/>
              <a:gdLst/>
              <a:ahLst/>
              <a:cxnLst/>
              <a:rect l="l" t="t" r="r" b="b"/>
              <a:pathLst>
                <a:path w="792480" h="396239">
                  <a:moveTo>
                    <a:pt x="766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766599" y="395999"/>
                  </a:lnTo>
                  <a:lnTo>
                    <a:pt x="776492" y="394005"/>
                  </a:lnTo>
                  <a:lnTo>
                    <a:pt x="784565" y="388565"/>
                  </a:lnTo>
                  <a:lnTo>
                    <a:pt x="790005" y="380492"/>
                  </a:lnTo>
                  <a:lnTo>
                    <a:pt x="791999" y="370599"/>
                  </a:lnTo>
                  <a:lnTo>
                    <a:pt x="791999" y="25400"/>
                  </a:lnTo>
                  <a:lnTo>
                    <a:pt x="790005" y="15507"/>
                  </a:lnTo>
                  <a:lnTo>
                    <a:pt x="784565" y="7434"/>
                  </a:lnTo>
                  <a:lnTo>
                    <a:pt x="776492" y="1994"/>
                  </a:lnTo>
                  <a:lnTo>
                    <a:pt x="766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8" name="object 198"/>
          <p:cNvSpPr txBox="1"/>
          <p:nvPr/>
        </p:nvSpPr>
        <p:spPr>
          <a:xfrm>
            <a:off x="587112" y="4085000"/>
            <a:ext cx="95313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37870">
              <a:lnSpc>
                <a:spcPct val="100000"/>
              </a:lnSpc>
              <a:spcBef>
                <a:spcPts val="100"/>
              </a:spcBef>
              <a:tabLst>
                <a:tab pos="1500505" algn="l"/>
              </a:tabLst>
            </a:pPr>
            <a:r>
              <a:rPr dirty="0" baseline="-11904" sz="1050" b="1">
                <a:solidFill>
                  <a:srgbClr val="F9CC15"/>
                </a:solidFill>
                <a:latin typeface="Courier New"/>
                <a:cs typeface="Courier New"/>
              </a:rPr>
              <a:t>PHASE</a:t>
            </a:r>
            <a:r>
              <a:rPr dirty="0" baseline="-11904" sz="1050" spc="-67" b="1">
                <a:solidFill>
                  <a:srgbClr val="F9CC15"/>
                </a:solidFill>
                <a:latin typeface="Courier New"/>
                <a:cs typeface="Courier New"/>
              </a:rPr>
              <a:t xml:space="preserve"> </a:t>
            </a:r>
            <a:r>
              <a:rPr dirty="0" baseline="-11904" sz="1050" spc="-75" b="1">
                <a:solidFill>
                  <a:srgbClr val="F9CC15"/>
                </a:solidFill>
                <a:latin typeface="Courier New"/>
                <a:cs typeface="Courier New"/>
              </a:rPr>
              <a:t>4</a:t>
            </a:r>
            <a:r>
              <a:rPr dirty="0" baseline="-11904" sz="1050" b="1">
                <a:solidFill>
                  <a:srgbClr val="F9CC15"/>
                </a:solidFill>
                <a:latin typeface="Courier New"/>
                <a:cs typeface="Courier New"/>
              </a:rPr>
              <a:t xml:space="preserve">	</a:t>
            </a:r>
            <a:r>
              <a:rPr dirty="0" sz="900">
                <a:solidFill>
                  <a:srgbClr val="E9E9E9"/>
                </a:solidFill>
                <a:latin typeface="Arial"/>
                <a:cs typeface="Arial"/>
              </a:rPr>
              <a:t>School</a:t>
            </a:r>
            <a:r>
              <a:rPr dirty="0" sz="900" spc="-10">
                <a:solidFill>
                  <a:srgbClr val="E9E9E9"/>
                </a:solidFill>
                <a:latin typeface="Arial"/>
                <a:cs typeface="Arial"/>
              </a:rPr>
              <a:t xml:space="preserve"> </a:t>
            </a:r>
            <a:r>
              <a:rPr dirty="0" sz="900">
                <a:solidFill>
                  <a:srgbClr val="E9E9E9"/>
                </a:solidFill>
                <a:latin typeface="Arial"/>
                <a:cs typeface="Arial"/>
              </a:rPr>
              <a:t xml:space="preserve">curriculum integration + digital certificate </a:t>
            </a:r>
            <a:r>
              <a:rPr dirty="0" sz="900" spc="-10">
                <a:solidFill>
                  <a:srgbClr val="E9E9E9"/>
                </a:solidFill>
                <a:latin typeface="Arial"/>
                <a:cs typeface="Arial"/>
              </a:rPr>
              <a:t>system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99" name="object 199"/>
          <p:cNvGrpSpPr/>
          <p:nvPr/>
        </p:nvGrpSpPr>
        <p:grpSpPr>
          <a:xfrm>
            <a:off x="572824" y="4568824"/>
            <a:ext cx="9546590" cy="618490"/>
            <a:chOff x="572824" y="4568824"/>
            <a:chExt cx="9546590" cy="618490"/>
          </a:xfrm>
        </p:grpSpPr>
        <p:sp>
          <p:nvSpPr>
            <p:cNvPr id="200" name="object 200"/>
            <p:cNvSpPr/>
            <p:nvPr/>
          </p:nvSpPr>
          <p:spPr>
            <a:xfrm>
              <a:off x="575999" y="4571999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9501899" y="0"/>
                  </a:move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900"/>
                  </a:lnTo>
                  <a:lnTo>
                    <a:pt x="2991" y="588738"/>
                  </a:lnTo>
                  <a:lnTo>
                    <a:pt x="11151" y="600848"/>
                  </a:lnTo>
                  <a:lnTo>
                    <a:pt x="23261" y="609008"/>
                  </a:lnTo>
                  <a:lnTo>
                    <a:pt x="38100" y="612000"/>
                  </a:lnTo>
                  <a:lnTo>
                    <a:pt x="9501899" y="612000"/>
                  </a:lnTo>
                  <a:lnTo>
                    <a:pt x="9516738" y="609008"/>
                  </a:lnTo>
                  <a:lnTo>
                    <a:pt x="9528847" y="600848"/>
                  </a:lnTo>
                  <a:lnTo>
                    <a:pt x="9537008" y="588738"/>
                  </a:lnTo>
                  <a:lnTo>
                    <a:pt x="9539999" y="573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close/>
                </a:path>
              </a:pathLst>
            </a:custGeom>
            <a:solidFill>
              <a:srgbClr val="0C15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575999" y="4571999"/>
              <a:ext cx="9540240" cy="612140"/>
            </a:xfrm>
            <a:custGeom>
              <a:avLst/>
              <a:gdLst/>
              <a:ahLst/>
              <a:cxnLst/>
              <a:rect l="l" t="t" r="r" b="b"/>
              <a:pathLst>
                <a:path w="9540240" h="612139">
                  <a:moveTo>
                    <a:pt x="38100" y="612000"/>
                  </a:moveTo>
                  <a:lnTo>
                    <a:pt x="9501899" y="612000"/>
                  </a:lnTo>
                  <a:lnTo>
                    <a:pt x="9516738" y="609008"/>
                  </a:lnTo>
                  <a:lnTo>
                    <a:pt x="9528847" y="600848"/>
                  </a:lnTo>
                  <a:lnTo>
                    <a:pt x="9537008" y="588738"/>
                  </a:lnTo>
                  <a:lnTo>
                    <a:pt x="9539999" y="573900"/>
                  </a:lnTo>
                  <a:lnTo>
                    <a:pt x="9539999" y="38100"/>
                  </a:lnTo>
                  <a:lnTo>
                    <a:pt x="9537008" y="23261"/>
                  </a:lnTo>
                  <a:lnTo>
                    <a:pt x="9528847" y="11151"/>
                  </a:lnTo>
                  <a:lnTo>
                    <a:pt x="9516738" y="2991"/>
                  </a:lnTo>
                  <a:lnTo>
                    <a:pt x="9501899" y="0"/>
                  </a:lnTo>
                  <a:lnTo>
                    <a:pt x="38100" y="0"/>
                  </a:lnTo>
                  <a:lnTo>
                    <a:pt x="23261" y="2991"/>
                  </a:lnTo>
                  <a:lnTo>
                    <a:pt x="11151" y="11151"/>
                  </a:lnTo>
                  <a:lnTo>
                    <a:pt x="2991" y="23261"/>
                  </a:lnTo>
                  <a:lnTo>
                    <a:pt x="0" y="38100"/>
                  </a:lnTo>
                  <a:lnTo>
                    <a:pt x="0" y="573900"/>
                  </a:lnTo>
                  <a:lnTo>
                    <a:pt x="2991" y="588738"/>
                  </a:lnTo>
                  <a:lnTo>
                    <a:pt x="11151" y="600848"/>
                  </a:lnTo>
                  <a:lnTo>
                    <a:pt x="23261" y="609008"/>
                  </a:lnTo>
                  <a:lnTo>
                    <a:pt x="38100" y="612000"/>
                  </a:lnTo>
                  <a:close/>
                </a:path>
              </a:pathLst>
            </a:custGeom>
            <a:ln w="6349">
              <a:solidFill>
                <a:srgbClr val="FF3B3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575999" y="4571999"/>
              <a:ext cx="31750" cy="612140"/>
            </a:xfrm>
            <a:custGeom>
              <a:avLst/>
              <a:gdLst/>
              <a:ahLst/>
              <a:cxnLst/>
              <a:rect l="l" t="t" r="r" b="b"/>
              <a:pathLst>
                <a:path w="31750" h="612139">
                  <a:moveTo>
                    <a:pt x="31750" y="0"/>
                  </a:moveTo>
                  <a:lnTo>
                    <a:pt x="0" y="0"/>
                  </a:lnTo>
                  <a:lnTo>
                    <a:pt x="0" y="612000"/>
                  </a:lnTo>
                  <a:lnTo>
                    <a:pt x="31750" y="612000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FF3B3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3" name="object 20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8000" y="4751999"/>
              <a:ext cx="252000" cy="252001"/>
            </a:xfrm>
            <a:prstGeom prst="rect">
              <a:avLst/>
            </a:prstGeom>
          </p:spPr>
        </p:pic>
        <p:sp>
          <p:nvSpPr>
            <p:cNvPr id="204" name="object 204"/>
            <p:cNvSpPr/>
            <p:nvPr/>
          </p:nvSpPr>
          <p:spPr>
            <a:xfrm>
              <a:off x="1116000" y="4679999"/>
              <a:ext cx="792480" cy="396240"/>
            </a:xfrm>
            <a:custGeom>
              <a:avLst/>
              <a:gdLst/>
              <a:ahLst/>
              <a:cxnLst/>
              <a:rect l="l" t="t" r="r" b="b"/>
              <a:pathLst>
                <a:path w="792480" h="396239">
                  <a:moveTo>
                    <a:pt x="766599" y="0"/>
                  </a:moveTo>
                  <a:lnTo>
                    <a:pt x="25400" y="0"/>
                  </a:lnTo>
                  <a:lnTo>
                    <a:pt x="15507" y="1994"/>
                  </a:lnTo>
                  <a:lnTo>
                    <a:pt x="7434" y="7434"/>
                  </a:lnTo>
                  <a:lnTo>
                    <a:pt x="1994" y="15507"/>
                  </a:lnTo>
                  <a:lnTo>
                    <a:pt x="0" y="25400"/>
                  </a:lnTo>
                  <a:lnTo>
                    <a:pt x="0" y="370599"/>
                  </a:lnTo>
                  <a:lnTo>
                    <a:pt x="1994" y="380492"/>
                  </a:lnTo>
                  <a:lnTo>
                    <a:pt x="7434" y="388565"/>
                  </a:lnTo>
                  <a:lnTo>
                    <a:pt x="15507" y="394005"/>
                  </a:lnTo>
                  <a:lnTo>
                    <a:pt x="25400" y="395999"/>
                  </a:lnTo>
                  <a:lnTo>
                    <a:pt x="766599" y="395999"/>
                  </a:lnTo>
                  <a:lnTo>
                    <a:pt x="776492" y="394005"/>
                  </a:lnTo>
                  <a:lnTo>
                    <a:pt x="784565" y="388565"/>
                  </a:lnTo>
                  <a:lnTo>
                    <a:pt x="790005" y="380492"/>
                  </a:lnTo>
                  <a:lnTo>
                    <a:pt x="791999" y="370599"/>
                  </a:lnTo>
                  <a:lnTo>
                    <a:pt x="791999" y="25400"/>
                  </a:lnTo>
                  <a:lnTo>
                    <a:pt x="790005" y="15507"/>
                  </a:lnTo>
                  <a:lnTo>
                    <a:pt x="784565" y="7434"/>
                  </a:lnTo>
                  <a:lnTo>
                    <a:pt x="776492" y="1994"/>
                  </a:lnTo>
                  <a:lnTo>
                    <a:pt x="766599" y="0"/>
                  </a:lnTo>
                  <a:close/>
                </a:path>
              </a:pathLst>
            </a:custGeom>
            <a:solidFill>
              <a:srgbClr val="0A1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5" name="object 205"/>
          <p:cNvSpPr txBox="1"/>
          <p:nvPr/>
        </p:nvSpPr>
        <p:spPr>
          <a:xfrm>
            <a:off x="587112" y="4805000"/>
            <a:ext cx="95313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37870">
              <a:lnSpc>
                <a:spcPct val="100000"/>
              </a:lnSpc>
              <a:spcBef>
                <a:spcPts val="100"/>
              </a:spcBef>
              <a:tabLst>
                <a:tab pos="1500505" algn="l"/>
              </a:tabLst>
            </a:pPr>
            <a:r>
              <a:rPr dirty="0" baseline="-11904" sz="1050" b="1">
                <a:solidFill>
                  <a:srgbClr val="FF3B3B"/>
                </a:solidFill>
                <a:latin typeface="Courier New"/>
                <a:cs typeface="Courier New"/>
              </a:rPr>
              <a:t>PHASE</a:t>
            </a:r>
            <a:r>
              <a:rPr dirty="0" baseline="-11904" sz="1050" spc="-67" b="1">
                <a:solidFill>
                  <a:srgbClr val="FF3B3B"/>
                </a:solidFill>
                <a:latin typeface="Courier New"/>
                <a:cs typeface="Courier New"/>
              </a:rPr>
              <a:t xml:space="preserve"> </a:t>
            </a:r>
            <a:r>
              <a:rPr dirty="0" baseline="-11904" sz="1050" spc="-75" b="1">
                <a:solidFill>
                  <a:srgbClr val="FF3B3B"/>
                </a:solidFill>
                <a:latin typeface="Courier New"/>
                <a:cs typeface="Courier New"/>
              </a:rPr>
              <a:t>5</a:t>
            </a:r>
            <a:r>
              <a:rPr dirty="0" baseline="-11904" sz="1050" b="1">
                <a:solidFill>
                  <a:srgbClr val="FF3B3B"/>
                </a:solidFill>
                <a:latin typeface="Courier New"/>
                <a:cs typeface="Courier New"/>
              </a:rPr>
              <a:t xml:space="preserve">	</a:t>
            </a:r>
            <a:r>
              <a:rPr dirty="0" sz="900">
                <a:solidFill>
                  <a:srgbClr val="E9E9E9"/>
                </a:solidFill>
                <a:latin typeface="Arial"/>
                <a:cs typeface="Arial"/>
              </a:rPr>
              <a:t xml:space="preserve">React Native mobile app — available on iOS &amp; </a:t>
            </a:r>
            <a:r>
              <a:rPr dirty="0" sz="900" spc="-10">
                <a:solidFill>
                  <a:srgbClr val="E9E9E9"/>
                </a:solidFill>
                <a:latin typeface="Arial"/>
                <a:cs typeface="Arial"/>
              </a:rPr>
              <a:t>Android</a:t>
            </a:r>
            <a:endParaRPr sz="900">
              <a:latin typeface="Arial"/>
              <a:cs typeface="Arial"/>
            </a:endParaRPr>
          </a:p>
        </p:txBody>
      </p:sp>
      <p:sp>
        <p:nvSpPr>
          <p:cNvPr id="206" name="object 20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/>
              <a:t xml:space="preserve">CYBER SHIELD // WOMEN TECHSTERS BOOTCAMP · COHORT 5.0 · GROUP </a:t>
            </a:r>
            <a:r>
              <a:rPr dirty="0" spc="-25"/>
              <a:t>45</a:t>
            </a:r>
          </a:p>
        </p:txBody>
      </p:sp>
      <p:sp>
        <p:nvSpPr>
          <p:cNvPr id="207" name="object 20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299" y="216049"/>
            <a:ext cx="71183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00C8FF"/>
                </a:solidFill>
                <a:latin typeface="Courier New"/>
                <a:cs typeface="Courier New"/>
              </a:rPr>
              <a:t xml:space="preserve">CYBER </a:t>
            </a:r>
            <a:r>
              <a:rPr dirty="0" sz="750" spc="-10">
                <a:solidFill>
                  <a:srgbClr val="00C8FF"/>
                </a:solidFill>
                <a:latin typeface="Courier New"/>
                <a:cs typeface="Courier New"/>
              </a:rPr>
              <a:t>SHIELD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299" y="216049"/>
            <a:ext cx="291338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750" spc="-2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750">
                <a:solidFill>
                  <a:srgbClr val="445466"/>
                </a:solidFill>
                <a:latin typeface="Courier New"/>
                <a:cs typeface="Courier New"/>
              </a:rPr>
              <a:t xml:space="preserve">WOMEN TECHSTERS BOOTCAMP · COHORT 5.0 · GROUP </a:t>
            </a:r>
            <a:r>
              <a:rPr dirty="0" sz="750" spc="-25">
                <a:solidFill>
                  <a:srgbClr val="445466"/>
                </a:solidFill>
                <a:latin typeface="Courier New"/>
                <a:cs typeface="Courier New"/>
              </a:rPr>
              <a:t>45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3249" y="216049"/>
            <a:ext cx="426084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1D3F60"/>
                </a:solidFill>
                <a:latin typeface="Courier New"/>
                <a:cs typeface="Courier New"/>
              </a:rPr>
              <a:t xml:space="preserve">10 / </a:t>
            </a:r>
            <a:r>
              <a:rPr dirty="0" sz="750" spc="-25">
                <a:solidFill>
                  <a:srgbClr val="1D3F60"/>
                </a:solidFill>
                <a:latin typeface="Courier New"/>
                <a:cs typeface="Courier New"/>
              </a:rPr>
              <a:t>10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197459"/>
            <a:ext cx="10692130" cy="362585"/>
            <a:chOff x="0" y="7197459"/>
            <a:chExt cx="10692130" cy="362585"/>
          </a:xfrm>
        </p:grpSpPr>
        <p:sp>
          <p:nvSpPr>
            <p:cNvPr id="6" name="object 6"/>
            <p:cNvSpPr/>
            <p:nvPr/>
          </p:nvSpPr>
          <p:spPr>
            <a:xfrm>
              <a:off x="0" y="7199999"/>
              <a:ext cx="10692130" cy="360045"/>
            </a:xfrm>
            <a:custGeom>
              <a:avLst/>
              <a:gdLst/>
              <a:ahLst/>
              <a:cxnLst/>
              <a:rect l="l" t="t" r="r" b="b"/>
              <a:pathLst>
                <a:path w="10692130" h="360045">
                  <a:moveTo>
                    <a:pt x="10692000" y="0"/>
                  </a:moveTo>
                  <a:lnTo>
                    <a:pt x="0" y="0"/>
                  </a:lnTo>
                  <a:lnTo>
                    <a:pt x="0" y="360000"/>
                  </a:lnTo>
                  <a:lnTo>
                    <a:pt x="10692000" y="360000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0303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7199999"/>
              <a:ext cx="10692130" cy="0"/>
            </a:xfrm>
            <a:custGeom>
              <a:avLst/>
              <a:gdLst/>
              <a:ahLst/>
              <a:cxnLst/>
              <a:rect l="l" t="t" r="r" b="b"/>
              <a:pathLst>
                <a:path w="10692130" h="0">
                  <a:moveTo>
                    <a:pt x="0" y="0"/>
                  </a:moveTo>
                  <a:lnTo>
                    <a:pt x="10692000" y="0"/>
                  </a:lnTo>
                </a:path>
              </a:pathLst>
            </a:custGeom>
            <a:ln w="5080">
              <a:solidFill>
                <a:srgbClr val="0A1F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1999" y="2267999"/>
            <a:ext cx="1367999" cy="13679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470972" y="3737699"/>
            <a:ext cx="3750310" cy="875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334454"/>
                </a:solidFill>
                <a:latin typeface="Courier New"/>
                <a:cs typeface="Courier New"/>
              </a:rPr>
              <a:t>//</a:t>
            </a:r>
            <a:r>
              <a:rPr dirty="0" sz="800" spc="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800">
                <a:solidFill>
                  <a:srgbClr val="334454"/>
                </a:solidFill>
                <a:latin typeface="Courier New"/>
                <a:cs typeface="Courier New"/>
              </a:rPr>
              <a:t>CLOSING</a:t>
            </a:r>
            <a:r>
              <a:rPr dirty="0" sz="800" spc="20">
                <a:solidFill>
                  <a:srgbClr val="334454"/>
                </a:solidFill>
                <a:latin typeface="Courier New"/>
                <a:cs typeface="Courier New"/>
              </a:rPr>
              <a:t xml:space="preserve"> </a:t>
            </a:r>
            <a:r>
              <a:rPr dirty="0" sz="800" spc="-10">
                <a:solidFill>
                  <a:srgbClr val="334454"/>
                </a:solidFill>
                <a:latin typeface="Courier New"/>
                <a:cs typeface="Courier New"/>
              </a:rPr>
              <a:t>STATEMENT</a:t>
            </a:r>
            <a:endParaRPr sz="8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dirty="0" sz="3200" b="1">
                <a:solidFill>
                  <a:srgbClr val="00C8FF"/>
                </a:solidFill>
                <a:latin typeface="Arial"/>
                <a:cs typeface="Arial"/>
              </a:rPr>
              <a:t>HUMAN</a:t>
            </a:r>
            <a:r>
              <a:rPr dirty="0" sz="3200" spc="-120" b="1">
                <a:solidFill>
                  <a:srgbClr val="00C8FF"/>
                </a:solidFill>
                <a:latin typeface="Arial"/>
                <a:cs typeface="Arial"/>
              </a:rPr>
              <a:t xml:space="preserve"> </a:t>
            </a:r>
            <a:r>
              <a:rPr dirty="0" sz="3200" spc="-10" b="1">
                <a:solidFill>
                  <a:srgbClr val="00C8FF"/>
                </a:solidFill>
                <a:latin typeface="Arial"/>
                <a:cs typeface="Arial"/>
              </a:rPr>
              <a:t>FIREWALL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30"/>
              </a:spcBef>
            </a:pPr>
            <a:r>
              <a:rPr dirty="0" sz="1100">
                <a:solidFill>
                  <a:srgbClr val="A78AF9"/>
                </a:solidFill>
                <a:latin typeface="Arial"/>
                <a:cs typeface="Arial"/>
              </a:rPr>
              <a:t>CHALLENGE</a:t>
            </a:r>
            <a:r>
              <a:rPr dirty="0" sz="1100" spc="-70">
                <a:solidFill>
                  <a:srgbClr val="A78AF9"/>
                </a:solidFill>
                <a:latin typeface="Arial"/>
                <a:cs typeface="Arial"/>
              </a:rPr>
              <a:t xml:space="preserve"> </a:t>
            </a:r>
            <a:r>
              <a:rPr dirty="0" sz="1100" spc="-10">
                <a:solidFill>
                  <a:srgbClr val="A78AF9"/>
                </a:solidFill>
                <a:latin typeface="Arial"/>
                <a:cs typeface="Arial"/>
              </a:rPr>
              <a:t>ACCEPTED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545999" y="4708380"/>
            <a:ext cx="3600450" cy="15240"/>
            <a:chOff x="3545999" y="4708380"/>
            <a:chExt cx="3600450" cy="15240"/>
          </a:xfrm>
        </p:grpSpPr>
        <p:sp>
          <p:nvSpPr>
            <p:cNvPr id="11" name="object 11"/>
            <p:cNvSpPr/>
            <p:nvPr/>
          </p:nvSpPr>
          <p:spPr>
            <a:xfrm>
              <a:off x="354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00C8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59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01C6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63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03C4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68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05C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72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08C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77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0A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81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0CB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86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ln w="15240">
              <a:solidFill>
                <a:srgbClr val="0E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90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0FB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95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11B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99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15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04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16B8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08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18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13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1AB5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17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1CB3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22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1F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26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21B1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31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23AF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35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24AE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40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26AC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44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2AAAF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49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ln w="15240">
              <a:solidFill>
                <a:srgbClr val="2B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53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2DA8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58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2F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62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31A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67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34A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71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36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76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38A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80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3A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85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3B9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89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3F9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94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41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98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429A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503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44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07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4697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512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ln w="15240">
              <a:solidFill>
                <a:srgbClr val="4995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16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4B93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521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4D91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525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4F90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530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50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534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548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39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568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43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578A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48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598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552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5B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557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5D8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61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608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566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6283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570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648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575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ln w="15240">
              <a:solidFill>
                <a:srgbClr val="66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579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698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584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6B7E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588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6D7C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593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6E7B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597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707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602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72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606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7577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611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7775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615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7974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620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7B72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624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7E70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629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8070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633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826E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638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ln w="15240">
              <a:solidFill>
                <a:srgbClr val="836D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642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5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856B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647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87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651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8969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656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8C67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660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8E66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665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9064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669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9362F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674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95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678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9760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683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995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687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9A5D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692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9C5B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6965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9E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7010999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5001" y="0"/>
                  </a:lnTo>
                </a:path>
              </a:pathLst>
            </a:custGeom>
            <a:ln w="15240">
              <a:solidFill>
                <a:srgbClr val="A159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7056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A356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7101000" y="4716000"/>
              <a:ext cx="45085" cy="0"/>
            </a:xfrm>
            <a:custGeom>
              <a:avLst/>
              <a:gdLst/>
              <a:ahLst/>
              <a:cxnLst/>
              <a:rect l="l" t="t" r="r" b="b"/>
              <a:pathLst>
                <a:path w="45084" h="0">
                  <a:moveTo>
                    <a:pt x="0" y="0"/>
                  </a:moveTo>
                  <a:lnTo>
                    <a:pt x="44999" y="0"/>
                  </a:lnTo>
                </a:path>
              </a:pathLst>
            </a:custGeom>
            <a:ln w="15240">
              <a:solidFill>
                <a:srgbClr val="A556F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1" name="object 91"/>
          <p:cNvGrpSpPr/>
          <p:nvPr/>
        </p:nvGrpSpPr>
        <p:grpSpPr>
          <a:xfrm>
            <a:off x="1291554" y="4783554"/>
            <a:ext cx="8108950" cy="728980"/>
            <a:chOff x="1291554" y="4783554"/>
            <a:chExt cx="8108950" cy="728980"/>
          </a:xfrm>
        </p:grpSpPr>
        <p:sp>
          <p:nvSpPr>
            <p:cNvPr id="92" name="object 92"/>
            <p:cNvSpPr/>
            <p:nvPr/>
          </p:nvSpPr>
          <p:spPr>
            <a:xfrm>
              <a:off x="1295999" y="4787999"/>
              <a:ext cx="8100059" cy="720090"/>
            </a:xfrm>
            <a:custGeom>
              <a:avLst/>
              <a:gdLst/>
              <a:ahLst/>
              <a:cxnLst/>
              <a:rect l="l" t="t" r="r" b="b"/>
              <a:pathLst>
                <a:path w="8100059" h="720089">
                  <a:moveTo>
                    <a:pt x="8049200" y="0"/>
                  </a:move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0" y="669199"/>
                  </a:lnTo>
                  <a:lnTo>
                    <a:pt x="3988" y="688984"/>
                  </a:lnTo>
                  <a:lnTo>
                    <a:pt x="14869" y="705130"/>
                  </a:lnTo>
                  <a:lnTo>
                    <a:pt x="31015" y="716011"/>
                  </a:lnTo>
                  <a:lnTo>
                    <a:pt x="50800" y="719999"/>
                  </a:lnTo>
                  <a:lnTo>
                    <a:pt x="8049200" y="719999"/>
                  </a:lnTo>
                  <a:lnTo>
                    <a:pt x="8068985" y="716011"/>
                  </a:lnTo>
                  <a:lnTo>
                    <a:pt x="8085131" y="705130"/>
                  </a:lnTo>
                  <a:lnTo>
                    <a:pt x="8096011" y="688984"/>
                  </a:lnTo>
                  <a:lnTo>
                    <a:pt x="8100000" y="669199"/>
                  </a:lnTo>
                  <a:lnTo>
                    <a:pt x="8100000" y="50800"/>
                  </a:lnTo>
                  <a:lnTo>
                    <a:pt x="8096011" y="31015"/>
                  </a:lnTo>
                  <a:lnTo>
                    <a:pt x="8085131" y="14869"/>
                  </a:lnTo>
                  <a:lnTo>
                    <a:pt x="8068985" y="3988"/>
                  </a:lnTo>
                  <a:lnTo>
                    <a:pt x="8049200" y="0"/>
                  </a:lnTo>
                  <a:close/>
                </a:path>
              </a:pathLst>
            </a:custGeom>
            <a:solidFill>
              <a:srgbClr val="030E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1295999" y="4787999"/>
              <a:ext cx="8100059" cy="720090"/>
            </a:xfrm>
            <a:custGeom>
              <a:avLst/>
              <a:gdLst/>
              <a:ahLst/>
              <a:cxnLst/>
              <a:rect l="l" t="t" r="r" b="b"/>
              <a:pathLst>
                <a:path w="8100059" h="720089">
                  <a:moveTo>
                    <a:pt x="50800" y="719999"/>
                  </a:moveTo>
                  <a:lnTo>
                    <a:pt x="8049200" y="719999"/>
                  </a:lnTo>
                  <a:lnTo>
                    <a:pt x="8068985" y="716011"/>
                  </a:lnTo>
                  <a:lnTo>
                    <a:pt x="8085131" y="705130"/>
                  </a:lnTo>
                  <a:lnTo>
                    <a:pt x="8096011" y="688984"/>
                  </a:lnTo>
                  <a:lnTo>
                    <a:pt x="8100000" y="669199"/>
                  </a:lnTo>
                  <a:lnTo>
                    <a:pt x="8100000" y="50800"/>
                  </a:lnTo>
                  <a:lnTo>
                    <a:pt x="8096011" y="31015"/>
                  </a:lnTo>
                  <a:lnTo>
                    <a:pt x="8085131" y="14869"/>
                  </a:lnTo>
                  <a:lnTo>
                    <a:pt x="8068985" y="3988"/>
                  </a:lnTo>
                  <a:lnTo>
                    <a:pt x="8049200" y="0"/>
                  </a:lnTo>
                  <a:lnTo>
                    <a:pt x="50800" y="0"/>
                  </a:lnTo>
                  <a:lnTo>
                    <a:pt x="31015" y="3988"/>
                  </a:lnTo>
                  <a:lnTo>
                    <a:pt x="14869" y="14869"/>
                  </a:lnTo>
                  <a:lnTo>
                    <a:pt x="3988" y="31015"/>
                  </a:lnTo>
                  <a:lnTo>
                    <a:pt x="0" y="50800"/>
                  </a:lnTo>
                  <a:lnTo>
                    <a:pt x="0" y="669199"/>
                  </a:lnTo>
                  <a:lnTo>
                    <a:pt x="3988" y="688984"/>
                  </a:lnTo>
                  <a:lnTo>
                    <a:pt x="14869" y="705130"/>
                  </a:lnTo>
                  <a:lnTo>
                    <a:pt x="31015" y="716011"/>
                  </a:lnTo>
                  <a:lnTo>
                    <a:pt x="50800" y="719999"/>
                  </a:lnTo>
                  <a:close/>
                </a:path>
              </a:pathLst>
            </a:custGeom>
            <a:ln w="8890">
              <a:solidFill>
                <a:srgbClr val="00FF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4" name="object 94"/>
          <p:cNvSpPr txBox="1"/>
          <p:nvPr/>
        </p:nvSpPr>
        <p:spPr>
          <a:xfrm>
            <a:off x="1302438" y="4923599"/>
            <a:ext cx="8087359" cy="471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"Cyber</a:t>
            </a:r>
            <a:r>
              <a:rPr dirty="0" sz="1100" spc="-10" b="1" i="1">
                <a:solidFill>
                  <a:srgbClr val="00FF9C"/>
                </a:solidFill>
                <a:latin typeface="Arial"/>
                <a:cs typeface="Arial"/>
              </a:rPr>
              <a:t xml:space="preserve"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Shield</a:t>
            </a:r>
            <a:r>
              <a:rPr dirty="0" sz="1100" spc="-10" b="1" i="1">
                <a:solidFill>
                  <a:srgbClr val="00FF9C"/>
                </a:solidFill>
                <a:latin typeface="Arial"/>
                <a:cs typeface="Arial"/>
              </a:rPr>
              <a:t xml:space="preserve"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doesn't</a:t>
            </a:r>
            <a:r>
              <a:rPr dirty="0" sz="1100" spc="-5" b="1" i="1">
                <a:solidFill>
                  <a:srgbClr val="00FF9C"/>
                </a:solidFill>
                <a:latin typeface="Arial"/>
                <a:cs typeface="Arial"/>
              </a:rPr>
              <a:t xml:space="preserve"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just</a:t>
            </a:r>
            <a:r>
              <a:rPr dirty="0" sz="1100" spc="-10" b="1" i="1">
                <a:solidFill>
                  <a:srgbClr val="00FF9C"/>
                </a:solidFill>
                <a:latin typeface="Arial"/>
                <a:cs typeface="Arial"/>
              </a:rPr>
              <a:t xml:space="preserve"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detect</a:t>
            </a:r>
            <a:r>
              <a:rPr dirty="0" sz="1100" spc="-10" b="1" i="1">
                <a:solidFill>
                  <a:srgbClr val="00FF9C"/>
                </a:solidFill>
                <a:latin typeface="Arial"/>
                <a:cs typeface="Arial"/>
              </a:rPr>
              <a:t xml:space="preserve"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scams</a:t>
            </a:r>
            <a:r>
              <a:rPr dirty="0" sz="1100" spc="-5" b="1" i="1">
                <a:solidFill>
                  <a:srgbClr val="00FF9C"/>
                </a:solidFill>
                <a:latin typeface="Arial"/>
                <a:cs typeface="Arial"/>
              </a:rPr>
              <a:t xml:space="preserve"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—</a:t>
            </a:r>
            <a:r>
              <a:rPr dirty="0" sz="1100" spc="-10" b="1" i="1">
                <a:solidFill>
                  <a:srgbClr val="00FF9C"/>
                </a:solidFill>
                <a:latin typeface="Arial"/>
                <a:cs typeface="Arial"/>
              </a:rPr>
              <a:t xml:space="preserve"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it</a:t>
            </a:r>
            <a:r>
              <a:rPr dirty="0" sz="1100" spc="-10" b="1" i="1">
                <a:solidFill>
                  <a:srgbClr val="00FF9C"/>
                </a:solidFill>
                <a:latin typeface="Arial"/>
                <a:cs typeface="Arial"/>
              </a:rPr>
              <a:t xml:space="preserve"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trains</a:t>
            </a:r>
            <a:r>
              <a:rPr dirty="0" sz="1100" spc="-5" b="1" i="1">
                <a:solidFill>
                  <a:srgbClr val="00FF9C"/>
                </a:solidFill>
                <a:latin typeface="Arial"/>
                <a:cs typeface="Arial"/>
              </a:rPr>
              <a:t xml:space="preserve"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users</a:t>
            </a:r>
            <a:r>
              <a:rPr dirty="0" sz="1100" spc="-10" b="1" i="1">
                <a:solidFill>
                  <a:srgbClr val="00FF9C"/>
                </a:solidFill>
                <a:latin typeface="Arial"/>
                <a:cs typeface="Arial"/>
              </a:rPr>
              <a:t xml:space="preserve"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to</a:t>
            </a:r>
            <a:r>
              <a:rPr dirty="0" sz="1100" spc="-5" b="1" i="1">
                <a:solidFill>
                  <a:srgbClr val="00FF9C"/>
                </a:solidFill>
                <a:latin typeface="Arial"/>
                <a:cs typeface="Arial"/>
              </a:rPr>
              <a:t xml:space="preserve"> </a:t>
            </a:r>
            <a:r>
              <a:rPr dirty="0" sz="1100" b="1" i="1">
                <a:solidFill>
                  <a:srgbClr val="00FF9C"/>
                </a:solidFill>
                <a:latin typeface="Arial"/>
                <a:cs typeface="Arial"/>
              </a:rPr>
              <a:t>resist</a:t>
            </a:r>
            <a:r>
              <a:rPr dirty="0" sz="1100" spc="-10" b="1" i="1">
                <a:solidFill>
                  <a:srgbClr val="00FF9C"/>
                </a:solidFill>
                <a:latin typeface="Arial"/>
                <a:cs typeface="Arial"/>
              </a:rPr>
              <a:t xml:space="preserve"> them."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10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</a:pP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—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TEAM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CYBER</a:t>
            </a:r>
            <a:r>
              <a:rPr dirty="0" sz="700" spc="-30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SHIELD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·</a:t>
            </a:r>
            <a:r>
              <a:rPr dirty="0" sz="700" spc="-30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GROUP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45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·</a:t>
            </a:r>
            <a:r>
              <a:rPr dirty="0" sz="700" spc="-30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WOMEN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TECHSTERS</a:t>
            </a:r>
            <a:r>
              <a:rPr dirty="0" sz="700" spc="-30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BOOTCAMP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·</a:t>
            </a:r>
            <a:r>
              <a:rPr dirty="0" sz="700" spc="-30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COHORT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5.0</a:t>
            </a:r>
            <a:r>
              <a:rPr dirty="0" sz="700" spc="-35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>
                <a:solidFill>
                  <a:srgbClr val="214433"/>
                </a:solidFill>
                <a:latin typeface="Courier New"/>
                <a:cs typeface="Courier New"/>
              </a:rPr>
              <a:t>·</a:t>
            </a:r>
            <a:r>
              <a:rPr dirty="0" sz="700" spc="-30">
                <a:solidFill>
                  <a:srgbClr val="214433"/>
                </a:solidFill>
                <a:latin typeface="Courier New"/>
                <a:cs typeface="Courier New"/>
              </a:rPr>
              <a:t xml:space="preserve"> </a:t>
            </a:r>
            <a:r>
              <a:rPr dirty="0" sz="700" spc="-20">
                <a:solidFill>
                  <a:srgbClr val="214433"/>
                </a:solidFill>
                <a:latin typeface="Courier New"/>
                <a:cs typeface="Courier New"/>
              </a:rPr>
              <a:t>2026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563299" y="7352575"/>
            <a:ext cx="2849245" cy="1193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z="650" spc="-10">
                <a:solidFill>
                  <a:srgbClr val="1D2F4F"/>
                </a:solidFill>
                <a:latin typeface="Courier New"/>
                <a:cs typeface="Courier New"/>
              </a:rPr>
              <a:t>github.com/ftlcollective/Cybershield_project_WTB5.0_grp45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96" name="object 9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70"/>
              </a:lnSpc>
            </a:pPr>
            <a:r>
              <a:rPr dirty="0" spc="-20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AACCED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C610CA20A3894B867C07CD2D69FCD3" ma:contentTypeVersion="3" ma:contentTypeDescription="Create a new document." ma:contentTypeScope="" ma:versionID="ae520e29d60f61d58924b76958a210b5">
  <xsd:schema xmlns:xsd="http://www.w3.org/2001/XMLSchema" xmlns:xs="http://www.w3.org/2001/XMLSchema" xmlns:p="http://schemas.microsoft.com/office/2006/metadata/properties" xmlns:ns2="db64a1e0-2cb7-45e6-951c-d2d4cc8a6037" targetNamespace="http://schemas.microsoft.com/office/2006/metadata/properties" ma:root="true" ma:fieldsID="0beeabc14e5d9d6eddaa0337754a3173" ns2:_="">
    <xsd:import namespace="db64a1e0-2cb7-45e6-951c-d2d4cc8a60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64a1e0-2cb7-45e6-951c-d2d4cc8a60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B63FC0A-B42E-43C4-88A4-77A7B626C63E}"/>
</file>

<file path=customXml/itemProps2.xml><?xml version="1.0" encoding="utf-8"?>
<ds:datastoreItem xmlns:ds="http://schemas.openxmlformats.org/officeDocument/2006/customXml" ds:itemID="{979B78BC-AF9B-4E24-91F6-48DE8185FA5F}"/>
</file>

<file path=customXml/itemProps3.xml><?xml version="1.0" encoding="utf-8"?>
<ds:datastoreItem xmlns:ds="http://schemas.openxmlformats.org/officeDocument/2006/customXml" ds:itemID="{79C263A3-3784-44E7-BB12-2DBB948155E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2026-03-18T07:59:05Z</dcterms:created>
  <dcterms:modified xsi:type="dcterms:W3CDTF">2026-03-18T07:59:05Z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2026-03-18T00:00:00Z</vt:filetime>
  </property>
  <property fmtid="{D5CDD505-2E9C-101B-9397-08002B2CF9AE}" pid="3" name="Producer">
    <vt:lpwstr>pypdf</vt:lpwstr>
  </property>
  <property fmtid="{D5CDD505-2E9C-101B-9397-08002B2CF9AE}" pid="4" name="LastSaved">
    <vt:filetime>2026-03-18T00:00:00Z</vt:filetime>
  </property>
  <property fmtid="{D5CDD505-2E9C-101B-9397-08002B2CF9AE}" pid="5" name="ContentTypeId">
    <vt:lpwstr>0x010100D4C610CA20A3894B867C07CD2D69FCD3</vt:lpwstr>
  </property>
</Properties>
</file>