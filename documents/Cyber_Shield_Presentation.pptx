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2000" y="0"/>
                </a:moveTo>
                <a:lnTo>
                  <a:pt x="0" y="0"/>
                </a:lnTo>
                <a:lnTo>
                  <a:pt x="0" y="7560000"/>
                </a:lnTo>
                <a:lnTo>
                  <a:pt x="10692000" y="7560000"/>
                </a:lnTo>
                <a:lnTo>
                  <a:pt x="10692000" y="0"/>
                </a:lnTo>
                <a:close/>
              </a:path>
            </a:pathLst>
          </a:custGeom>
          <a:solidFill>
            <a:srgbClr val="05050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54000" y="287999"/>
            <a:ext cx="6984000" cy="6984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0692130" cy="504190"/>
          </a:xfrm>
          <a:custGeom>
            <a:avLst/>
            <a:gdLst/>
            <a:ahLst/>
            <a:cxnLst/>
            <a:rect l="l" t="t" r="r" b="b"/>
            <a:pathLst>
              <a:path w="10692130" h="504190">
                <a:moveTo>
                  <a:pt x="10692000" y="0"/>
                </a:moveTo>
                <a:lnTo>
                  <a:pt x="0" y="0"/>
                </a:lnTo>
                <a:lnTo>
                  <a:pt x="0" y="504000"/>
                </a:lnTo>
                <a:lnTo>
                  <a:pt x="10692000" y="504000"/>
                </a:lnTo>
                <a:lnTo>
                  <a:pt x="10692000" y="0"/>
                </a:lnTo>
                <a:close/>
              </a:path>
            </a:pathLst>
          </a:custGeom>
          <a:solidFill>
            <a:srgbClr val="0303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503999"/>
            <a:ext cx="10692130" cy="0"/>
          </a:xfrm>
          <a:custGeom>
            <a:avLst/>
            <a:gdLst/>
            <a:ahLst/>
            <a:cxnLst/>
            <a:rect l="l" t="t" r="r" b="b"/>
            <a:pathLst>
              <a:path w="10692130" h="0">
                <a:moveTo>
                  <a:pt x="0" y="0"/>
                </a:moveTo>
                <a:lnTo>
                  <a:pt x="10692000" y="0"/>
                </a:lnTo>
              </a:path>
            </a:pathLst>
          </a:custGeom>
          <a:ln w="6350">
            <a:solidFill>
              <a:srgbClr val="0A1F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63299" y="7352575"/>
            <a:ext cx="3195954" cy="202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905179" y="7352575"/>
            <a:ext cx="224154" cy="202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mailto:Osazeeaimua@gmail.com" TargetMode="External"/><Relationship Id="rId5" Type="http://schemas.openxmlformats.org/officeDocument/2006/relationships/hyperlink" Target="mailto:alinafemanyamba03@gmail.com" TargetMode="External"/><Relationship Id="rId6" Type="http://schemas.openxmlformats.org/officeDocument/2006/relationships/hyperlink" Target="mailto:Hafsatmuhammad2020@gmail.com" TargetMode="External"/><Relationship Id="rId7" Type="http://schemas.openxmlformats.org/officeDocument/2006/relationships/hyperlink" Target="mailto:Mariamdamoladamola@gmail.com" TargetMode="External"/><Relationship Id="rId8" Type="http://schemas.openxmlformats.org/officeDocument/2006/relationships/hyperlink" Target="mailto:Fathiabello48@gmail.com" TargetMode="External"/><Relationship Id="rId9" Type="http://schemas.openxmlformats.org/officeDocument/2006/relationships/hyperlink" Target="mailto:dyakoputumeka36@gmail.com" TargetMode="External"/><Relationship Id="rId10" Type="http://schemas.openxmlformats.org/officeDocument/2006/relationships/hyperlink" Target="mailto:tasneem@live.com" TargetMode="External"/><Relationship Id="rId11" Type="http://schemas.openxmlformats.org/officeDocument/2006/relationships/hyperlink" Target="mailto:tinotendaphyllis@gmail.com" TargetMode="External"/><Relationship Id="rId12" Type="http://schemas.openxmlformats.org/officeDocument/2006/relationships/hyperlink" Target="mailto:Agwunchacynthia12@gmail.com" TargetMode="External"/><Relationship Id="rId13" Type="http://schemas.openxmlformats.org/officeDocument/2006/relationships/hyperlink" Target="mailto:Njemanzeadaobi@gmail.com" TargetMode="External"/><Relationship Id="rId14" Type="http://schemas.openxmlformats.org/officeDocument/2006/relationships/hyperlink" Target="mailto:deejonsen23@gmail.com" TargetMode="External"/><Relationship Id="rId15" Type="http://schemas.openxmlformats.org/officeDocument/2006/relationships/hyperlink" Target="mailto:julietchidiogo3@gmail.com" TargetMode="External"/><Relationship Id="rId16" Type="http://schemas.openxmlformats.org/officeDocument/2006/relationships/hyperlink" Target="mailto:bububekee@gmail.com" TargetMode="External"/><Relationship Id="rId17" Type="http://schemas.openxmlformats.org/officeDocument/2006/relationships/hyperlink" Target="mailto:nanamasante@hmail.com" TargetMode="External"/><Relationship Id="rId18" Type="http://schemas.openxmlformats.org/officeDocument/2006/relationships/hyperlink" Target="mailto:purinewambita@gmail.com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>01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2540" y="1619998"/>
            <a:ext cx="10697210" cy="5940425"/>
            <a:chOff x="-2540" y="1619998"/>
            <a:chExt cx="10697210" cy="594042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9999" y="1619998"/>
              <a:ext cx="1872000" cy="18720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778820" y="3521699"/>
            <a:ext cx="2220595" cy="32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WOMEN</a:t>
            </a:r>
            <a:r>
              <a:rPr dirty="0" sz="800" spc="25">
                <a:solidFill>
                  <a:srgbClr val="A78AF9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TECHSTERS</a:t>
            </a:r>
            <a:r>
              <a:rPr dirty="0" sz="800" spc="30">
                <a:solidFill>
                  <a:srgbClr val="A78AF9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BOOTCAMP</a:t>
            </a:r>
            <a:r>
              <a:rPr dirty="0" sz="800" spc="30">
                <a:solidFill>
                  <a:srgbClr val="A78AF9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BY</a:t>
            </a:r>
            <a:r>
              <a:rPr dirty="0" sz="800" spc="25">
                <a:solidFill>
                  <a:srgbClr val="A78AF9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A78AF9"/>
                </a:solidFill>
                <a:latin typeface="Courier New"/>
                <a:cs typeface="Courier New"/>
              </a:rPr>
              <a:t>TECH4DEV</a:t>
            </a:r>
            <a:endParaRPr sz="800">
              <a:latin typeface="Courier New"/>
              <a:cs typeface="Courier New"/>
            </a:endParaRPr>
          </a:p>
          <a:p>
            <a:pPr algn="r" marR="31750">
              <a:lnSpc>
                <a:spcPct val="100000"/>
              </a:lnSpc>
              <a:spcBef>
                <a:spcPts val="555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GROUP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45</a:t>
            </a:r>
            <a:r>
              <a:rPr dirty="0" sz="700" spc="380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—</a:t>
            </a:r>
            <a:r>
              <a:rPr dirty="0" sz="700" spc="380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CAPSTONE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PROJECT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53685" y="3521699"/>
            <a:ext cx="860425" cy="32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·</a:t>
            </a:r>
            <a:r>
              <a:rPr dirty="0" sz="800" spc="495">
                <a:solidFill>
                  <a:srgbClr val="A78AF9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COHORT</a:t>
            </a:r>
            <a:r>
              <a:rPr dirty="0" sz="800" spc="10">
                <a:solidFill>
                  <a:srgbClr val="A78AF9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A78AF9"/>
                </a:solidFill>
                <a:latin typeface="Courier New"/>
                <a:cs typeface="Courier New"/>
              </a:rPr>
              <a:t>5.0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—</a:t>
            </a:r>
            <a:r>
              <a:rPr dirty="0" sz="700" spc="415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>2026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76474" y="4022474"/>
            <a:ext cx="4339590" cy="19050"/>
            <a:chOff x="3176474" y="4022474"/>
            <a:chExt cx="4339590" cy="19050"/>
          </a:xfrm>
        </p:grpSpPr>
        <p:sp>
          <p:nvSpPr>
            <p:cNvPr id="12" name="object 12"/>
            <p:cNvSpPr/>
            <p:nvPr/>
          </p:nvSpPr>
          <p:spPr>
            <a:xfrm>
              <a:off x="318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3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29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34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40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45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51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56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61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67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72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78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83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88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94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99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04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10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15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21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26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32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37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42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48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53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58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64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69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75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80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86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91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96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02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07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13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18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23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29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34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40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45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50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56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61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67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72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77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83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88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93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99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604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610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15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21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26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31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37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42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47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53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58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64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69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75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80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85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91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96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01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707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712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718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723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728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734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739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745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>
            <a:off x="2874961" y="3898899"/>
            <a:ext cx="4942840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07615" algn="l"/>
              </a:tabLst>
            </a:pPr>
            <a:r>
              <a:rPr dirty="0" sz="5200" spc="-10" b="1">
                <a:solidFill>
                  <a:srgbClr val="00C8FF"/>
                </a:solidFill>
                <a:latin typeface="Arial"/>
                <a:cs typeface="Arial"/>
              </a:rPr>
              <a:t>CYBER</a:t>
            </a:r>
            <a:r>
              <a:rPr dirty="0" sz="5200" b="1">
                <a:solidFill>
                  <a:srgbClr val="00C8FF"/>
                </a:solidFill>
                <a:latin typeface="Arial"/>
                <a:cs typeface="Arial"/>
              </a:rPr>
              <a:t>	</a:t>
            </a:r>
            <a:r>
              <a:rPr dirty="0" sz="5200" spc="-10" b="1">
                <a:solidFill>
                  <a:srgbClr val="00C8FF"/>
                </a:solidFill>
                <a:latin typeface="Arial"/>
                <a:cs typeface="Arial"/>
              </a:rPr>
              <a:t>SHIELD</a:t>
            </a:r>
            <a:endParaRPr sz="5200">
              <a:latin typeface="Arial"/>
              <a:cs typeface="Arial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2282189" y="4744379"/>
            <a:ext cx="5051425" cy="2315845"/>
            <a:chOff x="2282189" y="4744379"/>
            <a:chExt cx="5051425" cy="2315845"/>
          </a:xfrm>
        </p:grpSpPr>
        <p:sp>
          <p:nvSpPr>
            <p:cNvPr id="94" name="object 94"/>
            <p:cNvSpPr/>
            <p:nvPr/>
          </p:nvSpPr>
          <p:spPr>
            <a:xfrm>
              <a:off x="3366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3415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3464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3514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3563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3613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3662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3712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3762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3811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3860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3910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3959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4009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4058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4108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4158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4207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4257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4306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4355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4405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4454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4504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4554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4603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4653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4702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4751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4801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4850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4900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4950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4999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5049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5098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5147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5197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246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296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5346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395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5445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5494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5543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5593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5642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5692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5742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791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5841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890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939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989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6038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6088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6137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6187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6237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6286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6335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6385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6434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6484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6534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6583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6633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6682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6731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6781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6830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6880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6930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6979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7029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7078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7127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7177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7226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7276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2285999" y="6731999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1905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close/>
                </a:path>
              </a:pathLst>
            </a:custGeom>
            <a:solidFill>
              <a:srgbClr val="07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2285999" y="6731999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38100" y="323999"/>
                  </a:move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close/>
                </a:path>
              </a:pathLst>
            </a:custGeom>
            <a:ln w="762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4071936" y="4898199"/>
            <a:ext cx="2548255" cy="504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A78AF9"/>
                </a:solidFill>
                <a:latin typeface="Arial"/>
                <a:cs typeface="Arial"/>
              </a:rPr>
              <a:t>HUMAN FIREWALL </a:t>
            </a:r>
            <a:r>
              <a:rPr dirty="0" sz="1300" spc="-10">
                <a:solidFill>
                  <a:srgbClr val="A78AF9"/>
                </a:solidFill>
                <a:latin typeface="Arial"/>
                <a:cs typeface="Arial"/>
              </a:rPr>
              <a:t>CHALLENGE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5"/>
              </a:spcBef>
            </a:pPr>
            <a:r>
              <a:rPr dirty="0" sz="1000">
                <a:solidFill>
                  <a:srgbClr val="336687"/>
                </a:solidFill>
                <a:latin typeface="Arial"/>
                <a:cs typeface="Arial"/>
              </a:rPr>
              <a:t>AI</a:t>
            </a:r>
            <a:r>
              <a:rPr dirty="0" sz="1000" spc="-5">
                <a:solidFill>
                  <a:srgbClr val="336687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36687"/>
                </a:solidFill>
                <a:latin typeface="Arial"/>
                <a:cs typeface="Arial"/>
              </a:rPr>
              <a:t>Scam Simulator</a:t>
            </a:r>
            <a:r>
              <a:rPr dirty="0" sz="1000" spc="275">
                <a:solidFill>
                  <a:srgbClr val="336687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36687"/>
                </a:solidFill>
                <a:latin typeface="Arial"/>
                <a:cs typeface="Arial"/>
              </a:rPr>
              <a:t>+</a:t>
            </a:r>
            <a:r>
              <a:rPr dirty="0" sz="1000" spc="275">
                <a:solidFill>
                  <a:srgbClr val="336687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36687"/>
                </a:solidFill>
                <a:latin typeface="Arial"/>
                <a:cs typeface="Arial"/>
              </a:rPr>
              <a:t>Immunity</a:t>
            </a:r>
            <a:r>
              <a:rPr dirty="0" sz="1000" spc="-5">
                <a:solidFill>
                  <a:srgbClr val="336687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36687"/>
                </a:solidFill>
                <a:latin typeface="Arial"/>
                <a:cs typeface="Arial"/>
              </a:rPr>
              <a:t>Trainer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2788099" y="6840049"/>
            <a:ext cx="9404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>SDG 4</a:t>
            </a:r>
            <a:r>
              <a:rPr dirty="0" sz="750" spc="450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EDUCATION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78" name="object 178"/>
          <p:cNvGrpSpPr/>
          <p:nvPr/>
        </p:nvGrpSpPr>
        <p:grpSpPr>
          <a:xfrm>
            <a:off x="4370189" y="6728190"/>
            <a:ext cx="1951989" cy="332105"/>
            <a:chOff x="4370189" y="6728190"/>
            <a:chExt cx="1951989" cy="332105"/>
          </a:xfrm>
        </p:grpSpPr>
        <p:sp>
          <p:nvSpPr>
            <p:cNvPr id="179" name="object 179"/>
            <p:cNvSpPr/>
            <p:nvPr/>
          </p:nvSpPr>
          <p:spPr>
            <a:xfrm>
              <a:off x="4373999" y="6732000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1905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close/>
                </a:path>
              </a:pathLst>
            </a:custGeom>
            <a:solidFill>
              <a:srgbClr val="07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4373999" y="6732000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38100" y="323999"/>
                  </a:move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close/>
                </a:path>
              </a:pathLst>
            </a:custGeom>
            <a:ln w="762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4847525" y="6840049"/>
            <a:ext cx="9975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A854F6"/>
                </a:solidFill>
                <a:latin typeface="Courier New"/>
                <a:cs typeface="Courier New"/>
              </a:rPr>
              <a:t>SDG 9</a:t>
            </a:r>
            <a:r>
              <a:rPr dirty="0" sz="750" spc="450">
                <a:solidFill>
                  <a:srgbClr val="A854F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A854F6"/>
                </a:solidFill>
                <a:latin typeface="Courier New"/>
                <a:cs typeface="Courier New"/>
              </a:rPr>
              <a:t>INNOVATION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6458189" y="6728190"/>
            <a:ext cx="1951989" cy="332105"/>
            <a:chOff x="6458189" y="6728190"/>
            <a:chExt cx="1951989" cy="332105"/>
          </a:xfrm>
        </p:grpSpPr>
        <p:sp>
          <p:nvSpPr>
            <p:cNvPr id="183" name="object 183"/>
            <p:cNvSpPr/>
            <p:nvPr/>
          </p:nvSpPr>
          <p:spPr>
            <a:xfrm>
              <a:off x="6461999" y="6732000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1905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close/>
                </a:path>
              </a:pathLst>
            </a:custGeom>
            <a:solidFill>
              <a:srgbClr val="07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6461999" y="6732000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38100" y="323999"/>
                  </a:move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close/>
                </a:path>
              </a:pathLst>
            </a:custGeom>
            <a:ln w="7619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/>
          <p:cNvSpPr txBox="1"/>
          <p:nvPr/>
        </p:nvSpPr>
        <p:spPr>
          <a:xfrm>
            <a:off x="6992674" y="6840049"/>
            <a:ext cx="8832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5B5D4"/>
                </a:solidFill>
                <a:latin typeface="Courier New"/>
                <a:cs typeface="Courier New"/>
              </a:rPr>
              <a:t>SDG 16</a:t>
            </a:r>
            <a:r>
              <a:rPr dirty="0" sz="750" spc="450">
                <a:solidFill>
                  <a:srgbClr val="05B5D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05B5D4"/>
                </a:solidFill>
                <a:latin typeface="Courier New"/>
                <a:cs typeface="Courier New"/>
              </a:rPr>
              <a:t>JUSTICE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86" name="object 18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187" name="object 18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92130" cy="7560309"/>
            <a:chOff x="0" y="0"/>
            <a:chExt cx="1069213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0" cy="7559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4000" y="287999"/>
              <a:ext cx="6984000" cy="6984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0692130" cy="504190"/>
            </a:xfrm>
            <a:custGeom>
              <a:avLst/>
              <a:gdLst/>
              <a:ahLst/>
              <a:cxnLst/>
              <a:rect l="l" t="t" r="r" b="b"/>
              <a:pathLst>
                <a:path w="10692130" h="504190">
                  <a:moveTo>
                    <a:pt x="10692000" y="0"/>
                  </a:moveTo>
                  <a:lnTo>
                    <a:pt x="0" y="0"/>
                  </a:lnTo>
                  <a:lnTo>
                    <a:pt x="0" y="504000"/>
                  </a:lnTo>
                  <a:lnTo>
                    <a:pt x="10692000" y="504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503999"/>
            <a:ext cx="10692130" cy="0"/>
          </a:xfrm>
          <a:custGeom>
            <a:avLst/>
            <a:gdLst/>
            <a:ahLst/>
            <a:cxnLst/>
            <a:rect l="l" t="t" r="r" b="b"/>
            <a:pathLst>
              <a:path w="10692130" h="0">
                <a:moveTo>
                  <a:pt x="0" y="0"/>
                </a:moveTo>
                <a:lnTo>
                  <a:pt x="10692000" y="0"/>
                </a:lnTo>
              </a:path>
            </a:pathLst>
          </a:custGeom>
          <a:ln w="6350">
            <a:solidFill>
              <a:srgbClr val="0A1F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>02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11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7273659"/>
            <a:ext cx="10692130" cy="286385"/>
            <a:chOff x="0" y="7273659"/>
            <a:chExt cx="10692130" cy="286385"/>
          </a:xfrm>
        </p:grpSpPr>
        <p:sp>
          <p:nvSpPr>
            <p:cNvPr id="11" name="object 11"/>
            <p:cNvSpPr/>
            <p:nvPr/>
          </p:nvSpPr>
          <p:spPr>
            <a:xfrm>
              <a:off x="0" y="7276199"/>
              <a:ext cx="10692130" cy="283845"/>
            </a:xfrm>
            <a:custGeom>
              <a:avLst/>
              <a:gdLst/>
              <a:ahLst/>
              <a:cxnLst/>
              <a:rect l="l" t="t" r="r" b="b"/>
              <a:pathLst>
                <a:path w="10692130" h="283845">
                  <a:moveTo>
                    <a:pt x="10692000" y="0"/>
                  </a:moveTo>
                  <a:lnTo>
                    <a:pt x="0" y="0"/>
                  </a:lnTo>
                  <a:lnTo>
                    <a:pt x="0" y="283800"/>
                  </a:lnTo>
                  <a:lnTo>
                    <a:pt x="10692000" y="2838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72761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63299" y="524869"/>
            <a:ext cx="1966595" cy="5162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800">
                <a:solidFill>
                  <a:srgbClr val="00C8FF"/>
                </a:solidFill>
                <a:latin typeface="Courier New"/>
                <a:cs typeface="Courier New"/>
              </a:rPr>
              <a:t>//</a:t>
            </a:r>
            <a:r>
              <a:rPr dirty="0" sz="800" spc="5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00C8FF"/>
                </a:solidFill>
                <a:latin typeface="Courier New"/>
                <a:cs typeface="Courier New"/>
              </a:rPr>
              <a:t>GROUP</a:t>
            </a:r>
            <a:r>
              <a:rPr dirty="0" sz="800" spc="10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00C8FF"/>
                </a:solidFill>
                <a:latin typeface="Courier New"/>
                <a:cs typeface="Courier New"/>
              </a:rPr>
              <a:t>45</a:t>
            </a:r>
            <a:r>
              <a:rPr dirty="0" sz="800" spc="495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00C8FF"/>
                </a:solidFill>
                <a:latin typeface="Courier New"/>
                <a:cs typeface="Courier New"/>
              </a:rPr>
              <a:t>—</a:t>
            </a:r>
            <a:r>
              <a:rPr dirty="0" sz="800" spc="495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00C8FF"/>
                </a:solidFill>
                <a:latin typeface="Courier New"/>
                <a:cs typeface="Courier New"/>
              </a:rPr>
              <a:t>TEAM</a:t>
            </a:r>
            <a:r>
              <a:rPr dirty="0" sz="800" spc="10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00C8FF"/>
                </a:solidFill>
                <a:latin typeface="Courier New"/>
                <a:cs typeface="Courier New"/>
              </a:rPr>
              <a:t>MEMBERS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Meet</a:t>
            </a:r>
            <a:r>
              <a:rPr dirty="0" sz="22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00C8FF"/>
                </a:solidFill>
                <a:latin typeface="Arial"/>
                <a:cs typeface="Arial"/>
              </a:rPr>
              <a:t>Team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86919" y="1036379"/>
            <a:ext cx="730250" cy="15240"/>
            <a:chOff x="1786919" y="1036379"/>
            <a:chExt cx="730250" cy="15240"/>
          </a:xfrm>
        </p:grpSpPr>
        <p:sp>
          <p:nvSpPr>
            <p:cNvPr id="15" name="object 15"/>
            <p:cNvSpPr/>
            <p:nvPr/>
          </p:nvSpPr>
          <p:spPr>
            <a:xfrm>
              <a:off x="178691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796041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1C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805164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814286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5C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823408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8C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832531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AB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841653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CB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850776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EB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859898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FB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869020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1B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78143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5B8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88726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6B8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896388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8B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905510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AB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914632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CB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92375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FB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932877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21B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942000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23A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951122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24AE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96024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26A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969367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2AA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97848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2BA8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987612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2DA8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996734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2FA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005857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31A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01497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34A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024101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36A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033224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38A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042346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3A9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05146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3B9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060591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3F9C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069713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419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078836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429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087958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449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097081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469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106203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499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11532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4B9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124448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4D9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133570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4F9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142693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508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15181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548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160938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568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170060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578A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179182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598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18830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5B8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197427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5D8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206550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608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215672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628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224794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648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233917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668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24303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698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252162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6B7E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261284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6D7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270406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6E7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27952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707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288651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727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297774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757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306896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777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31601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797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325141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7B7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334263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7E7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343386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8070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2352508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826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2361631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836D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370753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856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37987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876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2388998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896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2398120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8C6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2407243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8E66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241636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906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2425487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9362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2434610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956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443732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976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245285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995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2461977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9A5D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247109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9C5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2480222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9E5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2489344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A15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2498467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A35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250758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A556F6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95" name="object 95"/>
          <p:cNvGraphicFramePr>
            <a:graphicFrameLocks noGrp="1"/>
          </p:cNvGraphicFramePr>
          <p:nvPr/>
        </p:nvGraphicFramePr>
        <p:xfrm>
          <a:off x="575999" y="1366095"/>
          <a:ext cx="9616440" cy="4293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075"/>
                <a:gridCol w="2273935"/>
                <a:gridCol w="3306445"/>
                <a:gridCol w="3738879"/>
              </a:tblGrid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 spc="-5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6675">
                    <a:solidFill>
                      <a:srgbClr val="002144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FULL </a:t>
                      </a:r>
                      <a:r>
                        <a:rPr dirty="0" sz="750" spc="-2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NAME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6675">
                    <a:solidFill>
                      <a:srgbClr val="002144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EMAIL </a:t>
                      </a:r>
                      <a:r>
                        <a:rPr dirty="0" sz="750" spc="-1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ADDRESS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6675">
                    <a:solidFill>
                      <a:srgbClr val="002144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STUDENT </a:t>
                      </a: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ID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6675">
                    <a:solidFill>
                      <a:srgbClr val="002144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6675"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Osazee</a:t>
                      </a:r>
                      <a:r>
                        <a:rPr dirty="0" sz="8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Osaghae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325"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4"/>
                        </a:rPr>
                        <a:t>Osazeeaimua@gmail.com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WTB/2026/5.0/1183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6675"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Alinafe</a:t>
                      </a:r>
                      <a:r>
                        <a:rPr dirty="0" sz="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Milley</a:t>
                      </a:r>
                      <a:r>
                        <a:rPr dirty="0" sz="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Manyamba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5"/>
                        </a:rPr>
                        <a:t>alinafemanyamba03@gmail.com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WTB/2026/5.0/0135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Muhammad</a:t>
                      </a:r>
                      <a:r>
                        <a:rPr dirty="0" sz="800" spc="-4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Hafsat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6"/>
                        </a:rPr>
                        <a:t>Hafsatmuhammad2020@gmail.com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WTB/2026/5.0/0184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04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Oyedunmade</a:t>
                      </a:r>
                      <a:r>
                        <a:rPr dirty="0" sz="80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Mariam</a:t>
                      </a:r>
                      <a:r>
                        <a:rPr dirty="0" sz="80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Damola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7"/>
                        </a:rPr>
                        <a:t>Mariamdamoladamola@gmail.com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WTB/2026/5.0/1891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05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Bello</a:t>
                      </a:r>
                      <a:r>
                        <a:rPr dirty="0" sz="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Fathia</a:t>
                      </a:r>
                      <a:r>
                        <a:rPr dirty="0" sz="8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Ayomide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8"/>
                        </a:rPr>
                        <a:t>Fathiabello48@gmail.com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WTB/2026/5.0/1439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06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Tumeka</a:t>
                      </a:r>
                      <a:r>
                        <a:rPr dirty="0" sz="80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Dyakopu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9"/>
                        </a:rPr>
                        <a:t>dyakoputumeka36@gmail.com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WTB/2026/5.0/1075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07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Tasneem</a:t>
                      </a:r>
                      <a:r>
                        <a:rPr dirty="0" sz="80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Mahomed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0"/>
                        </a:rPr>
                        <a:t>tasneem@live.com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WTB/2026/5.0/0046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08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Machiridza</a:t>
                      </a:r>
                      <a:r>
                        <a:rPr dirty="0" sz="800" spc="-4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Tinotenda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1"/>
                        </a:rPr>
                        <a:t>tinotendaphyllis@gmail.com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WTB/2026/5.0/2719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09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Cynthia</a:t>
                      </a:r>
                      <a:r>
                        <a:rPr dirty="0" sz="8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Agwuncha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2"/>
                        </a:rPr>
                        <a:t>Agwunchacynthia12@gmail.com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WTB/2026/5.0/2313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Njemanze</a:t>
                      </a:r>
                      <a:r>
                        <a:rPr dirty="0" sz="80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Adadobi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3"/>
                        </a:rPr>
                        <a:t>Njemanzeadaobi@gmail.com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WTB/2026/5.0/2601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Dorcas</a:t>
                      </a:r>
                      <a:r>
                        <a:rPr dirty="0" sz="8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Johnson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4"/>
                        </a:rPr>
                        <a:t>deejonsen23@gmail.com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WTB/2026/5.0/2663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Juliet</a:t>
                      </a:r>
                      <a:r>
                        <a:rPr dirty="0" sz="80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Chidiogo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Okonkwo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5"/>
                        </a:rPr>
                        <a:t>julietchidiogo3@gmail.com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WTB/2026/5.0/1691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13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Chibuzor</a:t>
                      </a:r>
                      <a:r>
                        <a:rPr dirty="0" sz="80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Stella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Bekee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6"/>
                        </a:rPr>
                        <a:t>bububekee@gmail.com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WTB/2026/5.0/0018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14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Agnes</a:t>
                      </a:r>
                      <a:r>
                        <a:rPr dirty="0" sz="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Asante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7"/>
                        </a:rPr>
                        <a:t>nanamasante@hmail.com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WTB/2026/5.0/0651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6350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Purine</a:t>
                      </a:r>
                      <a:r>
                        <a:rPr dirty="0" sz="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Wambita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6350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8"/>
                        </a:rPr>
                        <a:t>purinewambita@gmail.com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6350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WTB/2026/5.0/2460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6350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</a:tbl>
          </a:graphicData>
        </a:graphic>
      </p:graphicFrame>
      <p:sp>
        <p:nvSpPr>
          <p:cNvPr id="96" name="object 9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280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97" name="object 9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8280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0"/>
            <a:ext cx="10698480" cy="7560309"/>
            <a:chOff x="-3175" y="0"/>
            <a:chExt cx="1069848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0" cy="7559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4000" y="287999"/>
              <a:ext cx="6984000" cy="6984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0692130" cy="504190"/>
            </a:xfrm>
            <a:custGeom>
              <a:avLst/>
              <a:gdLst/>
              <a:ahLst/>
              <a:cxnLst/>
              <a:rect l="l" t="t" r="r" b="b"/>
              <a:pathLst>
                <a:path w="10692130" h="504190">
                  <a:moveTo>
                    <a:pt x="10692000" y="0"/>
                  </a:moveTo>
                  <a:lnTo>
                    <a:pt x="0" y="0"/>
                  </a:lnTo>
                  <a:lnTo>
                    <a:pt x="0" y="504000"/>
                  </a:lnTo>
                  <a:lnTo>
                    <a:pt x="10692000" y="504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503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635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>03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11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-2540" y="7273659"/>
            <a:ext cx="10697210" cy="286385"/>
            <a:chOff x="-2540" y="7273659"/>
            <a:chExt cx="10697210" cy="286385"/>
          </a:xfrm>
        </p:grpSpPr>
        <p:sp>
          <p:nvSpPr>
            <p:cNvPr id="11" name="object 11"/>
            <p:cNvSpPr/>
            <p:nvPr/>
          </p:nvSpPr>
          <p:spPr>
            <a:xfrm>
              <a:off x="0" y="7276199"/>
              <a:ext cx="10692130" cy="283845"/>
            </a:xfrm>
            <a:custGeom>
              <a:avLst/>
              <a:gdLst/>
              <a:ahLst/>
              <a:cxnLst/>
              <a:rect l="l" t="t" r="r" b="b"/>
              <a:pathLst>
                <a:path w="10692130" h="283845">
                  <a:moveTo>
                    <a:pt x="10692000" y="0"/>
                  </a:moveTo>
                  <a:lnTo>
                    <a:pt x="0" y="0"/>
                  </a:lnTo>
                  <a:lnTo>
                    <a:pt x="0" y="283800"/>
                  </a:lnTo>
                  <a:lnTo>
                    <a:pt x="10692000" y="2838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72761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63299" y="524869"/>
            <a:ext cx="3813175" cy="5162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800">
                <a:solidFill>
                  <a:srgbClr val="00C8FF"/>
                </a:solidFill>
                <a:latin typeface="Courier New"/>
                <a:cs typeface="Courier New"/>
              </a:rPr>
              <a:t>//</a:t>
            </a:r>
            <a:r>
              <a:rPr dirty="0" sz="800" spc="5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00C8FF"/>
                </a:solidFill>
                <a:latin typeface="Courier New"/>
                <a:cs typeface="Courier New"/>
              </a:rPr>
              <a:t>GROUP</a:t>
            </a:r>
            <a:r>
              <a:rPr dirty="0" sz="800" spc="10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00C8FF"/>
                </a:solidFill>
                <a:latin typeface="Courier New"/>
                <a:cs typeface="Courier New"/>
              </a:rPr>
              <a:t>45</a:t>
            </a:r>
            <a:r>
              <a:rPr dirty="0" sz="800" spc="490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00C8FF"/>
                </a:solidFill>
                <a:latin typeface="Courier New"/>
                <a:cs typeface="Courier New"/>
              </a:rPr>
              <a:t>—</a:t>
            </a:r>
            <a:r>
              <a:rPr dirty="0" sz="800" spc="490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00C8FF"/>
                </a:solidFill>
                <a:latin typeface="Courier New"/>
                <a:cs typeface="Courier New"/>
              </a:rPr>
              <a:t>CONTRIBUTIONS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dirty="0" sz="22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Member</a:t>
            </a:r>
            <a:r>
              <a:rPr dirty="0" sz="22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0C8FF"/>
                </a:solidFill>
                <a:latin typeface="Arial"/>
                <a:cs typeface="Arial"/>
              </a:rPr>
              <a:t>Contributions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532358" y="1036379"/>
            <a:ext cx="1831975" cy="15240"/>
            <a:chOff x="2532358" y="1036379"/>
            <a:chExt cx="1831975" cy="15240"/>
          </a:xfrm>
        </p:grpSpPr>
        <p:sp>
          <p:nvSpPr>
            <p:cNvPr id="15" name="object 15"/>
            <p:cNvSpPr/>
            <p:nvPr/>
          </p:nvSpPr>
          <p:spPr>
            <a:xfrm>
              <a:off x="2532358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5525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57814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01038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623931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646826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669719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69261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1550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738399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76129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78418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807078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82997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85286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875758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898651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921546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944439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96733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99022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013119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03601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05890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081798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10469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12758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150478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173371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196266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219159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24205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26494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287839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31073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33362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356518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37941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40230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425198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448091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470986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493879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51677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53966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562559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58545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60834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631238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65413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67702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699918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72281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745706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768599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79149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81438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837279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86017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88306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905958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92885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95174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974638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997531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4020426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043319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406621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408910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111999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13489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157785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180678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203573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4226466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4249359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427225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4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4295146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4318039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4340932" y="104399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2893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95" name="object 95"/>
          <p:cNvGraphicFramePr>
            <a:graphicFrameLocks noGrp="1"/>
          </p:cNvGraphicFramePr>
          <p:nvPr/>
        </p:nvGraphicFramePr>
        <p:xfrm>
          <a:off x="575999" y="1366095"/>
          <a:ext cx="4738370" cy="269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5625"/>
                <a:gridCol w="2836545"/>
              </a:tblGrid>
              <a:tr h="250190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FULL </a:t>
                      </a:r>
                      <a:r>
                        <a:rPr dirty="0" sz="750" spc="-2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NAME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6675">
                    <a:lnR w="6350">
                      <a:solidFill>
                        <a:srgbClr val="0A2A3F"/>
                      </a:solidFill>
                      <a:prstDash val="solid"/>
                    </a:lnR>
                    <a:lnB w="3175">
                      <a:solidFill>
                        <a:srgbClr val="00C8FF"/>
                      </a:solidFill>
                      <a:prstDash val="solid"/>
                    </a:lnB>
                    <a:solidFill>
                      <a:srgbClr val="002144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 spc="-1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CONTRIBUTION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6675">
                    <a:lnL w="6350">
                      <a:solidFill>
                        <a:srgbClr val="0A2A3F"/>
                      </a:solidFill>
                      <a:prstDash val="solid"/>
                    </a:lnL>
                    <a:lnB w="3175">
                      <a:solidFill>
                        <a:srgbClr val="00C8FF"/>
                      </a:solidFill>
                      <a:prstDash val="solid"/>
                    </a:lnB>
                    <a:solidFill>
                      <a:srgbClr val="002144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Osazee </a:t>
                      </a:r>
                      <a:r>
                        <a:rPr dirty="0" sz="7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Osaghae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R w="6350">
                      <a:solidFill>
                        <a:srgbClr val="0A2A3F"/>
                      </a:solidFill>
                      <a:prstDash val="solid"/>
                    </a:lnR>
                    <a:lnT w="3175">
                      <a:solidFill>
                        <a:srgbClr val="00C8F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A2A3F"/>
                      </a:solidFill>
                      <a:prstDash val="solid"/>
                    </a:lnL>
                    <a:lnT w="3175">
                      <a:solidFill>
                        <a:srgbClr val="00C8F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Alinafe</a:t>
                      </a:r>
                      <a:r>
                        <a:rPr dirty="0" sz="75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Milley</a:t>
                      </a:r>
                      <a:r>
                        <a:rPr dirty="0" sz="7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Manyamba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R w="6350">
                      <a:solidFill>
                        <a:srgbClr val="0A2A3F"/>
                      </a:solidFill>
                      <a:prstDash val="solid"/>
                    </a:lnR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A2A3F"/>
                      </a:solidFill>
                      <a:prstDash val="solid"/>
                    </a:lnL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Muhammad </a:t>
                      </a:r>
                      <a:r>
                        <a:rPr dirty="0" sz="7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Hafsat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R w="6350">
                      <a:solidFill>
                        <a:srgbClr val="0A2A3F"/>
                      </a:solidFill>
                      <a:prstDash val="solid"/>
                    </a:lnR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A2A3F"/>
                      </a:solidFill>
                      <a:prstDash val="solid"/>
                    </a:lnL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Oyedunmade Mariam </a:t>
                      </a:r>
                      <a:r>
                        <a:rPr dirty="0" sz="7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Damola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R w="6350">
                      <a:solidFill>
                        <a:srgbClr val="0A2A3F"/>
                      </a:solidFill>
                      <a:prstDash val="solid"/>
                    </a:lnR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A2A3F"/>
                      </a:solidFill>
                      <a:prstDash val="solid"/>
                    </a:lnL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Bello</a:t>
                      </a:r>
                      <a:r>
                        <a:rPr dirty="0" sz="75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Fathia</a:t>
                      </a:r>
                      <a:r>
                        <a:rPr dirty="0" sz="7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Ayomide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R w="6350">
                      <a:solidFill>
                        <a:srgbClr val="0A2A3F"/>
                      </a:solidFill>
                      <a:prstDash val="solid"/>
                    </a:lnR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A2A3F"/>
                      </a:solidFill>
                      <a:prstDash val="solid"/>
                    </a:lnL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Tumeka </a:t>
                      </a:r>
                      <a:r>
                        <a:rPr dirty="0" sz="7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Dyakopu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R w="6350">
                      <a:solidFill>
                        <a:srgbClr val="0A2A3F"/>
                      </a:solidFill>
                      <a:prstDash val="solid"/>
                    </a:lnR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A2A3F"/>
                      </a:solidFill>
                      <a:prstDash val="solid"/>
                    </a:lnL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Tasneem </a:t>
                      </a:r>
                      <a:r>
                        <a:rPr dirty="0" sz="7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Mahomed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R w="6350">
                      <a:solidFill>
                        <a:srgbClr val="0A2A3F"/>
                      </a:solidFill>
                      <a:prstDash val="solid"/>
                    </a:lnR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A2A3F"/>
                      </a:solidFill>
                      <a:prstDash val="solid"/>
                    </a:lnL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Machiridza </a:t>
                      </a:r>
                      <a:r>
                        <a:rPr dirty="0" sz="7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Tinotenda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R w="6350">
                      <a:solidFill>
                        <a:srgbClr val="0A2A3F"/>
                      </a:solidFill>
                      <a:prstDash val="solid"/>
                    </a:lnR>
                    <a:lnT w="3175">
                      <a:solidFill>
                        <a:srgbClr val="0A2A3F"/>
                      </a:solidFill>
                      <a:prstDash val="solid"/>
                    </a:lnT>
                    <a:lnB w="6350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A2A3F"/>
                      </a:solidFill>
                      <a:prstDash val="solid"/>
                    </a:lnL>
                    <a:lnT w="3175">
                      <a:solidFill>
                        <a:srgbClr val="0A2A3F"/>
                      </a:solidFill>
                      <a:prstDash val="solid"/>
                    </a:lnT>
                    <a:lnB w="6350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" name="object 96"/>
          <p:cNvGraphicFramePr>
            <a:graphicFrameLocks noGrp="1"/>
          </p:cNvGraphicFramePr>
          <p:nvPr/>
        </p:nvGraphicFramePr>
        <p:xfrm>
          <a:off x="5453999" y="1366095"/>
          <a:ext cx="4738370" cy="2390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5625"/>
                <a:gridCol w="2836545"/>
              </a:tblGrid>
              <a:tr h="250190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FULL </a:t>
                      </a:r>
                      <a:r>
                        <a:rPr dirty="0" sz="750" spc="-2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NAME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6675">
                    <a:lnR w="6350">
                      <a:solidFill>
                        <a:srgbClr val="0A2A3F"/>
                      </a:solidFill>
                      <a:prstDash val="solid"/>
                    </a:lnR>
                    <a:lnB w="3175">
                      <a:solidFill>
                        <a:srgbClr val="00C8FF"/>
                      </a:solidFill>
                      <a:prstDash val="solid"/>
                    </a:lnB>
                    <a:solidFill>
                      <a:srgbClr val="002144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 spc="-1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CONTRIBUTION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6675">
                    <a:lnL w="6350">
                      <a:solidFill>
                        <a:srgbClr val="0A2A3F"/>
                      </a:solidFill>
                      <a:prstDash val="solid"/>
                    </a:lnL>
                    <a:lnB w="3175">
                      <a:solidFill>
                        <a:srgbClr val="00C8FF"/>
                      </a:solidFill>
                      <a:prstDash val="solid"/>
                    </a:lnB>
                    <a:solidFill>
                      <a:srgbClr val="002144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Cynthia </a:t>
                      </a:r>
                      <a:r>
                        <a:rPr dirty="0" sz="7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Agwuncha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R w="6350">
                      <a:solidFill>
                        <a:srgbClr val="0A2A3F"/>
                      </a:solidFill>
                      <a:prstDash val="solid"/>
                    </a:lnR>
                    <a:lnT w="3175">
                      <a:solidFill>
                        <a:srgbClr val="00C8F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A2A3F"/>
                      </a:solidFill>
                      <a:prstDash val="solid"/>
                    </a:lnL>
                    <a:lnT w="3175">
                      <a:solidFill>
                        <a:srgbClr val="00C8F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Njemanze </a:t>
                      </a:r>
                      <a:r>
                        <a:rPr dirty="0" sz="7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Adadobi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R w="6350">
                      <a:solidFill>
                        <a:srgbClr val="0A2A3F"/>
                      </a:solidFill>
                      <a:prstDash val="solid"/>
                    </a:lnR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A2A3F"/>
                      </a:solidFill>
                      <a:prstDash val="solid"/>
                    </a:lnL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Dorcas </a:t>
                      </a:r>
                      <a:r>
                        <a:rPr dirty="0" sz="7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Johnson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R w="6350">
                      <a:solidFill>
                        <a:srgbClr val="0A2A3F"/>
                      </a:solidFill>
                      <a:prstDash val="solid"/>
                    </a:lnR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A2A3F"/>
                      </a:solidFill>
                      <a:prstDash val="solid"/>
                    </a:lnL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Juliet</a:t>
                      </a:r>
                      <a:r>
                        <a:rPr dirty="0" sz="75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Chidiogo</a:t>
                      </a:r>
                      <a:r>
                        <a:rPr dirty="0" sz="75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Okonkwo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R w="6350">
                      <a:solidFill>
                        <a:srgbClr val="0A2A3F"/>
                      </a:solidFill>
                      <a:prstDash val="solid"/>
                    </a:lnR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A2A3F"/>
                      </a:solidFill>
                      <a:prstDash val="solid"/>
                    </a:lnL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Chibuzor</a:t>
                      </a:r>
                      <a:r>
                        <a:rPr dirty="0" sz="7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Stella</a:t>
                      </a:r>
                      <a:r>
                        <a:rPr dirty="0" sz="75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Bekee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R w="6350">
                      <a:solidFill>
                        <a:srgbClr val="0A2A3F"/>
                      </a:solidFill>
                      <a:prstDash val="solid"/>
                    </a:lnR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A2A3F"/>
                      </a:solidFill>
                      <a:prstDash val="solid"/>
                    </a:lnL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Agnes </a:t>
                      </a:r>
                      <a:r>
                        <a:rPr dirty="0" sz="7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Asante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R w="6350">
                      <a:solidFill>
                        <a:srgbClr val="0A2A3F"/>
                      </a:solidFill>
                      <a:prstDash val="solid"/>
                    </a:lnR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A2A3F"/>
                      </a:solidFill>
                      <a:prstDash val="solid"/>
                    </a:lnL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dirty="0" sz="7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Purine</a:t>
                      </a:r>
                      <a:r>
                        <a:rPr dirty="0" sz="75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Wambita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R w="6350">
                      <a:solidFill>
                        <a:srgbClr val="0A2A3F"/>
                      </a:solidFill>
                      <a:prstDash val="solid"/>
                    </a:lnR>
                    <a:lnT w="3175">
                      <a:solidFill>
                        <a:srgbClr val="0A2A3F"/>
                      </a:solidFill>
                      <a:prstDash val="solid"/>
                    </a:lnT>
                    <a:lnB w="6350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A2A3F"/>
                      </a:solidFill>
                      <a:prstDash val="solid"/>
                    </a:lnL>
                    <a:lnT w="3175">
                      <a:solidFill>
                        <a:srgbClr val="0A2A3F"/>
                      </a:solidFill>
                      <a:prstDash val="solid"/>
                    </a:lnT>
                    <a:lnB w="6350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</a:tbl>
          </a:graphicData>
        </a:graphic>
      </p:graphicFrame>
      <p:sp>
        <p:nvSpPr>
          <p:cNvPr id="97" name="object 97"/>
          <p:cNvSpPr/>
          <p:nvPr/>
        </p:nvSpPr>
        <p:spPr>
          <a:xfrm>
            <a:off x="2455560" y="1772999"/>
            <a:ext cx="2674620" cy="0"/>
          </a:xfrm>
          <a:custGeom>
            <a:avLst/>
            <a:gdLst/>
            <a:ahLst/>
            <a:cxnLst/>
            <a:rect l="l" t="t" r="r" b="b"/>
            <a:pathLst>
              <a:path w="2674620" h="0">
                <a:moveTo>
                  <a:pt x="0" y="0"/>
                </a:moveTo>
                <a:lnTo>
                  <a:pt x="2674439" y="0"/>
                </a:lnTo>
              </a:path>
            </a:pathLst>
          </a:custGeom>
          <a:ln w="6350">
            <a:solidFill>
              <a:srgbClr val="1D3A5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2455560" y="2078999"/>
            <a:ext cx="2674620" cy="0"/>
          </a:xfrm>
          <a:custGeom>
            <a:avLst/>
            <a:gdLst/>
            <a:ahLst/>
            <a:cxnLst/>
            <a:rect l="l" t="t" r="r" b="b"/>
            <a:pathLst>
              <a:path w="2674620" h="0">
                <a:moveTo>
                  <a:pt x="0" y="0"/>
                </a:moveTo>
                <a:lnTo>
                  <a:pt x="2674439" y="0"/>
                </a:lnTo>
              </a:path>
            </a:pathLst>
          </a:custGeom>
          <a:ln w="6350">
            <a:solidFill>
              <a:srgbClr val="1D3A5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2455560" y="2384999"/>
            <a:ext cx="2674620" cy="0"/>
          </a:xfrm>
          <a:custGeom>
            <a:avLst/>
            <a:gdLst/>
            <a:ahLst/>
            <a:cxnLst/>
            <a:rect l="l" t="t" r="r" b="b"/>
            <a:pathLst>
              <a:path w="2674620" h="0">
                <a:moveTo>
                  <a:pt x="0" y="0"/>
                </a:moveTo>
                <a:lnTo>
                  <a:pt x="2674439" y="0"/>
                </a:lnTo>
              </a:path>
            </a:pathLst>
          </a:custGeom>
          <a:ln w="6350">
            <a:solidFill>
              <a:srgbClr val="1D3A5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2455560" y="2691000"/>
            <a:ext cx="2674620" cy="0"/>
          </a:xfrm>
          <a:custGeom>
            <a:avLst/>
            <a:gdLst/>
            <a:ahLst/>
            <a:cxnLst/>
            <a:rect l="l" t="t" r="r" b="b"/>
            <a:pathLst>
              <a:path w="2674620" h="0">
                <a:moveTo>
                  <a:pt x="0" y="0"/>
                </a:moveTo>
                <a:lnTo>
                  <a:pt x="2674439" y="0"/>
                </a:lnTo>
              </a:path>
            </a:pathLst>
          </a:custGeom>
          <a:ln w="6350">
            <a:solidFill>
              <a:srgbClr val="1D3A5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2455560" y="2997000"/>
            <a:ext cx="2674620" cy="0"/>
          </a:xfrm>
          <a:custGeom>
            <a:avLst/>
            <a:gdLst/>
            <a:ahLst/>
            <a:cxnLst/>
            <a:rect l="l" t="t" r="r" b="b"/>
            <a:pathLst>
              <a:path w="2674620" h="0">
                <a:moveTo>
                  <a:pt x="0" y="0"/>
                </a:moveTo>
                <a:lnTo>
                  <a:pt x="2674439" y="0"/>
                </a:lnTo>
              </a:path>
            </a:pathLst>
          </a:custGeom>
          <a:ln w="6350">
            <a:solidFill>
              <a:srgbClr val="1D3A5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2455560" y="3302999"/>
            <a:ext cx="2674620" cy="0"/>
          </a:xfrm>
          <a:custGeom>
            <a:avLst/>
            <a:gdLst/>
            <a:ahLst/>
            <a:cxnLst/>
            <a:rect l="l" t="t" r="r" b="b"/>
            <a:pathLst>
              <a:path w="2674620" h="0">
                <a:moveTo>
                  <a:pt x="0" y="0"/>
                </a:moveTo>
                <a:lnTo>
                  <a:pt x="2674439" y="0"/>
                </a:lnTo>
              </a:path>
            </a:pathLst>
          </a:custGeom>
          <a:ln w="6350">
            <a:solidFill>
              <a:srgbClr val="1D3A5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2455560" y="3608999"/>
            <a:ext cx="2674620" cy="0"/>
          </a:xfrm>
          <a:custGeom>
            <a:avLst/>
            <a:gdLst/>
            <a:ahLst/>
            <a:cxnLst/>
            <a:rect l="l" t="t" r="r" b="b"/>
            <a:pathLst>
              <a:path w="2674620" h="0">
                <a:moveTo>
                  <a:pt x="0" y="0"/>
                </a:moveTo>
                <a:lnTo>
                  <a:pt x="2674439" y="0"/>
                </a:lnTo>
              </a:path>
            </a:pathLst>
          </a:custGeom>
          <a:ln w="6350">
            <a:solidFill>
              <a:srgbClr val="1D3A5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2455560" y="3914999"/>
            <a:ext cx="2674620" cy="0"/>
          </a:xfrm>
          <a:custGeom>
            <a:avLst/>
            <a:gdLst/>
            <a:ahLst/>
            <a:cxnLst/>
            <a:rect l="l" t="t" r="r" b="b"/>
            <a:pathLst>
              <a:path w="2674620" h="0">
                <a:moveTo>
                  <a:pt x="0" y="0"/>
                </a:moveTo>
                <a:lnTo>
                  <a:pt x="2674439" y="0"/>
                </a:lnTo>
              </a:path>
            </a:pathLst>
          </a:custGeom>
          <a:ln w="6350">
            <a:solidFill>
              <a:srgbClr val="1D3A5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7333560" y="1772999"/>
            <a:ext cx="2674620" cy="0"/>
          </a:xfrm>
          <a:custGeom>
            <a:avLst/>
            <a:gdLst/>
            <a:ahLst/>
            <a:cxnLst/>
            <a:rect l="l" t="t" r="r" b="b"/>
            <a:pathLst>
              <a:path w="2674620" h="0">
                <a:moveTo>
                  <a:pt x="0" y="0"/>
                </a:moveTo>
                <a:lnTo>
                  <a:pt x="2674439" y="0"/>
                </a:lnTo>
              </a:path>
            </a:pathLst>
          </a:custGeom>
          <a:ln w="6350">
            <a:solidFill>
              <a:srgbClr val="1D3A5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7333560" y="2078999"/>
            <a:ext cx="2674620" cy="0"/>
          </a:xfrm>
          <a:custGeom>
            <a:avLst/>
            <a:gdLst/>
            <a:ahLst/>
            <a:cxnLst/>
            <a:rect l="l" t="t" r="r" b="b"/>
            <a:pathLst>
              <a:path w="2674620" h="0">
                <a:moveTo>
                  <a:pt x="0" y="0"/>
                </a:moveTo>
                <a:lnTo>
                  <a:pt x="2674439" y="0"/>
                </a:lnTo>
              </a:path>
            </a:pathLst>
          </a:custGeom>
          <a:ln w="6350">
            <a:solidFill>
              <a:srgbClr val="1D3A5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7333560" y="2384999"/>
            <a:ext cx="2674620" cy="0"/>
          </a:xfrm>
          <a:custGeom>
            <a:avLst/>
            <a:gdLst/>
            <a:ahLst/>
            <a:cxnLst/>
            <a:rect l="l" t="t" r="r" b="b"/>
            <a:pathLst>
              <a:path w="2674620" h="0">
                <a:moveTo>
                  <a:pt x="0" y="0"/>
                </a:moveTo>
                <a:lnTo>
                  <a:pt x="2674439" y="0"/>
                </a:lnTo>
              </a:path>
            </a:pathLst>
          </a:custGeom>
          <a:ln w="6350">
            <a:solidFill>
              <a:srgbClr val="1D3A5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7333560" y="2691000"/>
            <a:ext cx="2674620" cy="0"/>
          </a:xfrm>
          <a:custGeom>
            <a:avLst/>
            <a:gdLst/>
            <a:ahLst/>
            <a:cxnLst/>
            <a:rect l="l" t="t" r="r" b="b"/>
            <a:pathLst>
              <a:path w="2674620" h="0">
                <a:moveTo>
                  <a:pt x="0" y="0"/>
                </a:moveTo>
                <a:lnTo>
                  <a:pt x="2674439" y="0"/>
                </a:lnTo>
              </a:path>
            </a:pathLst>
          </a:custGeom>
          <a:ln w="6350">
            <a:solidFill>
              <a:srgbClr val="1D3A5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7333560" y="2997000"/>
            <a:ext cx="2674620" cy="0"/>
          </a:xfrm>
          <a:custGeom>
            <a:avLst/>
            <a:gdLst/>
            <a:ahLst/>
            <a:cxnLst/>
            <a:rect l="l" t="t" r="r" b="b"/>
            <a:pathLst>
              <a:path w="2674620" h="0">
                <a:moveTo>
                  <a:pt x="0" y="0"/>
                </a:moveTo>
                <a:lnTo>
                  <a:pt x="2674439" y="0"/>
                </a:lnTo>
              </a:path>
            </a:pathLst>
          </a:custGeom>
          <a:ln w="6350">
            <a:solidFill>
              <a:srgbClr val="1D3A5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7333560" y="3302999"/>
            <a:ext cx="2674620" cy="0"/>
          </a:xfrm>
          <a:custGeom>
            <a:avLst/>
            <a:gdLst/>
            <a:ahLst/>
            <a:cxnLst/>
            <a:rect l="l" t="t" r="r" b="b"/>
            <a:pathLst>
              <a:path w="2674620" h="0">
                <a:moveTo>
                  <a:pt x="0" y="0"/>
                </a:moveTo>
                <a:lnTo>
                  <a:pt x="2674439" y="0"/>
                </a:lnTo>
              </a:path>
            </a:pathLst>
          </a:custGeom>
          <a:ln w="6350">
            <a:solidFill>
              <a:srgbClr val="1D3A5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7333560" y="3608999"/>
            <a:ext cx="2674620" cy="0"/>
          </a:xfrm>
          <a:custGeom>
            <a:avLst/>
            <a:gdLst/>
            <a:ahLst/>
            <a:cxnLst/>
            <a:rect l="l" t="t" r="r" b="b"/>
            <a:pathLst>
              <a:path w="2674620" h="0">
                <a:moveTo>
                  <a:pt x="0" y="0"/>
                </a:moveTo>
                <a:lnTo>
                  <a:pt x="2674439" y="0"/>
                </a:lnTo>
              </a:path>
            </a:pathLst>
          </a:custGeom>
          <a:ln w="6350">
            <a:solidFill>
              <a:srgbClr val="1D3A5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280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113" name="object 1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8280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>03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3395979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THE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PROBLEM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Why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Does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Matter?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45540" y="1127649"/>
            <a:ext cx="1101090" cy="12700"/>
            <a:chOff x="2845540" y="1127649"/>
            <a:chExt cx="1101090" cy="12700"/>
          </a:xfrm>
        </p:grpSpPr>
        <p:sp>
          <p:nvSpPr>
            <p:cNvPr id="10" name="object 10"/>
            <p:cNvSpPr/>
            <p:nvPr/>
          </p:nvSpPr>
          <p:spPr>
            <a:xfrm>
              <a:off x="284554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85929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87305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88681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90057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91433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92808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94184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95560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96936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98311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99687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1063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2439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03815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05190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06566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07942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09318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10694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12069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3445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14821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16197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17573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18948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0324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21700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23076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24451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25827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27203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28579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29955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31330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32706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34082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35458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36834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38209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39585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40961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42337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43713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45088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46464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47840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49216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50592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51967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53343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54719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56095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57470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58846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60222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61598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62974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64349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65725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67101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68477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69853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71228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72604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73980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75356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76732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78107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79483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80859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82235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83610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84986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86362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87738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89114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90489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91865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93241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8192134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Online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scams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are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becoming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increasingly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sophisticated.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human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factor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remains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weakest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link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in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cybersecurity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—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most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training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is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boring,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passive,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forgettable.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2048824"/>
            <a:ext cx="3090545" cy="1374775"/>
            <a:chOff x="572824" y="2048824"/>
            <a:chExt cx="3090545" cy="1374775"/>
          </a:xfrm>
        </p:grpSpPr>
        <p:sp>
          <p:nvSpPr>
            <p:cNvPr id="173" name="object 173"/>
            <p:cNvSpPr/>
            <p:nvPr/>
          </p:nvSpPr>
          <p:spPr>
            <a:xfrm>
              <a:off x="575999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045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lnTo>
                    <a:pt x="3045900" y="1367999"/>
                  </a:lnTo>
                  <a:lnTo>
                    <a:pt x="3060738" y="1365008"/>
                  </a:lnTo>
                  <a:lnTo>
                    <a:pt x="3072848" y="1356847"/>
                  </a:lnTo>
                  <a:lnTo>
                    <a:pt x="3081008" y="1344738"/>
                  </a:lnTo>
                  <a:lnTo>
                    <a:pt x="3084000" y="1329899"/>
                  </a:lnTo>
                  <a:lnTo>
                    <a:pt x="3084000" y="38100"/>
                  </a:lnTo>
                  <a:lnTo>
                    <a:pt x="3081008" y="23261"/>
                  </a:lnTo>
                  <a:lnTo>
                    <a:pt x="3072848" y="11151"/>
                  </a:lnTo>
                  <a:lnTo>
                    <a:pt x="3060738" y="2991"/>
                  </a:lnTo>
                  <a:lnTo>
                    <a:pt x="3045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8100" y="1367999"/>
                  </a:moveTo>
                  <a:lnTo>
                    <a:pt x="3045900" y="1367999"/>
                  </a:lnTo>
                  <a:lnTo>
                    <a:pt x="3060738" y="1365008"/>
                  </a:lnTo>
                  <a:lnTo>
                    <a:pt x="3072848" y="1356847"/>
                  </a:lnTo>
                  <a:lnTo>
                    <a:pt x="3081008" y="1344738"/>
                  </a:lnTo>
                  <a:lnTo>
                    <a:pt x="3084000" y="1329899"/>
                  </a:lnTo>
                  <a:lnTo>
                    <a:pt x="3084000" y="38100"/>
                  </a:lnTo>
                  <a:lnTo>
                    <a:pt x="3081008" y="23261"/>
                  </a:lnTo>
                  <a:lnTo>
                    <a:pt x="3072848" y="11151"/>
                  </a:lnTo>
                  <a:lnTo>
                    <a:pt x="3060738" y="2991"/>
                  </a:lnTo>
                  <a:lnTo>
                    <a:pt x="3045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2051999"/>
              <a:ext cx="31750" cy="1368425"/>
            </a:xfrm>
            <a:custGeom>
              <a:avLst/>
              <a:gdLst/>
              <a:ahLst/>
              <a:cxnLst/>
              <a:rect l="l" t="t" r="r" b="b"/>
              <a:pathLst>
                <a:path w="31750" h="1368425">
                  <a:moveTo>
                    <a:pt x="31750" y="0"/>
                  </a:moveTo>
                  <a:lnTo>
                    <a:pt x="0" y="0"/>
                  </a:lnTo>
                  <a:lnTo>
                    <a:pt x="0" y="1367999"/>
                  </a:lnTo>
                  <a:lnTo>
                    <a:pt x="31750" y="1367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612512" y="2219350"/>
            <a:ext cx="3024505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C8FF"/>
                </a:solidFill>
                <a:latin typeface="Arial"/>
                <a:cs typeface="Arial"/>
              </a:rPr>
              <a:t>FINANCIAL</a:t>
            </a:r>
            <a:r>
              <a:rPr dirty="0" sz="850" spc="-50" b="1">
                <a:solidFill>
                  <a:srgbClr val="00C8FF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C8FF"/>
                </a:solidFill>
                <a:latin typeface="Arial"/>
                <a:cs typeface="Arial"/>
              </a:rPr>
              <a:t>LOSSES</a:t>
            </a:r>
            <a:endParaRPr sz="850">
              <a:latin typeface="Arial"/>
              <a:cs typeface="Arial"/>
            </a:endParaRPr>
          </a:p>
          <a:p>
            <a:pPr marL="142875" marR="247015">
              <a:lnSpc>
                <a:spcPct val="141700"/>
              </a:lnSpc>
              <a:spcBef>
                <a:spcPts val="610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Cybercrime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costs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Africa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billions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annually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through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phishing,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fraud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identity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theft.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3800825" y="2048824"/>
            <a:ext cx="3090545" cy="1374775"/>
            <a:chOff x="3800825" y="2048824"/>
            <a:chExt cx="3090545" cy="1374775"/>
          </a:xfrm>
        </p:grpSpPr>
        <p:sp>
          <p:nvSpPr>
            <p:cNvPr id="178" name="object 178"/>
            <p:cNvSpPr/>
            <p:nvPr/>
          </p:nvSpPr>
          <p:spPr>
            <a:xfrm>
              <a:off x="3804000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045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lnTo>
                    <a:pt x="3045899" y="1367999"/>
                  </a:lnTo>
                  <a:lnTo>
                    <a:pt x="3060737" y="1365008"/>
                  </a:lnTo>
                  <a:lnTo>
                    <a:pt x="3072847" y="1356847"/>
                  </a:lnTo>
                  <a:lnTo>
                    <a:pt x="3081008" y="1344738"/>
                  </a:lnTo>
                  <a:lnTo>
                    <a:pt x="3083999" y="1329899"/>
                  </a:lnTo>
                  <a:lnTo>
                    <a:pt x="3083999" y="38100"/>
                  </a:lnTo>
                  <a:lnTo>
                    <a:pt x="3081008" y="23261"/>
                  </a:lnTo>
                  <a:lnTo>
                    <a:pt x="3072847" y="11151"/>
                  </a:lnTo>
                  <a:lnTo>
                    <a:pt x="3060737" y="2991"/>
                  </a:lnTo>
                  <a:lnTo>
                    <a:pt x="3045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3804000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8100" y="1367999"/>
                  </a:moveTo>
                  <a:lnTo>
                    <a:pt x="3045899" y="1367999"/>
                  </a:lnTo>
                  <a:lnTo>
                    <a:pt x="3060737" y="1365008"/>
                  </a:lnTo>
                  <a:lnTo>
                    <a:pt x="3072847" y="1356847"/>
                  </a:lnTo>
                  <a:lnTo>
                    <a:pt x="3081008" y="1344738"/>
                  </a:lnTo>
                  <a:lnTo>
                    <a:pt x="3083999" y="1329899"/>
                  </a:lnTo>
                  <a:lnTo>
                    <a:pt x="3083999" y="38100"/>
                  </a:lnTo>
                  <a:lnTo>
                    <a:pt x="3081008" y="23261"/>
                  </a:lnTo>
                  <a:lnTo>
                    <a:pt x="3072847" y="11151"/>
                  </a:lnTo>
                  <a:lnTo>
                    <a:pt x="3060737" y="2991"/>
                  </a:lnTo>
                  <a:lnTo>
                    <a:pt x="3045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3804000" y="2051999"/>
              <a:ext cx="31750" cy="1368425"/>
            </a:xfrm>
            <a:custGeom>
              <a:avLst/>
              <a:gdLst/>
              <a:ahLst/>
              <a:cxnLst/>
              <a:rect l="l" t="t" r="r" b="b"/>
              <a:pathLst>
                <a:path w="31750" h="1368425">
                  <a:moveTo>
                    <a:pt x="31750" y="0"/>
                  </a:moveTo>
                  <a:lnTo>
                    <a:pt x="0" y="0"/>
                  </a:lnTo>
                  <a:lnTo>
                    <a:pt x="0" y="1367999"/>
                  </a:lnTo>
                  <a:lnTo>
                    <a:pt x="31750" y="1367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3840512" y="2219350"/>
            <a:ext cx="3024505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A854F6"/>
                </a:solidFill>
                <a:latin typeface="Arial"/>
                <a:cs typeface="Arial"/>
              </a:rPr>
              <a:t>HUMAN </a:t>
            </a:r>
            <a:r>
              <a:rPr dirty="0" sz="850" spc="-10" b="1">
                <a:solidFill>
                  <a:srgbClr val="A854F6"/>
                </a:solidFill>
                <a:latin typeface="Arial"/>
                <a:cs typeface="Arial"/>
              </a:rPr>
              <a:t>ERROR</a:t>
            </a:r>
            <a:endParaRPr sz="850">
              <a:latin typeface="Arial"/>
              <a:cs typeface="Arial"/>
            </a:endParaRPr>
          </a:p>
          <a:p>
            <a:pPr marL="142875" marR="247015">
              <a:lnSpc>
                <a:spcPct val="141700"/>
              </a:lnSpc>
              <a:spcBef>
                <a:spcPts val="610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Over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70%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of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cyber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attacks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exploit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human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behaviour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—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not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 technical</a:t>
            </a:r>
            <a:r>
              <a:rPr dirty="0" sz="800" spc="-3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vulnerabilities.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7028825" y="2048824"/>
            <a:ext cx="3090545" cy="1374775"/>
            <a:chOff x="7028825" y="2048824"/>
            <a:chExt cx="3090545" cy="1374775"/>
          </a:xfrm>
        </p:grpSpPr>
        <p:sp>
          <p:nvSpPr>
            <p:cNvPr id="183" name="object 183"/>
            <p:cNvSpPr/>
            <p:nvPr/>
          </p:nvSpPr>
          <p:spPr>
            <a:xfrm>
              <a:off x="7032000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045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lnTo>
                    <a:pt x="3045899" y="1367999"/>
                  </a:lnTo>
                  <a:lnTo>
                    <a:pt x="3060737" y="1365008"/>
                  </a:lnTo>
                  <a:lnTo>
                    <a:pt x="3072847" y="1356847"/>
                  </a:lnTo>
                  <a:lnTo>
                    <a:pt x="3081008" y="1344738"/>
                  </a:lnTo>
                  <a:lnTo>
                    <a:pt x="3083999" y="1329899"/>
                  </a:lnTo>
                  <a:lnTo>
                    <a:pt x="3083999" y="38100"/>
                  </a:lnTo>
                  <a:lnTo>
                    <a:pt x="3081008" y="23261"/>
                  </a:lnTo>
                  <a:lnTo>
                    <a:pt x="3072847" y="11151"/>
                  </a:lnTo>
                  <a:lnTo>
                    <a:pt x="3060737" y="2991"/>
                  </a:lnTo>
                  <a:lnTo>
                    <a:pt x="3045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7032000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8100" y="1367999"/>
                  </a:moveTo>
                  <a:lnTo>
                    <a:pt x="3045899" y="1367999"/>
                  </a:lnTo>
                  <a:lnTo>
                    <a:pt x="3060737" y="1365008"/>
                  </a:lnTo>
                  <a:lnTo>
                    <a:pt x="3072847" y="1356847"/>
                  </a:lnTo>
                  <a:lnTo>
                    <a:pt x="3081008" y="1344738"/>
                  </a:lnTo>
                  <a:lnTo>
                    <a:pt x="3083999" y="1329899"/>
                  </a:lnTo>
                  <a:lnTo>
                    <a:pt x="3083999" y="38100"/>
                  </a:lnTo>
                  <a:lnTo>
                    <a:pt x="3081008" y="23261"/>
                  </a:lnTo>
                  <a:lnTo>
                    <a:pt x="3072847" y="11151"/>
                  </a:lnTo>
                  <a:lnTo>
                    <a:pt x="3060737" y="2991"/>
                  </a:lnTo>
                  <a:lnTo>
                    <a:pt x="3045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7032000" y="2051999"/>
              <a:ext cx="31750" cy="1368425"/>
            </a:xfrm>
            <a:custGeom>
              <a:avLst/>
              <a:gdLst/>
              <a:ahLst/>
              <a:cxnLst/>
              <a:rect l="l" t="t" r="r" b="b"/>
              <a:pathLst>
                <a:path w="31750" h="1368425">
                  <a:moveTo>
                    <a:pt x="31750" y="0"/>
                  </a:moveTo>
                  <a:lnTo>
                    <a:pt x="0" y="0"/>
                  </a:lnTo>
                  <a:lnTo>
                    <a:pt x="0" y="1367999"/>
                  </a:lnTo>
                  <a:lnTo>
                    <a:pt x="31750" y="1367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7068512" y="2219350"/>
            <a:ext cx="3024505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5B5D4"/>
                </a:solidFill>
                <a:latin typeface="Arial"/>
                <a:cs typeface="Arial"/>
              </a:rPr>
              <a:t>INEFFECTIVE </a:t>
            </a:r>
            <a:r>
              <a:rPr dirty="0" sz="850" spc="-10" b="1">
                <a:solidFill>
                  <a:srgbClr val="05B5D4"/>
                </a:solidFill>
                <a:latin typeface="Arial"/>
                <a:cs typeface="Arial"/>
              </a:rPr>
              <a:t>TRAINING</a:t>
            </a:r>
            <a:endParaRPr sz="850">
              <a:latin typeface="Arial"/>
              <a:cs typeface="Arial"/>
            </a:endParaRPr>
          </a:p>
          <a:p>
            <a:pPr marL="142875" marR="331470">
              <a:lnSpc>
                <a:spcPct val="141700"/>
              </a:lnSpc>
              <a:spcBef>
                <a:spcPts val="610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Most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awareness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training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is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static,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theoretical,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fails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to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 create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lasting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behaviour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change.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72189" y="3632189"/>
            <a:ext cx="9547860" cy="584200"/>
            <a:chOff x="572189" y="3632189"/>
            <a:chExt cx="9547860" cy="584200"/>
          </a:xfrm>
        </p:grpSpPr>
        <p:sp>
          <p:nvSpPr>
            <p:cNvPr id="188" name="object 188"/>
            <p:cNvSpPr/>
            <p:nvPr/>
          </p:nvSpPr>
          <p:spPr>
            <a:xfrm>
              <a:off x="575999" y="3635999"/>
              <a:ext cx="9540240" cy="576580"/>
            </a:xfrm>
            <a:custGeom>
              <a:avLst/>
              <a:gdLst/>
              <a:ahLst/>
              <a:cxnLst/>
              <a:rect l="l" t="t" r="r" b="b"/>
              <a:pathLst>
                <a:path w="9540240" h="57657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900"/>
                  </a:lnTo>
                  <a:lnTo>
                    <a:pt x="2991" y="552739"/>
                  </a:lnTo>
                  <a:lnTo>
                    <a:pt x="11151" y="564849"/>
                  </a:lnTo>
                  <a:lnTo>
                    <a:pt x="23261" y="573009"/>
                  </a:lnTo>
                  <a:lnTo>
                    <a:pt x="38100" y="576000"/>
                  </a:lnTo>
                  <a:lnTo>
                    <a:pt x="9501899" y="576000"/>
                  </a:lnTo>
                  <a:lnTo>
                    <a:pt x="9516738" y="573009"/>
                  </a:lnTo>
                  <a:lnTo>
                    <a:pt x="9528847" y="564849"/>
                  </a:lnTo>
                  <a:lnTo>
                    <a:pt x="9537008" y="552739"/>
                  </a:lnTo>
                  <a:lnTo>
                    <a:pt x="9539999" y="537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30E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75999" y="3635999"/>
              <a:ext cx="9540240" cy="576580"/>
            </a:xfrm>
            <a:custGeom>
              <a:avLst/>
              <a:gdLst/>
              <a:ahLst/>
              <a:cxnLst/>
              <a:rect l="l" t="t" r="r" b="b"/>
              <a:pathLst>
                <a:path w="9540240" h="576579">
                  <a:moveTo>
                    <a:pt x="38100" y="576000"/>
                  </a:moveTo>
                  <a:lnTo>
                    <a:pt x="9501899" y="576000"/>
                  </a:lnTo>
                  <a:lnTo>
                    <a:pt x="9516738" y="573009"/>
                  </a:lnTo>
                  <a:lnTo>
                    <a:pt x="9528847" y="564849"/>
                  </a:lnTo>
                  <a:lnTo>
                    <a:pt x="9537008" y="552739"/>
                  </a:lnTo>
                  <a:lnTo>
                    <a:pt x="9539999" y="537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900"/>
                  </a:lnTo>
                  <a:lnTo>
                    <a:pt x="2991" y="552739"/>
                  </a:lnTo>
                  <a:lnTo>
                    <a:pt x="11151" y="564849"/>
                  </a:lnTo>
                  <a:lnTo>
                    <a:pt x="23261" y="573009"/>
                  </a:lnTo>
                  <a:lnTo>
                    <a:pt x="38100" y="576000"/>
                  </a:lnTo>
                  <a:close/>
                </a:path>
              </a:pathLst>
            </a:custGeom>
            <a:ln w="7619">
              <a:solidFill>
                <a:srgbClr val="00FF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0" name="object 190"/>
          <p:cNvSpPr txBox="1"/>
          <p:nvPr/>
        </p:nvSpPr>
        <p:spPr>
          <a:xfrm>
            <a:off x="3039984" y="3844650"/>
            <a:ext cx="461200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 i="1">
                <a:solidFill>
                  <a:srgbClr val="00FF9C"/>
                </a:solidFill>
                <a:latin typeface="Arial"/>
                <a:cs typeface="Arial"/>
              </a:rPr>
              <a:t>"People learn best through realistic, high-stakes experience — not </a:t>
            </a:r>
            <a:r>
              <a:rPr dirty="0" sz="950" spc="-10" b="1" i="1">
                <a:solidFill>
                  <a:srgbClr val="00FF9C"/>
                </a:solidFill>
                <a:latin typeface="Arial"/>
                <a:cs typeface="Arial"/>
              </a:rPr>
              <a:t>slideshows."</a:t>
            </a:r>
            <a:endParaRPr sz="950">
              <a:latin typeface="Arial"/>
              <a:cs typeface="Arial"/>
            </a:endParaRPr>
          </a:p>
        </p:txBody>
      </p:sp>
      <p:sp>
        <p:nvSpPr>
          <p:cNvPr id="191" name="object 19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192" name="object 19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>04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3243580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OUR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SOLUTION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dirty="0" sz="24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4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C8FF"/>
                </a:solidFill>
                <a:latin typeface="Arial"/>
                <a:cs typeface="Arial"/>
              </a:rPr>
              <a:t>Cyber</a:t>
            </a:r>
            <a:r>
              <a:rPr dirty="0" sz="2400" spc="-20" b="1">
                <a:solidFill>
                  <a:srgbClr val="00C8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Shield?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44602" y="1127649"/>
            <a:ext cx="2049780" cy="12700"/>
            <a:chOff x="1744602" y="1127649"/>
            <a:chExt cx="2049780" cy="12700"/>
          </a:xfrm>
        </p:grpSpPr>
        <p:sp>
          <p:nvSpPr>
            <p:cNvPr id="10" name="object 10"/>
            <p:cNvSpPr/>
            <p:nvPr/>
          </p:nvSpPr>
          <p:spPr>
            <a:xfrm>
              <a:off x="174460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7022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9583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2145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4707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7269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89831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2393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4955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7516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00078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2640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5202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7764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10326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12887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5449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8011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20573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23135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25697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28259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30820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33382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35944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38506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41068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43630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46191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48753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51315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53877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56439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59001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61562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64124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66686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69248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71810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74372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76934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79495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82057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84619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87181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89743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92305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94866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97428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99990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02552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05114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07676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10238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12799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15361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17923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20485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23047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25609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28170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30732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33294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35856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38418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40980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43541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46103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48665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51227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53789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56351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58913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61474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64036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66598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69160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71722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74284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76845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55880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</a:t>
            </a:r>
            <a:r>
              <a:rPr dirty="0" sz="850" spc="-3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AI-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powered,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gamified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cybersecurity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escape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room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that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builds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genuine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immunity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against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scams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through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simulation.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2048824"/>
            <a:ext cx="4704715" cy="726440"/>
            <a:chOff x="572824" y="2048824"/>
            <a:chExt cx="4704715" cy="726440"/>
          </a:xfrm>
        </p:grpSpPr>
        <p:sp>
          <p:nvSpPr>
            <p:cNvPr id="173" name="object 173"/>
            <p:cNvSpPr/>
            <p:nvPr/>
          </p:nvSpPr>
          <p:spPr>
            <a:xfrm>
              <a:off x="575999" y="2051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2051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2051999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612512" y="2189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0C8FF"/>
                </a:solidFill>
                <a:latin typeface="Arial"/>
                <a:cs typeface="Arial"/>
              </a:rPr>
              <a:t>PHISHING</a:t>
            </a:r>
            <a:r>
              <a:rPr dirty="0" sz="800" spc="-40" b="1">
                <a:solidFill>
                  <a:srgbClr val="00C8FF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C8FF"/>
                </a:solidFill>
                <a:latin typeface="Arial"/>
                <a:cs typeface="Arial"/>
              </a:rPr>
              <a:t>SIMULATIONS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Realistic email,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WhatsApp &amp;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login scam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scenarios.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5414825" y="2048824"/>
            <a:ext cx="4704715" cy="726440"/>
            <a:chOff x="5414825" y="2048824"/>
            <a:chExt cx="4704715" cy="726440"/>
          </a:xfrm>
        </p:grpSpPr>
        <p:sp>
          <p:nvSpPr>
            <p:cNvPr id="178" name="object 178"/>
            <p:cNvSpPr/>
            <p:nvPr/>
          </p:nvSpPr>
          <p:spPr>
            <a:xfrm>
              <a:off x="5418000" y="2051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418000" y="2051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418000" y="2051999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5454512" y="2189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A854F6"/>
                </a:solidFill>
                <a:latin typeface="Arial"/>
                <a:cs typeface="Arial"/>
              </a:rPr>
              <a:t>ESCAPE</a:t>
            </a:r>
            <a:r>
              <a:rPr dirty="0" sz="800" spc="-20" b="1">
                <a:solidFill>
                  <a:srgbClr val="A854F6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A854F6"/>
                </a:solidFill>
                <a:latin typeface="Arial"/>
                <a:cs typeface="Arial"/>
              </a:rPr>
              <a:t>ROOM</a:t>
            </a:r>
            <a:r>
              <a:rPr dirty="0" sz="800" spc="-15" b="1">
                <a:solidFill>
                  <a:srgbClr val="A854F6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A854F6"/>
                </a:solidFill>
                <a:latin typeface="Arial"/>
                <a:cs typeface="Arial"/>
              </a:rPr>
              <a:t>GAMEPLAY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5 escalating levels with countdown timer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pressure.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572824" y="2876825"/>
            <a:ext cx="4704715" cy="726440"/>
            <a:chOff x="572824" y="2876825"/>
            <a:chExt cx="4704715" cy="726440"/>
          </a:xfrm>
        </p:grpSpPr>
        <p:sp>
          <p:nvSpPr>
            <p:cNvPr id="183" name="object 183"/>
            <p:cNvSpPr/>
            <p:nvPr/>
          </p:nvSpPr>
          <p:spPr>
            <a:xfrm>
              <a:off x="575999" y="2880000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75999" y="2880000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75999" y="2880000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612512" y="3017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5B5D4"/>
                </a:solidFill>
                <a:latin typeface="Arial"/>
                <a:cs typeface="Arial"/>
              </a:rPr>
              <a:t>AI BEHAVIOURAL </a:t>
            </a:r>
            <a:r>
              <a:rPr dirty="0" sz="800" spc="-10" b="1">
                <a:solidFill>
                  <a:srgbClr val="05B5D4"/>
                </a:solidFill>
                <a:latin typeface="Arial"/>
                <a:cs typeface="Arial"/>
              </a:rPr>
              <a:t>ENGINE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Tracks decisions and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computes your Human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Risk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Score.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414825" y="2876825"/>
            <a:ext cx="4704715" cy="726440"/>
            <a:chOff x="5414825" y="2876825"/>
            <a:chExt cx="4704715" cy="726440"/>
          </a:xfrm>
        </p:grpSpPr>
        <p:sp>
          <p:nvSpPr>
            <p:cNvPr id="188" name="object 188"/>
            <p:cNvSpPr/>
            <p:nvPr/>
          </p:nvSpPr>
          <p:spPr>
            <a:xfrm>
              <a:off x="5418000" y="2880000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418000" y="2880000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418000" y="2880000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5454512" y="3017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0C8FF"/>
                </a:solidFill>
                <a:latin typeface="Arial"/>
                <a:cs typeface="Arial"/>
              </a:rPr>
              <a:t>REAL-TIME </a:t>
            </a:r>
            <a:r>
              <a:rPr dirty="0" sz="800" spc="-10" b="1">
                <a:solidFill>
                  <a:srgbClr val="00C8FF"/>
                </a:solidFill>
                <a:latin typeface="Arial"/>
                <a:cs typeface="Arial"/>
              </a:rPr>
              <a:t>FEEDBACK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Instant explanation after every decision with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tips.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72824" y="3704824"/>
            <a:ext cx="4704715" cy="726440"/>
            <a:chOff x="572824" y="3704824"/>
            <a:chExt cx="4704715" cy="726440"/>
          </a:xfrm>
        </p:grpSpPr>
        <p:sp>
          <p:nvSpPr>
            <p:cNvPr id="193" name="object 193"/>
            <p:cNvSpPr/>
            <p:nvPr/>
          </p:nvSpPr>
          <p:spPr>
            <a:xfrm>
              <a:off x="575999" y="3707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75999" y="3707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575999" y="3707999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6" name="object 196"/>
          <p:cNvSpPr txBox="1"/>
          <p:nvPr/>
        </p:nvSpPr>
        <p:spPr>
          <a:xfrm>
            <a:off x="612512" y="3845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A854F6"/>
                </a:solidFill>
                <a:latin typeface="Arial"/>
                <a:cs typeface="Arial"/>
              </a:rPr>
              <a:t>BADGES</a:t>
            </a:r>
            <a:r>
              <a:rPr dirty="0" sz="800" spc="-20" b="1">
                <a:solidFill>
                  <a:srgbClr val="A854F6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A854F6"/>
                </a:solidFill>
                <a:latin typeface="Arial"/>
                <a:cs typeface="Arial"/>
              </a:rPr>
              <a:t>&amp;</a:t>
            </a:r>
            <a:r>
              <a:rPr dirty="0" sz="800" spc="-15" b="1">
                <a:solidFill>
                  <a:srgbClr val="A854F6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A854F6"/>
                </a:solidFill>
                <a:latin typeface="Arial"/>
                <a:cs typeface="Arial"/>
              </a:rPr>
              <a:t>LEADERBOARD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Gamified progression system with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achievements.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7" name="object 197"/>
          <p:cNvGrpSpPr/>
          <p:nvPr/>
        </p:nvGrpSpPr>
        <p:grpSpPr>
          <a:xfrm>
            <a:off x="5414825" y="3704824"/>
            <a:ext cx="4704715" cy="726440"/>
            <a:chOff x="5414825" y="3704824"/>
            <a:chExt cx="4704715" cy="726440"/>
          </a:xfrm>
        </p:grpSpPr>
        <p:sp>
          <p:nvSpPr>
            <p:cNvPr id="198" name="object 198"/>
            <p:cNvSpPr/>
            <p:nvPr/>
          </p:nvSpPr>
          <p:spPr>
            <a:xfrm>
              <a:off x="5418000" y="3707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5418000" y="3707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5418000" y="3707999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1" name="object 201"/>
          <p:cNvSpPr txBox="1"/>
          <p:nvPr/>
        </p:nvSpPr>
        <p:spPr>
          <a:xfrm>
            <a:off x="5454512" y="3845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5B5D4"/>
                </a:solidFill>
                <a:latin typeface="Arial"/>
                <a:cs typeface="Arial"/>
              </a:rPr>
              <a:t>VIRTUAL </a:t>
            </a:r>
            <a:r>
              <a:rPr dirty="0" sz="800" spc="-10" b="1">
                <a:solidFill>
                  <a:srgbClr val="05B5D4"/>
                </a:solidFill>
                <a:latin typeface="Arial"/>
                <a:cs typeface="Arial"/>
              </a:rPr>
              <a:t>STAKES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$50,000 in virtual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money at risk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— decisions have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real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cost.</a:t>
            </a:r>
            <a:endParaRPr sz="750">
              <a:latin typeface="Arial"/>
              <a:cs typeface="Arial"/>
            </a:endParaRPr>
          </a:p>
        </p:txBody>
      </p:sp>
      <p:sp>
        <p:nvSpPr>
          <p:cNvPr id="202" name="object 20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03" name="object 20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>05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3176270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GAME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DESIGN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5-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C8FF"/>
                </a:solidFill>
                <a:latin typeface="Arial"/>
                <a:cs typeface="Arial"/>
              </a:rPr>
              <a:t>Escape</a:t>
            </a:r>
            <a:r>
              <a:rPr dirty="0" sz="2400" spc="-60" b="1">
                <a:solidFill>
                  <a:srgbClr val="00C8FF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00C8FF"/>
                </a:solidFill>
                <a:latin typeface="Arial"/>
                <a:cs typeface="Arial"/>
              </a:rPr>
              <a:t>Room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11074" y="1127649"/>
            <a:ext cx="2016125" cy="12700"/>
            <a:chOff x="1711074" y="1127649"/>
            <a:chExt cx="2016125" cy="12700"/>
          </a:xfrm>
        </p:grpSpPr>
        <p:sp>
          <p:nvSpPr>
            <p:cNvPr id="10" name="object 10"/>
            <p:cNvSpPr/>
            <p:nvPr/>
          </p:nvSpPr>
          <p:spPr>
            <a:xfrm>
              <a:off x="171107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3627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6146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78666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1185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3705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86224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88744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1263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3783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96303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98822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1342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3861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06381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08900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1420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3939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16459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18978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21498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24018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26537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29057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31576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34096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36615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39135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41654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44174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46694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49213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51733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54252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56772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59291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61811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64330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66850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69370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71889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74409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76928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79448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81967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84487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87006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89526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92046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94565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97085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99604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02124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04643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07163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09682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12202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14722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17241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19761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22280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24800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27319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29839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32358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34878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37397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39917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42437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44956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47476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49995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52515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55034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57554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60073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62593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65113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67632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70152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479552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Each</a:t>
            </a:r>
            <a:r>
              <a:rPr dirty="0" sz="850" spc="-3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level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presents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realistic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scenario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UI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with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timer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pressure,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multiple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choices,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consequences.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1976824"/>
            <a:ext cx="9546590" cy="546735"/>
            <a:chOff x="572824" y="1976824"/>
            <a:chExt cx="9546590" cy="546735"/>
          </a:xfrm>
        </p:grpSpPr>
        <p:sp>
          <p:nvSpPr>
            <p:cNvPr id="173" name="object 173"/>
            <p:cNvSpPr/>
            <p:nvPr/>
          </p:nvSpPr>
          <p:spPr>
            <a:xfrm>
              <a:off x="575999" y="1979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1979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1979999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719999" y="2088000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599"/>
                  </a:lnTo>
                  <a:lnTo>
                    <a:pt x="1994" y="308492"/>
                  </a:lnTo>
                  <a:lnTo>
                    <a:pt x="7434" y="316565"/>
                  </a:lnTo>
                  <a:lnTo>
                    <a:pt x="15507" y="322005"/>
                  </a:lnTo>
                  <a:lnTo>
                    <a:pt x="25400" y="323999"/>
                  </a:lnTo>
                  <a:lnTo>
                    <a:pt x="622599" y="323999"/>
                  </a:lnTo>
                  <a:lnTo>
                    <a:pt x="632491" y="322005"/>
                  </a:lnTo>
                  <a:lnTo>
                    <a:pt x="640565" y="316565"/>
                  </a:lnTo>
                  <a:lnTo>
                    <a:pt x="646005" y="308492"/>
                  </a:lnTo>
                  <a:lnTo>
                    <a:pt x="647999" y="298599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7" name="object 177"/>
          <p:cNvSpPr txBox="1"/>
          <p:nvPr/>
        </p:nvSpPr>
        <p:spPr>
          <a:xfrm>
            <a:off x="883979" y="2184399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00C8FF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700" spc="-25" b="1">
                <a:solidFill>
                  <a:srgbClr val="00C8FF"/>
                </a:solidFill>
                <a:latin typeface="Courier New"/>
                <a:cs typeface="Courier New"/>
              </a:rPr>
              <a:t>01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1511999" y="2050988"/>
            <a:ext cx="1430655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PHISHING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EMAIL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Fake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PayPal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suspension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notice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79" name="object 179"/>
          <p:cNvGrpSpPr/>
          <p:nvPr/>
        </p:nvGrpSpPr>
        <p:grpSpPr>
          <a:xfrm>
            <a:off x="4536000" y="2195999"/>
            <a:ext cx="4860290" cy="108585"/>
            <a:chOff x="4536000" y="2195999"/>
            <a:chExt cx="4860290" cy="108585"/>
          </a:xfrm>
        </p:grpSpPr>
        <p:sp>
          <p:nvSpPr>
            <p:cNvPr id="180" name="object 180"/>
            <p:cNvSpPr/>
            <p:nvPr/>
          </p:nvSpPr>
          <p:spPr>
            <a:xfrm>
              <a:off x="4536000" y="2195999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4840949" y="107999"/>
                  </a:lnTo>
                  <a:lnTo>
                    <a:pt x="4848368" y="106503"/>
                  </a:lnTo>
                  <a:lnTo>
                    <a:pt x="4854423" y="102423"/>
                  </a:lnTo>
                  <a:lnTo>
                    <a:pt x="4858503" y="96368"/>
                  </a:lnTo>
                  <a:lnTo>
                    <a:pt x="4859999" y="88949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4536000" y="2195999"/>
              <a:ext cx="972185" cy="108585"/>
            </a:xfrm>
            <a:custGeom>
              <a:avLst/>
              <a:gdLst/>
              <a:ahLst/>
              <a:cxnLst/>
              <a:rect l="l" t="t" r="r" b="b"/>
              <a:pathLst>
                <a:path w="972185" h="108585">
                  <a:moveTo>
                    <a:pt x="952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952949" y="107999"/>
                  </a:lnTo>
                  <a:lnTo>
                    <a:pt x="960368" y="106503"/>
                  </a:lnTo>
                  <a:lnTo>
                    <a:pt x="966423" y="102423"/>
                  </a:lnTo>
                  <a:lnTo>
                    <a:pt x="970503" y="96368"/>
                  </a:lnTo>
                  <a:lnTo>
                    <a:pt x="971999" y="88949"/>
                  </a:lnTo>
                  <a:lnTo>
                    <a:pt x="971999" y="19050"/>
                  </a:lnTo>
                  <a:lnTo>
                    <a:pt x="970503" y="11630"/>
                  </a:lnTo>
                  <a:lnTo>
                    <a:pt x="966423" y="5575"/>
                  </a:lnTo>
                  <a:lnTo>
                    <a:pt x="960368" y="1495"/>
                  </a:lnTo>
                  <a:lnTo>
                    <a:pt x="952949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2" name="object 182"/>
          <p:cNvSpPr txBox="1"/>
          <p:nvPr/>
        </p:nvSpPr>
        <p:spPr>
          <a:xfrm>
            <a:off x="9655379" y="2165349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C8FF"/>
                </a:solidFill>
                <a:latin typeface="Courier New"/>
                <a:cs typeface="Courier New"/>
              </a:rPr>
              <a:t>45</a:t>
            </a:r>
            <a:r>
              <a:rPr dirty="0" sz="850" spc="-15" b="1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850" spc="-25" b="1">
                <a:solidFill>
                  <a:srgbClr val="00C8FF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183" name="object 183"/>
          <p:cNvGrpSpPr/>
          <p:nvPr/>
        </p:nvGrpSpPr>
        <p:grpSpPr>
          <a:xfrm>
            <a:off x="572824" y="2624824"/>
            <a:ext cx="9546590" cy="546735"/>
            <a:chOff x="572824" y="2624824"/>
            <a:chExt cx="9546590" cy="546735"/>
          </a:xfrm>
        </p:grpSpPr>
        <p:sp>
          <p:nvSpPr>
            <p:cNvPr id="184" name="object 184"/>
            <p:cNvSpPr/>
            <p:nvPr/>
          </p:nvSpPr>
          <p:spPr>
            <a:xfrm>
              <a:off x="575999" y="2627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75999" y="2627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575999" y="2627999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719999" y="2736000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599"/>
                  </a:lnTo>
                  <a:lnTo>
                    <a:pt x="1994" y="308492"/>
                  </a:lnTo>
                  <a:lnTo>
                    <a:pt x="7434" y="316565"/>
                  </a:lnTo>
                  <a:lnTo>
                    <a:pt x="15507" y="322005"/>
                  </a:lnTo>
                  <a:lnTo>
                    <a:pt x="25400" y="323999"/>
                  </a:lnTo>
                  <a:lnTo>
                    <a:pt x="622599" y="323999"/>
                  </a:lnTo>
                  <a:lnTo>
                    <a:pt x="632491" y="322005"/>
                  </a:lnTo>
                  <a:lnTo>
                    <a:pt x="640565" y="316565"/>
                  </a:lnTo>
                  <a:lnTo>
                    <a:pt x="646005" y="308492"/>
                  </a:lnTo>
                  <a:lnTo>
                    <a:pt x="647999" y="298599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8" name="object 188"/>
          <p:cNvSpPr txBox="1"/>
          <p:nvPr/>
        </p:nvSpPr>
        <p:spPr>
          <a:xfrm>
            <a:off x="883979" y="2832399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A854F6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A854F6"/>
                </a:solidFill>
                <a:latin typeface="Courier New"/>
                <a:cs typeface="Courier New"/>
              </a:rPr>
              <a:t> </a:t>
            </a:r>
            <a:r>
              <a:rPr dirty="0" sz="700" spc="-25" b="1">
                <a:solidFill>
                  <a:srgbClr val="A854F6"/>
                </a:solidFill>
                <a:latin typeface="Courier New"/>
                <a:cs typeface="Courier New"/>
              </a:rPr>
              <a:t>02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1511999" y="2698989"/>
            <a:ext cx="1339215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FAKE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WHATSAPP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'Hi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Mum'</a:t>
            </a:r>
            <a:r>
              <a:rPr dirty="0" sz="800" spc="-1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impersonation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scam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90" name="object 190"/>
          <p:cNvGrpSpPr/>
          <p:nvPr/>
        </p:nvGrpSpPr>
        <p:grpSpPr>
          <a:xfrm>
            <a:off x="4536000" y="2843999"/>
            <a:ext cx="4860290" cy="108585"/>
            <a:chOff x="4536000" y="2843999"/>
            <a:chExt cx="4860290" cy="108585"/>
          </a:xfrm>
        </p:grpSpPr>
        <p:sp>
          <p:nvSpPr>
            <p:cNvPr id="191" name="object 191"/>
            <p:cNvSpPr/>
            <p:nvPr/>
          </p:nvSpPr>
          <p:spPr>
            <a:xfrm>
              <a:off x="4536000" y="2843999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50"/>
                  </a:lnTo>
                  <a:lnTo>
                    <a:pt x="1495" y="96370"/>
                  </a:lnTo>
                  <a:lnTo>
                    <a:pt x="5575" y="102424"/>
                  </a:lnTo>
                  <a:lnTo>
                    <a:pt x="11630" y="106505"/>
                  </a:lnTo>
                  <a:lnTo>
                    <a:pt x="19050" y="108000"/>
                  </a:lnTo>
                  <a:lnTo>
                    <a:pt x="4840949" y="108000"/>
                  </a:lnTo>
                  <a:lnTo>
                    <a:pt x="4848368" y="106505"/>
                  </a:lnTo>
                  <a:lnTo>
                    <a:pt x="4854423" y="102424"/>
                  </a:lnTo>
                  <a:lnTo>
                    <a:pt x="4858503" y="96370"/>
                  </a:lnTo>
                  <a:lnTo>
                    <a:pt x="4859999" y="88950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4536000" y="2843999"/>
              <a:ext cx="2187575" cy="108585"/>
            </a:xfrm>
            <a:custGeom>
              <a:avLst/>
              <a:gdLst/>
              <a:ahLst/>
              <a:cxnLst/>
              <a:rect l="l" t="t" r="r" b="b"/>
              <a:pathLst>
                <a:path w="2187575" h="108585">
                  <a:moveTo>
                    <a:pt x="2167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50"/>
                  </a:lnTo>
                  <a:lnTo>
                    <a:pt x="1495" y="96370"/>
                  </a:lnTo>
                  <a:lnTo>
                    <a:pt x="5575" y="102424"/>
                  </a:lnTo>
                  <a:lnTo>
                    <a:pt x="11630" y="106505"/>
                  </a:lnTo>
                  <a:lnTo>
                    <a:pt x="19050" y="108000"/>
                  </a:lnTo>
                  <a:lnTo>
                    <a:pt x="2167949" y="108000"/>
                  </a:lnTo>
                  <a:lnTo>
                    <a:pt x="2175368" y="106505"/>
                  </a:lnTo>
                  <a:lnTo>
                    <a:pt x="2181423" y="102424"/>
                  </a:lnTo>
                  <a:lnTo>
                    <a:pt x="2185504" y="96370"/>
                  </a:lnTo>
                  <a:lnTo>
                    <a:pt x="2186999" y="88950"/>
                  </a:lnTo>
                  <a:lnTo>
                    <a:pt x="2186999" y="19050"/>
                  </a:lnTo>
                  <a:lnTo>
                    <a:pt x="2185504" y="11630"/>
                  </a:lnTo>
                  <a:lnTo>
                    <a:pt x="2181423" y="5575"/>
                  </a:lnTo>
                  <a:lnTo>
                    <a:pt x="2175368" y="1495"/>
                  </a:lnTo>
                  <a:lnTo>
                    <a:pt x="2167949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3" name="object 193"/>
          <p:cNvSpPr txBox="1"/>
          <p:nvPr/>
        </p:nvSpPr>
        <p:spPr>
          <a:xfrm>
            <a:off x="9655379" y="2813349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A854F6"/>
                </a:solidFill>
                <a:latin typeface="Courier New"/>
                <a:cs typeface="Courier New"/>
              </a:rPr>
              <a:t>35</a:t>
            </a:r>
            <a:r>
              <a:rPr dirty="0" sz="850" spc="-15" b="1">
                <a:solidFill>
                  <a:srgbClr val="A854F6"/>
                </a:solidFill>
                <a:latin typeface="Courier New"/>
                <a:cs typeface="Courier New"/>
              </a:rPr>
              <a:t> </a:t>
            </a:r>
            <a:r>
              <a:rPr dirty="0" sz="850" spc="-25" b="1">
                <a:solidFill>
                  <a:srgbClr val="A854F6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194" name="object 194"/>
          <p:cNvGrpSpPr/>
          <p:nvPr/>
        </p:nvGrpSpPr>
        <p:grpSpPr>
          <a:xfrm>
            <a:off x="572824" y="3272825"/>
            <a:ext cx="9546590" cy="546735"/>
            <a:chOff x="572824" y="3272825"/>
            <a:chExt cx="9546590" cy="546735"/>
          </a:xfrm>
        </p:grpSpPr>
        <p:sp>
          <p:nvSpPr>
            <p:cNvPr id="195" name="object 195"/>
            <p:cNvSpPr/>
            <p:nvPr/>
          </p:nvSpPr>
          <p:spPr>
            <a:xfrm>
              <a:off x="575999" y="3276000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575999" y="3276000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575999" y="3276000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719999" y="3383999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599"/>
                  </a:lnTo>
                  <a:lnTo>
                    <a:pt x="1994" y="308492"/>
                  </a:lnTo>
                  <a:lnTo>
                    <a:pt x="7434" y="316565"/>
                  </a:lnTo>
                  <a:lnTo>
                    <a:pt x="15507" y="322005"/>
                  </a:lnTo>
                  <a:lnTo>
                    <a:pt x="25400" y="323999"/>
                  </a:lnTo>
                  <a:lnTo>
                    <a:pt x="622599" y="323999"/>
                  </a:lnTo>
                  <a:lnTo>
                    <a:pt x="632491" y="322005"/>
                  </a:lnTo>
                  <a:lnTo>
                    <a:pt x="640565" y="316565"/>
                  </a:lnTo>
                  <a:lnTo>
                    <a:pt x="646005" y="308492"/>
                  </a:lnTo>
                  <a:lnTo>
                    <a:pt x="647999" y="298599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883979" y="3480400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05B5D4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05B5D4"/>
                </a:solidFill>
                <a:latin typeface="Courier New"/>
                <a:cs typeface="Courier New"/>
              </a:rPr>
              <a:t> </a:t>
            </a:r>
            <a:r>
              <a:rPr dirty="0" sz="700" spc="-25" b="1">
                <a:solidFill>
                  <a:srgbClr val="05B5D4"/>
                </a:solidFill>
                <a:latin typeface="Courier New"/>
                <a:cs typeface="Courier New"/>
              </a:rPr>
              <a:t>03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1511999" y="3346990"/>
            <a:ext cx="1029969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FAKE</a:t>
            </a:r>
            <a:r>
              <a:rPr dirty="0" sz="8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LOGIN</a:t>
            </a:r>
            <a:r>
              <a:rPr dirty="0" sz="8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Fraudulent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bank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portal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4536000" y="3491999"/>
            <a:ext cx="4860290" cy="108585"/>
            <a:chOff x="4536000" y="3491999"/>
            <a:chExt cx="4860290" cy="108585"/>
          </a:xfrm>
        </p:grpSpPr>
        <p:sp>
          <p:nvSpPr>
            <p:cNvPr id="202" name="object 202"/>
            <p:cNvSpPr/>
            <p:nvPr/>
          </p:nvSpPr>
          <p:spPr>
            <a:xfrm>
              <a:off x="4536000" y="3491999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50"/>
                  </a:lnTo>
                  <a:lnTo>
                    <a:pt x="1495" y="96370"/>
                  </a:lnTo>
                  <a:lnTo>
                    <a:pt x="5575" y="102424"/>
                  </a:lnTo>
                  <a:lnTo>
                    <a:pt x="11630" y="106505"/>
                  </a:lnTo>
                  <a:lnTo>
                    <a:pt x="19050" y="108000"/>
                  </a:lnTo>
                  <a:lnTo>
                    <a:pt x="4840949" y="108000"/>
                  </a:lnTo>
                  <a:lnTo>
                    <a:pt x="4848368" y="106505"/>
                  </a:lnTo>
                  <a:lnTo>
                    <a:pt x="4854423" y="102424"/>
                  </a:lnTo>
                  <a:lnTo>
                    <a:pt x="4858503" y="96370"/>
                  </a:lnTo>
                  <a:lnTo>
                    <a:pt x="4859999" y="88950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4536000" y="3491999"/>
              <a:ext cx="2819400" cy="108585"/>
            </a:xfrm>
            <a:custGeom>
              <a:avLst/>
              <a:gdLst/>
              <a:ahLst/>
              <a:cxnLst/>
              <a:rect l="l" t="t" r="r" b="b"/>
              <a:pathLst>
                <a:path w="2819400" h="108585">
                  <a:moveTo>
                    <a:pt x="27997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50"/>
                  </a:lnTo>
                  <a:lnTo>
                    <a:pt x="1495" y="96370"/>
                  </a:lnTo>
                  <a:lnTo>
                    <a:pt x="5575" y="102424"/>
                  </a:lnTo>
                  <a:lnTo>
                    <a:pt x="11630" y="106505"/>
                  </a:lnTo>
                  <a:lnTo>
                    <a:pt x="19050" y="108000"/>
                  </a:lnTo>
                  <a:lnTo>
                    <a:pt x="2799749" y="108000"/>
                  </a:lnTo>
                  <a:lnTo>
                    <a:pt x="2807168" y="106505"/>
                  </a:lnTo>
                  <a:lnTo>
                    <a:pt x="2813223" y="102424"/>
                  </a:lnTo>
                  <a:lnTo>
                    <a:pt x="2817303" y="96370"/>
                  </a:lnTo>
                  <a:lnTo>
                    <a:pt x="2818799" y="88950"/>
                  </a:lnTo>
                  <a:lnTo>
                    <a:pt x="2818799" y="19050"/>
                  </a:lnTo>
                  <a:lnTo>
                    <a:pt x="2817303" y="11630"/>
                  </a:lnTo>
                  <a:lnTo>
                    <a:pt x="2813223" y="5575"/>
                  </a:lnTo>
                  <a:lnTo>
                    <a:pt x="2807168" y="1495"/>
                  </a:lnTo>
                  <a:lnTo>
                    <a:pt x="2799749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4" name="object 204"/>
          <p:cNvSpPr txBox="1"/>
          <p:nvPr/>
        </p:nvSpPr>
        <p:spPr>
          <a:xfrm>
            <a:off x="9655379" y="3461350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5B5D4"/>
                </a:solidFill>
                <a:latin typeface="Courier New"/>
                <a:cs typeface="Courier New"/>
              </a:rPr>
              <a:t>40</a:t>
            </a:r>
            <a:r>
              <a:rPr dirty="0" sz="850" spc="-15" b="1">
                <a:solidFill>
                  <a:srgbClr val="05B5D4"/>
                </a:solidFill>
                <a:latin typeface="Courier New"/>
                <a:cs typeface="Courier New"/>
              </a:rPr>
              <a:t> </a:t>
            </a:r>
            <a:r>
              <a:rPr dirty="0" sz="850" spc="-25" b="1">
                <a:solidFill>
                  <a:srgbClr val="05B5D4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205" name="object 205"/>
          <p:cNvGrpSpPr/>
          <p:nvPr/>
        </p:nvGrpSpPr>
        <p:grpSpPr>
          <a:xfrm>
            <a:off x="572824" y="3920825"/>
            <a:ext cx="9546590" cy="546735"/>
            <a:chOff x="572824" y="3920825"/>
            <a:chExt cx="9546590" cy="546735"/>
          </a:xfrm>
        </p:grpSpPr>
        <p:sp>
          <p:nvSpPr>
            <p:cNvPr id="206" name="object 206"/>
            <p:cNvSpPr/>
            <p:nvPr/>
          </p:nvSpPr>
          <p:spPr>
            <a:xfrm>
              <a:off x="575999" y="3924000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575999" y="3924000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F9CC1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575999" y="3924000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9CC1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19999" y="4031999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599"/>
                  </a:lnTo>
                  <a:lnTo>
                    <a:pt x="1994" y="308492"/>
                  </a:lnTo>
                  <a:lnTo>
                    <a:pt x="7434" y="316565"/>
                  </a:lnTo>
                  <a:lnTo>
                    <a:pt x="15507" y="322005"/>
                  </a:lnTo>
                  <a:lnTo>
                    <a:pt x="25400" y="323999"/>
                  </a:lnTo>
                  <a:lnTo>
                    <a:pt x="622599" y="323999"/>
                  </a:lnTo>
                  <a:lnTo>
                    <a:pt x="632491" y="322005"/>
                  </a:lnTo>
                  <a:lnTo>
                    <a:pt x="640565" y="316565"/>
                  </a:lnTo>
                  <a:lnTo>
                    <a:pt x="646005" y="308492"/>
                  </a:lnTo>
                  <a:lnTo>
                    <a:pt x="647999" y="298599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/>
          <p:cNvSpPr txBox="1"/>
          <p:nvPr/>
        </p:nvSpPr>
        <p:spPr>
          <a:xfrm>
            <a:off x="883979" y="4128399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9CC15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F9CC15"/>
                </a:solidFill>
                <a:latin typeface="Courier New"/>
                <a:cs typeface="Courier New"/>
              </a:rPr>
              <a:t> </a:t>
            </a:r>
            <a:r>
              <a:rPr dirty="0" sz="700" spc="-25" b="1">
                <a:solidFill>
                  <a:srgbClr val="F9CC15"/>
                </a:solidFill>
                <a:latin typeface="Courier New"/>
                <a:cs typeface="Courier New"/>
              </a:rPr>
              <a:t>04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1511999" y="3994989"/>
            <a:ext cx="1176020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VISHING </a:t>
            </a:r>
            <a:r>
              <a:rPr dirty="0" sz="850" spc="-20" b="1">
                <a:solidFill>
                  <a:srgbClr val="FFFFFF"/>
                </a:solidFill>
                <a:latin typeface="Arial"/>
                <a:cs typeface="Arial"/>
              </a:rPr>
              <a:t>CALL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Tax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authority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arrest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threat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12" name="object 212"/>
          <p:cNvGrpSpPr/>
          <p:nvPr/>
        </p:nvGrpSpPr>
        <p:grpSpPr>
          <a:xfrm>
            <a:off x="4536000" y="4140000"/>
            <a:ext cx="4860290" cy="108585"/>
            <a:chOff x="4536000" y="4140000"/>
            <a:chExt cx="4860290" cy="108585"/>
          </a:xfrm>
        </p:grpSpPr>
        <p:sp>
          <p:nvSpPr>
            <p:cNvPr id="213" name="object 213"/>
            <p:cNvSpPr/>
            <p:nvPr/>
          </p:nvSpPr>
          <p:spPr>
            <a:xfrm>
              <a:off x="4536000" y="4140000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4840949" y="107999"/>
                  </a:lnTo>
                  <a:lnTo>
                    <a:pt x="4848368" y="106503"/>
                  </a:lnTo>
                  <a:lnTo>
                    <a:pt x="4854423" y="102423"/>
                  </a:lnTo>
                  <a:lnTo>
                    <a:pt x="4858503" y="96368"/>
                  </a:lnTo>
                  <a:lnTo>
                    <a:pt x="4859999" y="88949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4536000" y="4140000"/>
              <a:ext cx="3499485" cy="108585"/>
            </a:xfrm>
            <a:custGeom>
              <a:avLst/>
              <a:gdLst/>
              <a:ahLst/>
              <a:cxnLst/>
              <a:rect l="l" t="t" r="r" b="b"/>
              <a:pathLst>
                <a:path w="3499484" h="108585">
                  <a:moveTo>
                    <a:pt x="34801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3480149" y="107999"/>
                  </a:lnTo>
                  <a:lnTo>
                    <a:pt x="3487568" y="106503"/>
                  </a:lnTo>
                  <a:lnTo>
                    <a:pt x="3493623" y="102423"/>
                  </a:lnTo>
                  <a:lnTo>
                    <a:pt x="3497703" y="96368"/>
                  </a:lnTo>
                  <a:lnTo>
                    <a:pt x="3499199" y="88949"/>
                  </a:lnTo>
                  <a:lnTo>
                    <a:pt x="3499199" y="19050"/>
                  </a:lnTo>
                  <a:lnTo>
                    <a:pt x="3497703" y="11630"/>
                  </a:lnTo>
                  <a:lnTo>
                    <a:pt x="3493623" y="5575"/>
                  </a:lnTo>
                  <a:lnTo>
                    <a:pt x="3487568" y="1495"/>
                  </a:lnTo>
                  <a:lnTo>
                    <a:pt x="3480149" y="0"/>
                  </a:lnTo>
                  <a:close/>
                </a:path>
              </a:pathLst>
            </a:custGeom>
            <a:solidFill>
              <a:srgbClr val="F9CC1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5" name="object 215"/>
          <p:cNvSpPr txBox="1"/>
          <p:nvPr/>
        </p:nvSpPr>
        <p:spPr>
          <a:xfrm>
            <a:off x="9655379" y="4109349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9CC15"/>
                </a:solidFill>
                <a:latin typeface="Courier New"/>
                <a:cs typeface="Courier New"/>
              </a:rPr>
              <a:t>30</a:t>
            </a:r>
            <a:r>
              <a:rPr dirty="0" sz="850" spc="-15" b="1">
                <a:solidFill>
                  <a:srgbClr val="F9CC15"/>
                </a:solidFill>
                <a:latin typeface="Courier New"/>
                <a:cs typeface="Courier New"/>
              </a:rPr>
              <a:t> </a:t>
            </a:r>
            <a:r>
              <a:rPr dirty="0" sz="850" spc="-25" b="1">
                <a:solidFill>
                  <a:srgbClr val="F9CC15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216" name="object 216"/>
          <p:cNvGrpSpPr/>
          <p:nvPr/>
        </p:nvGrpSpPr>
        <p:grpSpPr>
          <a:xfrm>
            <a:off x="572824" y="4568824"/>
            <a:ext cx="9546590" cy="546735"/>
            <a:chOff x="572824" y="4568824"/>
            <a:chExt cx="9546590" cy="546735"/>
          </a:xfrm>
        </p:grpSpPr>
        <p:sp>
          <p:nvSpPr>
            <p:cNvPr id="217" name="object 217"/>
            <p:cNvSpPr/>
            <p:nvPr/>
          </p:nvSpPr>
          <p:spPr>
            <a:xfrm>
              <a:off x="575999" y="4571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575999" y="4571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FF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575999" y="4571999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F3B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719999" y="4679999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601"/>
                  </a:lnTo>
                  <a:lnTo>
                    <a:pt x="1994" y="308493"/>
                  </a:lnTo>
                  <a:lnTo>
                    <a:pt x="7434" y="316566"/>
                  </a:lnTo>
                  <a:lnTo>
                    <a:pt x="15507" y="322006"/>
                  </a:lnTo>
                  <a:lnTo>
                    <a:pt x="25400" y="324001"/>
                  </a:lnTo>
                  <a:lnTo>
                    <a:pt x="622599" y="324001"/>
                  </a:lnTo>
                  <a:lnTo>
                    <a:pt x="632491" y="322006"/>
                  </a:lnTo>
                  <a:lnTo>
                    <a:pt x="640565" y="316566"/>
                  </a:lnTo>
                  <a:lnTo>
                    <a:pt x="646005" y="308493"/>
                  </a:lnTo>
                  <a:lnTo>
                    <a:pt x="647999" y="298601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1" name="object 221"/>
          <p:cNvSpPr txBox="1"/>
          <p:nvPr/>
        </p:nvSpPr>
        <p:spPr>
          <a:xfrm>
            <a:off x="883979" y="4776399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F3B3B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FF3B3B"/>
                </a:solidFill>
                <a:latin typeface="Courier New"/>
                <a:cs typeface="Courier New"/>
              </a:rPr>
              <a:t> </a:t>
            </a:r>
            <a:r>
              <a:rPr dirty="0" sz="700" spc="-25" b="1">
                <a:solidFill>
                  <a:srgbClr val="FF3B3B"/>
                </a:solidFill>
                <a:latin typeface="Courier New"/>
                <a:cs typeface="Courier New"/>
              </a:rPr>
              <a:t>05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1511999" y="4642987"/>
            <a:ext cx="1134110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MULTI-</a:t>
            </a: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dirty="0" sz="85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ATTACK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Fake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recruitment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scam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23" name="object 223"/>
          <p:cNvGrpSpPr/>
          <p:nvPr/>
        </p:nvGrpSpPr>
        <p:grpSpPr>
          <a:xfrm>
            <a:off x="4536000" y="4787999"/>
            <a:ext cx="4860290" cy="108585"/>
            <a:chOff x="4536000" y="4787999"/>
            <a:chExt cx="4860290" cy="108585"/>
          </a:xfrm>
        </p:grpSpPr>
        <p:sp>
          <p:nvSpPr>
            <p:cNvPr id="224" name="object 224"/>
            <p:cNvSpPr/>
            <p:nvPr/>
          </p:nvSpPr>
          <p:spPr>
            <a:xfrm>
              <a:off x="4536000" y="4787999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4840949" y="107999"/>
                  </a:lnTo>
                  <a:lnTo>
                    <a:pt x="4848368" y="106503"/>
                  </a:lnTo>
                  <a:lnTo>
                    <a:pt x="4854423" y="102423"/>
                  </a:lnTo>
                  <a:lnTo>
                    <a:pt x="4858503" y="96368"/>
                  </a:lnTo>
                  <a:lnTo>
                    <a:pt x="4859999" y="88949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4536000" y="4787999"/>
              <a:ext cx="4277360" cy="108585"/>
            </a:xfrm>
            <a:custGeom>
              <a:avLst/>
              <a:gdLst/>
              <a:ahLst/>
              <a:cxnLst/>
              <a:rect l="l" t="t" r="r" b="b"/>
              <a:pathLst>
                <a:path w="4277359" h="108585">
                  <a:moveTo>
                    <a:pt x="42577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4257749" y="107999"/>
                  </a:lnTo>
                  <a:lnTo>
                    <a:pt x="4265169" y="106503"/>
                  </a:lnTo>
                  <a:lnTo>
                    <a:pt x="4271223" y="102423"/>
                  </a:lnTo>
                  <a:lnTo>
                    <a:pt x="4275304" y="96368"/>
                  </a:lnTo>
                  <a:lnTo>
                    <a:pt x="4276799" y="88949"/>
                  </a:lnTo>
                  <a:lnTo>
                    <a:pt x="4276799" y="19050"/>
                  </a:lnTo>
                  <a:lnTo>
                    <a:pt x="4275304" y="11630"/>
                  </a:lnTo>
                  <a:lnTo>
                    <a:pt x="4271223" y="5575"/>
                  </a:lnTo>
                  <a:lnTo>
                    <a:pt x="4265169" y="1495"/>
                  </a:lnTo>
                  <a:lnTo>
                    <a:pt x="4257749" y="0"/>
                  </a:lnTo>
                  <a:close/>
                </a:path>
              </a:pathLst>
            </a:custGeom>
            <a:solidFill>
              <a:srgbClr val="FF3B3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6" name="object 226"/>
          <p:cNvSpPr txBox="1"/>
          <p:nvPr/>
        </p:nvSpPr>
        <p:spPr>
          <a:xfrm>
            <a:off x="9655379" y="4757349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F3B3B"/>
                </a:solidFill>
                <a:latin typeface="Courier New"/>
                <a:cs typeface="Courier New"/>
              </a:rPr>
              <a:t>55</a:t>
            </a:r>
            <a:r>
              <a:rPr dirty="0" sz="850" spc="-15" b="1">
                <a:solidFill>
                  <a:srgbClr val="FF3B3B"/>
                </a:solidFill>
                <a:latin typeface="Courier New"/>
                <a:cs typeface="Courier New"/>
              </a:rPr>
              <a:t> </a:t>
            </a:r>
            <a:r>
              <a:rPr dirty="0" sz="850" spc="-25" b="1">
                <a:solidFill>
                  <a:srgbClr val="FF3B3B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27" name="object 2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28" name="object 2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>06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4209415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AI</a:t>
            </a:r>
            <a:r>
              <a:rPr dirty="0" sz="700" spc="-15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COMPONENT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Behavioural</a:t>
            </a: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C8FF"/>
                </a:solidFill>
                <a:latin typeface="Arial"/>
                <a:cs typeface="Arial"/>
              </a:rPr>
              <a:t>Analysis</a:t>
            </a:r>
            <a:r>
              <a:rPr dirty="0" sz="2400" spc="-50" b="1">
                <a:solidFill>
                  <a:srgbClr val="00C8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Engine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05409" y="1127649"/>
            <a:ext cx="2354580" cy="12700"/>
            <a:chOff x="2405409" y="1127649"/>
            <a:chExt cx="2354580" cy="12700"/>
          </a:xfrm>
        </p:grpSpPr>
        <p:sp>
          <p:nvSpPr>
            <p:cNvPr id="10" name="object 10"/>
            <p:cNvSpPr/>
            <p:nvPr/>
          </p:nvSpPr>
          <p:spPr>
            <a:xfrm>
              <a:off x="240540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43484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6427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370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2313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5257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8200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1143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4086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67029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69973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72916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5859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8802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81746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84689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87632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90575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93518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96462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99405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02348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05291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08235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11178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14121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17064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20007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22951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25894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28837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31780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34724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37667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40610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43553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46497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49440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52383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55326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58269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61213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64156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67099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70042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72986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75929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78872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81815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84758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87702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90645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93588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96531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99475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402418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05361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08304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11247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14191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17134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20077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423020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425964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28907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31850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434793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437737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440680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443623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446566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49509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452453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455396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58339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61282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64226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67169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70112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473055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4189729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core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AI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system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that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tracks,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analyses,</a:t>
            </a:r>
            <a:r>
              <a:rPr dirty="0" sz="850" spc="-1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scores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every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player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decision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in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real</a:t>
            </a:r>
            <a:r>
              <a:rPr dirty="0" sz="850" spc="-1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time.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1976824"/>
            <a:ext cx="4704715" cy="870585"/>
            <a:chOff x="572824" y="1976824"/>
            <a:chExt cx="4704715" cy="870585"/>
          </a:xfrm>
        </p:grpSpPr>
        <p:sp>
          <p:nvSpPr>
            <p:cNvPr id="173" name="object 173"/>
            <p:cNvSpPr/>
            <p:nvPr/>
          </p:nvSpPr>
          <p:spPr>
            <a:xfrm>
              <a:off x="575999" y="1979999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lnTo>
                    <a:pt x="4659900" y="864000"/>
                  </a:lnTo>
                  <a:lnTo>
                    <a:pt x="4674738" y="861008"/>
                  </a:lnTo>
                  <a:lnTo>
                    <a:pt x="4686848" y="852848"/>
                  </a:lnTo>
                  <a:lnTo>
                    <a:pt x="4695008" y="840738"/>
                  </a:lnTo>
                  <a:lnTo>
                    <a:pt x="4698000" y="825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1979999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38100" y="864000"/>
                  </a:moveTo>
                  <a:lnTo>
                    <a:pt x="4659900" y="864000"/>
                  </a:lnTo>
                  <a:lnTo>
                    <a:pt x="4674738" y="861008"/>
                  </a:lnTo>
                  <a:lnTo>
                    <a:pt x="4686848" y="852848"/>
                  </a:lnTo>
                  <a:lnTo>
                    <a:pt x="4695008" y="840738"/>
                  </a:lnTo>
                  <a:lnTo>
                    <a:pt x="4698000" y="825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close/>
                </a:path>
              </a:pathLst>
            </a:custGeom>
            <a:ln w="6349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1979999"/>
              <a:ext cx="31750" cy="864235"/>
            </a:xfrm>
            <a:custGeom>
              <a:avLst/>
              <a:gdLst/>
              <a:ahLst/>
              <a:cxnLst/>
              <a:rect l="l" t="t" r="r" b="b"/>
              <a:pathLst>
                <a:path w="31750" h="864235">
                  <a:moveTo>
                    <a:pt x="31750" y="0"/>
                  </a:moveTo>
                  <a:lnTo>
                    <a:pt x="0" y="0"/>
                  </a:lnTo>
                  <a:lnTo>
                    <a:pt x="0" y="864000"/>
                  </a:lnTo>
                  <a:lnTo>
                    <a:pt x="31750" y="86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612512" y="2130399"/>
            <a:ext cx="4638675" cy="716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8AF9"/>
                </a:solidFill>
                <a:latin typeface="Courier New"/>
                <a:cs typeface="Courier New"/>
              </a:rPr>
              <a:t>01</a:t>
            </a:r>
            <a:r>
              <a:rPr dirty="0" sz="700" spc="-20">
                <a:solidFill>
                  <a:srgbClr val="A78AF9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A78AF9"/>
                </a:solidFill>
                <a:latin typeface="Courier New"/>
                <a:cs typeface="Courier New"/>
              </a:rPr>
              <a:t>//</a:t>
            </a:r>
            <a:endParaRPr sz="700">
              <a:latin typeface="Courier New"/>
              <a:cs typeface="Courier New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800" b="1">
                <a:solidFill>
                  <a:srgbClr val="E9E9E9"/>
                </a:solidFill>
                <a:latin typeface="Arial"/>
                <a:cs typeface="Arial"/>
              </a:rPr>
              <a:t>SCENARIO</a:t>
            </a:r>
            <a:r>
              <a:rPr dirty="0" sz="800" spc="-4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GENERATION</a:t>
            </a:r>
            <a:endParaRPr sz="800">
              <a:latin typeface="Arial"/>
              <a:cs typeface="Arial"/>
            </a:endParaRPr>
          </a:p>
          <a:p>
            <a:pPr marL="142875" marR="151130">
              <a:lnSpc>
                <a:spcPct val="132300"/>
              </a:lnSpc>
              <a:spcBef>
                <a:spcPts val="5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Structured intelligent variation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creates realistic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phishing emails, scam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messages &amp;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fake pages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across </a:t>
            </a:r>
            <a:r>
              <a:rPr dirty="0" sz="750" spc="-50">
                <a:solidFill>
                  <a:srgbClr val="667787"/>
                </a:solidFill>
                <a:latin typeface="Arial"/>
                <a:cs typeface="Arial"/>
              </a:rPr>
              <a:t>5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 threat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levels.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5414825" y="1976824"/>
            <a:ext cx="4704715" cy="870585"/>
            <a:chOff x="5414825" y="1976824"/>
            <a:chExt cx="4704715" cy="870585"/>
          </a:xfrm>
        </p:grpSpPr>
        <p:sp>
          <p:nvSpPr>
            <p:cNvPr id="178" name="object 178"/>
            <p:cNvSpPr/>
            <p:nvPr/>
          </p:nvSpPr>
          <p:spPr>
            <a:xfrm>
              <a:off x="5418000" y="1979999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lnTo>
                    <a:pt x="4659899" y="864000"/>
                  </a:lnTo>
                  <a:lnTo>
                    <a:pt x="4674737" y="861008"/>
                  </a:lnTo>
                  <a:lnTo>
                    <a:pt x="4686847" y="852848"/>
                  </a:lnTo>
                  <a:lnTo>
                    <a:pt x="4695007" y="840738"/>
                  </a:lnTo>
                  <a:lnTo>
                    <a:pt x="4697999" y="825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418000" y="1979999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38100" y="864000"/>
                  </a:moveTo>
                  <a:lnTo>
                    <a:pt x="4659899" y="864000"/>
                  </a:lnTo>
                  <a:lnTo>
                    <a:pt x="4674737" y="861008"/>
                  </a:lnTo>
                  <a:lnTo>
                    <a:pt x="4686847" y="852848"/>
                  </a:lnTo>
                  <a:lnTo>
                    <a:pt x="4695007" y="840738"/>
                  </a:lnTo>
                  <a:lnTo>
                    <a:pt x="4697999" y="825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418000" y="1979999"/>
              <a:ext cx="31750" cy="864235"/>
            </a:xfrm>
            <a:custGeom>
              <a:avLst/>
              <a:gdLst/>
              <a:ahLst/>
              <a:cxnLst/>
              <a:rect l="l" t="t" r="r" b="b"/>
              <a:pathLst>
                <a:path w="31750" h="864235">
                  <a:moveTo>
                    <a:pt x="31750" y="0"/>
                  </a:moveTo>
                  <a:lnTo>
                    <a:pt x="0" y="0"/>
                  </a:lnTo>
                  <a:lnTo>
                    <a:pt x="0" y="864000"/>
                  </a:lnTo>
                  <a:lnTo>
                    <a:pt x="31750" y="86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5456100" y="2130399"/>
            <a:ext cx="4636770" cy="565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8AF9"/>
                </a:solidFill>
                <a:latin typeface="Courier New"/>
                <a:cs typeface="Courier New"/>
              </a:rPr>
              <a:t>02</a:t>
            </a:r>
            <a:r>
              <a:rPr dirty="0" sz="700" spc="-20">
                <a:solidFill>
                  <a:srgbClr val="A78AF9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A78AF9"/>
                </a:solidFill>
                <a:latin typeface="Courier New"/>
                <a:cs typeface="Courier New"/>
              </a:rPr>
              <a:t>//</a:t>
            </a:r>
            <a:endParaRPr sz="700">
              <a:latin typeface="Courier New"/>
              <a:cs typeface="Courier New"/>
            </a:endParaRPr>
          </a:p>
          <a:p>
            <a:pPr marL="141605">
              <a:lnSpc>
                <a:spcPct val="100000"/>
              </a:lnSpc>
              <a:spcBef>
                <a:spcPts val="760"/>
              </a:spcBef>
            </a:pPr>
            <a:r>
              <a:rPr dirty="0" sz="800" b="1">
                <a:solidFill>
                  <a:srgbClr val="E9E9E9"/>
                </a:solidFill>
                <a:latin typeface="Arial"/>
                <a:cs typeface="Arial"/>
              </a:rPr>
              <a:t>BEHAVIOURAL 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ANALYSIS</a:t>
            </a:r>
            <a:endParaRPr sz="8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Monitors click patterns, hesitation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time, authority bias,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and urgency susceptibility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across all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decisions.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572824" y="2948825"/>
            <a:ext cx="4704715" cy="870585"/>
            <a:chOff x="572824" y="2948825"/>
            <a:chExt cx="4704715" cy="870585"/>
          </a:xfrm>
        </p:grpSpPr>
        <p:sp>
          <p:nvSpPr>
            <p:cNvPr id="183" name="object 183"/>
            <p:cNvSpPr/>
            <p:nvPr/>
          </p:nvSpPr>
          <p:spPr>
            <a:xfrm>
              <a:off x="575999" y="2952000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lnTo>
                    <a:pt x="4659900" y="864000"/>
                  </a:lnTo>
                  <a:lnTo>
                    <a:pt x="4674738" y="861008"/>
                  </a:lnTo>
                  <a:lnTo>
                    <a:pt x="4686848" y="852848"/>
                  </a:lnTo>
                  <a:lnTo>
                    <a:pt x="4695008" y="840738"/>
                  </a:lnTo>
                  <a:lnTo>
                    <a:pt x="4698000" y="825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75999" y="2952000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38100" y="864000"/>
                  </a:moveTo>
                  <a:lnTo>
                    <a:pt x="4659900" y="864000"/>
                  </a:lnTo>
                  <a:lnTo>
                    <a:pt x="4674738" y="861008"/>
                  </a:lnTo>
                  <a:lnTo>
                    <a:pt x="4686848" y="852848"/>
                  </a:lnTo>
                  <a:lnTo>
                    <a:pt x="4695008" y="840738"/>
                  </a:lnTo>
                  <a:lnTo>
                    <a:pt x="4698000" y="825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75999" y="2952000"/>
              <a:ext cx="31750" cy="864235"/>
            </a:xfrm>
            <a:custGeom>
              <a:avLst/>
              <a:gdLst/>
              <a:ahLst/>
              <a:cxnLst/>
              <a:rect l="l" t="t" r="r" b="b"/>
              <a:pathLst>
                <a:path w="31750" h="864235">
                  <a:moveTo>
                    <a:pt x="31750" y="0"/>
                  </a:moveTo>
                  <a:lnTo>
                    <a:pt x="0" y="0"/>
                  </a:lnTo>
                  <a:lnTo>
                    <a:pt x="0" y="864000"/>
                  </a:lnTo>
                  <a:lnTo>
                    <a:pt x="31750" y="86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612512" y="3102400"/>
            <a:ext cx="4638675" cy="565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8AF9"/>
                </a:solidFill>
                <a:latin typeface="Courier New"/>
                <a:cs typeface="Courier New"/>
              </a:rPr>
              <a:t>03</a:t>
            </a:r>
            <a:r>
              <a:rPr dirty="0" sz="700" spc="-20">
                <a:solidFill>
                  <a:srgbClr val="A78AF9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A78AF9"/>
                </a:solidFill>
                <a:latin typeface="Courier New"/>
                <a:cs typeface="Courier New"/>
              </a:rPr>
              <a:t>//</a:t>
            </a:r>
            <a:endParaRPr sz="700">
              <a:latin typeface="Courier New"/>
              <a:cs typeface="Courier New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800" b="1">
                <a:solidFill>
                  <a:srgbClr val="E9E9E9"/>
                </a:solidFill>
                <a:latin typeface="Arial"/>
                <a:cs typeface="Arial"/>
              </a:rPr>
              <a:t>HUMAN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E9E9E9"/>
                </a:solidFill>
                <a:latin typeface="Arial"/>
                <a:cs typeface="Arial"/>
              </a:rPr>
              <a:t>RISK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 SCORE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Calculates a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personalised risk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score (0-100)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showing exactly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how vulnerable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the user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is to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cyber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attacks.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414825" y="2948825"/>
            <a:ext cx="4704715" cy="870585"/>
            <a:chOff x="5414825" y="2948825"/>
            <a:chExt cx="4704715" cy="870585"/>
          </a:xfrm>
        </p:grpSpPr>
        <p:sp>
          <p:nvSpPr>
            <p:cNvPr id="188" name="object 188"/>
            <p:cNvSpPr/>
            <p:nvPr/>
          </p:nvSpPr>
          <p:spPr>
            <a:xfrm>
              <a:off x="5418000" y="2952000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lnTo>
                    <a:pt x="4659899" y="864000"/>
                  </a:lnTo>
                  <a:lnTo>
                    <a:pt x="4674737" y="861008"/>
                  </a:lnTo>
                  <a:lnTo>
                    <a:pt x="4686847" y="852848"/>
                  </a:lnTo>
                  <a:lnTo>
                    <a:pt x="4695007" y="840738"/>
                  </a:lnTo>
                  <a:lnTo>
                    <a:pt x="4697999" y="825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418000" y="2952000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38100" y="864000"/>
                  </a:moveTo>
                  <a:lnTo>
                    <a:pt x="4659899" y="864000"/>
                  </a:lnTo>
                  <a:lnTo>
                    <a:pt x="4674737" y="861008"/>
                  </a:lnTo>
                  <a:lnTo>
                    <a:pt x="4686847" y="852848"/>
                  </a:lnTo>
                  <a:lnTo>
                    <a:pt x="4695007" y="840738"/>
                  </a:lnTo>
                  <a:lnTo>
                    <a:pt x="4697999" y="825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418000" y="2952000"/>
              <a:ext cx="31750" cy="864235"/>
            </a:xfrm>
            <a:custGeom>
              <a:avLst/>
              <a:gdLst/>
              <a:ahLst/>
              <a:cxnLst/>
              <a:rect l="l" t="t" r="r" b="b"/>
              <a:pathLst>
                <a:path w="31750" h="864235">
                  <a:moveTo>
                    <a:pt x="31750" y="0"/>
                  </a:moveTo>
                  <a:lnTo>
                    <a:pt x="0" y="0"/>
                  </a:lnTo>
                  <a:lnTo>
                    <a:pt x="0" y="864000"/>
                  </a:lnTo>
                  <a:lnTo>
                    <a:pt x="31750" y="86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5454512" y="3102400"/>
            <a:ext cx="4638675" cy="716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8AF9"/>
                </a:solidFill>
                <a:latin typeface="Courier New"/>
                <a:cs typeface="Courier New"/>
              </a:rPr>
              <a:t>04</a:t>
            </a:r>
            <a:r>
              <a:rPr dirty="0" sz="700" spc="-20">
                <a:solidFill>
                  <a:srgbClr val="A78AF9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A78AF9"/>
                </a:solidFill>
                <a:latin typeface="Courier New"/>
                <a:cs typeface="Courier New"/>
              </a:rPr>
              <a:t>//</a:t>
            </a:r>
            <a:endParaRPr sz="700">
              <a:latin typeface="Courier New"/>
              <a:cs typeface="Courier New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PERSONALISED</a:t>
            </a:r>
            <a:r>
              <a:rPr dirty="0" sz="800" spc="5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TRAINING</a:t>
            </a:r>
            <a:endParaRPr sz="800">
              <a:latin typeface="Arial"/>
              <a:cs typeface="Arial"/>
            </a:endParaRPr>
          </a:p>
          <a:p>
            <a:pPr marL="142875" marR="378460">
              <a:lnSpc>
                <a:spcPct val="132300"/>
              </a:lnSpc>
              <a:spcBef>
                <a:spcPts val="5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Recommends tailored safety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tips and security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insights based on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detected weaknesses after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every decision.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72189" y="4064190"/>
            <a:ext cx="2338705" cy="584200"/>
            <a:chOff x="572189" y="4064190"/>
            <a:chExt cx="2338705" cy="584200"/>
          </a:xfrm>
        </p:grpSpPr>
        <p:sp>
          <p:nvSpPr>
            <p:cNvPr id="193" name="object 193"/>
            <p:cNvSpPr/>
            <p:nvPr/>
          </p:nvSpPr>
          <p:spPr>
            <a:xfrm>
              <a:off x="575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5" h="576579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lnTo>
                    <a:pt x="2292899" y="575999"/>
                  </a:lnTo>
                  <a:lnTo>
                    <a:pt x="2307738" y="573008"/>
                  </a:lnTo>
                  <a:lnTo>
                    <a:pt x="2319847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7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A0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75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5" h="576579">
                  <a:moveTo>
                    <a:pt x="38100" y="575999"/>
                  </a:moveTo>
                  <a:lnTo>
                    <a:pt x="2292899" y="575999"/>
                  </a:lnTo>
                  <a:lnTo>
                    <a:pt x="2307738" y="573008"/>
                  </a:lnTo>
                  <a:lnTo>
                    <a:pt x="2319847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7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close/>
                </a:path>
              </a:pathLst>
            </a:custGeom>
            <a:ln w="7620">
              <a:solidFill>
                <a:srgbClr val="00FF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5" name="object 195"/>
          <p:cNvSpPr txBox="1"/>
          <p:nvPr/>
        </p:nvSpPr>
        <p:spPr>
          <a:xfrm>
            <a:off x="671300" y="4182399"/>
            <a:ext cx="77660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00FF9C"/>
                </a:solidFill>
                <a:latin typeface="Arial"/>
                <a:cs typeface="Arial"/>
              </a:rPr>
              <a:t>HYPER-</a:t>
            </a:r>
            <a:r>
              <a:rPr dirty="0" sz="700" spc="-10" b="1">
                <a:solidFill>
                  <a:srgbClr val="00FF9C"/>
                </a:solidFill>
                <a:latin typeface="Arial"/>
                <a:cs typeface="Arial"/>
              </a:rPr>
              <a:t>VIGILANT</a:t>
            </a:r>
            <a:endParaRPr sz="700">
              <a:latin typeface="Arial"/>
              <a:cs typeface="Arial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671300" y="4398399"/>
            <a:ext cx="135001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0%</a:t>
            </a:r>
            <a:r>
              <a:rPr dirty="0" sz="700" spc="-1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wrong</a:t>
            </a:r>
            <a:r>
              <a:rPr dirty="0" sz="700" spc="-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—</a:t>
            </a:r>
            <a:r>
              <a:rPr dirty="0" sz="700" spc="-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Elite</a:t>
            </a:r>
            <a:r>
              <a:rPr dirty="0" sz="700" spc="-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cyber</a:t>
            </a:r>
            <a:r>
              <a:rPr dirty="0" sz="700" spc="-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667787"/>
                </a:solidFill>
                <a:latin typeface="Arial"/>
                <a:cs typeface="Arial"/>
              </a:rPr>
              <a:t>defender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97" name="object 197"/>
          <p:cNvGrpSpPr/>
          <p:nvPr/>
        </p:nvGrpSpPr>
        <p:grpSpPr>
          <a:xfrm>
            <a:off x="2975189" y="4064190"/>
            <a:ext cx="2338705" cy="584200"/>
            <a:chOff x="2975189" y="4064190"/>
            <a:chExt cx="2338705" cy="584200"/>
          </a:xfrm>
        </p:grpSpPr>
        <p:sp>
          <p:nvSpPr>
            <p:cNvPr id="198" name="object 198"/>
            <p:cNvSpPr/>
            <p:nvPr/>
          </p:nvSpPr>
          <p:spPr>
            <a:xfrm>
              <a:off x="2978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5" h="576579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A0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2978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5" h="576579">
                  <a:moveTo>
                    <a:pt x="38100" y="575999"/>
                  </a:move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close/>
                </a:path>
              </a:pathLst>
            </a:custGeom>
            <a:ln w="7620">
              <a:solidFill>
                <a:srgbClr val="F9CC1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0" name="object 200"/>
          <p:cNvSpPr txBox="1"/>
          <p:nvPr/>
        </p:nvSpPr>
        <p:spPr>
          <a:xfrm>
            <a:off x="3074300" y="4182399"/>
            <a:ext cx="132969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9CC15"/>
                </a:solidFill>
                <a:latin typeface="Arial"/>
                <a:cs typeface="Arial"/>
              </a:rPr>
              <a:t>CAUTIOUS BUT </a:t>
            </a:r>
            <a:r>
              <a:rPr dirty="0" sz="700" spc="-10" b="1">
                <a:solidFill>
                  <a:srgbClr val="F9CC15"/>
                </a:solidFill>
                <a:latin typeface="Arial"/>
                <a:cs typeface="Arial"/>
              </a:rPr>
              <a:t>VULNERABLE</a:t>
            </a:r>
            <a:endParaRPr sz="700">
              <a:latin typeface="Arial"/>
              <a:cs typeface="Arial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3074300" y="4398399"/>
            <a:ext cx="144907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Under 30% wrong — Generally </a:t>
            </a:r>
            <a:r>
              <a:rPr dirty="0" sz="700" spc="-20">
                <a:solidFill>
                  <a:srgbClr val="667787"/>
                </a:solidFill>
                <a:latin typeface="Arial"/>
                <a:cs typeface="Arial"/>
              </a:rPr>
              <a:t>safe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02" name="object 202"/>
          <p:cNvGrpSpPr/>
          <p:nvPr/>
        </p:nvGrpSpPr>
        <p:grpSpPr>
          <a:xfrm>
            <a:off x="5378189" y="4064190"/>
            <a:ext cx="2338705" cy="584200"/>
            <a:chOff x="5378189" y="4064190"/>
            <a:chExt cx="2338705" cy="584200"/>
          </a:xfrm>
        </p:grpSpPr>
        <p:sp>
          <p:nvSpPr>
            <p:cNvPr id="203" name="object 203"/>
            <p:cNvSpPr/>
            <p:nvPr/>
          </p:nvSpPr>
          <p:spPr>
            <a:xfrm>
              <a:off x="5381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4" h="576579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A0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5381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4" h="576579">
                  <a:moveTo>
                    <a:pt x="38100" y="575999"/>
                  </a:move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close/>
                </a:path>
              </a:pathLst>
            </a:custGeom>
            <a:ln w="7620">
              <a:solidFill>
                <a:srgbClr val="F9721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5477300" y="4182399"/>
            <a:ext cx="6972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97216"/>
                </a:solidFill>
                <a:latin typeface="Arial"/>
                <a:cs typeface="Arial"/>
              </a:rPr>
              <a:t>TOO</a:t>
            </a:r>
            <a:r>
              <a:rPr dirty="0" sz="700" spc="-20" b="1">
                <a:solidFill>
                  <a:srgbClr val="F97216"/>
                </a:solidFill>
                <a:latin typeface="Arial"/>
                <a:cs typeface="Arial"/>
              </a:rPr>
              <a:t> </a:t>
            </a:r>
            <a:r>
              <a:rPr dirty="0" sz="700" spc="-10" b="1">
                <a:solidFill>
                  <a:srgbClr val="F97216"/>
                </a:solidFill>
                <a:latin typeface="Arial"/>
                <a:cs typeface="Arial"/>
              </a:rPr>
              <a:t>TRUSTING</a:t>
            </a:r>
            <a:endParaRPr sz="700">
              <a:latin typeface="Arial"/>
              <a:cs typeface="Arial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5477300" y="4398399"/>
            <a:ext cx="144907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Under 60% wrong — Needs </a:t>
            </a:r>
            <a:r>
              <a:rPr dirty="0" sz="700" spc="-10">
                <a:solidFill>
                  <a:srgbClr val="667787"/>
                </a:solidFill>
                <a:latin typeface="Arial"/>
                <a:cs typeface="Arial"/>
              </a:rPr>
              <a:t>training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07" name="object 207"/>
          <p:cNvGrpSpPr/>
          <p:nvPr/>
        </p:nvGrpSpPr>
        <p:grpSpPr>
          <a:xfrm>
            <a:off x="7781189" y="4064190"/>
            <a:ext cx="2338705" cy="584200"/>
            <a:chOff x="7781189" y="4064190"/>
            <a:chExt cx="2338705" cy="584200"/>
          </a:xfrm>
        </p:grpSpPr>
        <p:sp>
          <p:nvSpPr>
            <p:cNvPr id="208" name="object 208"/>
            <p:cNvSpPr/>
            <p:nvPr/>
          </p:nvSpPr>
          <p:spPr>
            <a:xfrm>
              <a:off x="7784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4" h="576579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A0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784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4" h="576579">
                  <a:moveTo>
                    <a:pt x="38100" y="575999"/>
                  </a:move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close/>
                </a:path>
              </a:pathLst>
            </a:custGeom>
            <a:ln w="7620">
              <a:solidFill>
                <a:srgbClr val="FF3B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/>
          <p:cNvSpPr txBox="1"/>
          <p:nvPr/>
        </p:nvSpPr>
        <p:spPr>
          <a:xfrm>
            <a:off x="7880300" y="4182399"/>
            <a:ext cx="104330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F3B3B"/>
                </a:solidFill>
                <a:latin typeface="Arial"/>
                <a:cs typeface="Arial"/>
              </a:rPr>
              <a:t>HIGH RISK </a:t>
            </a:r>
            <a:r>
              <a:rPr dirty="0" sz="700" spc="-10" b="1">
                <a:solidFill>
                  <a:srgbClr val="FF3B3B"/>
                </a:solidFill>
                <a:latin typeface="Arial"/>
                <a:cs typeface="Arial"/>
              </a:rPr>
              <a:t>BEHAVIOUR</a:t>
            </a:r>
            <a:endParaRPr sz="700">
              <a:latin typeface="Arial"/>
              <a:cs typeface="Arial"/>
            </a:endParaRPr>
          </a:p>
        </p:txBody>
      </p:sp>
      <p:sp>
        <p:nvSpPr>
          <p:cNvPr id="212" name="object 2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13" name="object 2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211" name="object 211"/>
          <p:cNvSpPr txBox="1"/>
          <p:nvPr/>
        </p:nvSpPr>
        <p:spPr>
          <a:xfrm>
            <a:off x="7880300" y="4398399"/>
            <a:ext cx="134239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60%+ wrong — Highly </a:t>
            </a:r>
            <a:r>
              <a:rPr dirty="0" sz="700" spc="-10">
                <a:solidFill>
                  <a:srgbClr val="667787"/>
                </a:solidFill>
                <a:latin typeface="Arial"/>
                <a:cs typeface="Arial"/>
              </a:rPr>
              <a:t>vulnerable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>07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3548379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IMPACT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&amp;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SDG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ALIGNMENT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Who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Does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Protect?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62304" y="1127649"/>
            <a:ext cx="1236345" cy="12700"/>
            <a:chOff x="2862304" y="1127649"/>
            <a:chExt cx="1236345" cy="12700"/>
          </a:xfrm>
        </p:grpSpPr>
        <p:sp>
          <p:nvSpPr>
            <p:cNvPr id="10" name="object 10"/>
            <p:cNvSpPr/>
            <p:nvPr/>
          </p:nvSpPr>
          <p:spPr>
            <a:xfrm>
              <a:off x="286230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877757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89321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90866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924117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93957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95502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970477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98593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00138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016837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03229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4774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6319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07865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09410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10955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12501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14046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15591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17137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8682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20227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21773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23318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24863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6409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27954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29499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31045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32590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34135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35681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37226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38771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40317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41862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43407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44953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46498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48043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49589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51134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52679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54225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55770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57315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58861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60406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61951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63497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65042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66587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68133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69678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71223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72769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74314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75859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77405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78950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80495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82041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83586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85131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86677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88222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89767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91313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92858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94403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95949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97494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99039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00585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02130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03675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052213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06766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408311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1" name="object 171"/>
          <p:cNvGrpSpPr/>
          <p:nvPr/>
        </p:nvGrpSpPr>
        <p:grpSpPr>
          <a:xfrm>
            <a:off x="572824" y="1616825"/>
            <a:ext cx="2337435" cy="1086485"/>
            <a:chOff x="572824" y="1616825"/>
            <a:chExt cx="2337435" cy="1086485"/>
          </a:xfrm>
        </p:grpSpPr>
        <p:sp>
          <p:nvSpPr>
            <p:cNvPr id="172" name="object 172"/>
            <p:cNvSpPr/>
            <p:nvPr/>
          </p:nvSpPr>
          <p:spPr>
            <a:xfrm>
              <a:off x="575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5" h="1080135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7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7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575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5" h="1080135">
                  <a:moveTo>
                    <a:pt x="38100" y="1079999"/>
                  </a:move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7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7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1619999"/>
              <a:ext cx="31750" cy="1080135"/>
            </a:xfrm>
            <a:custGeom>
              <a:avLst/>
              <a:gdLst/>
              <a:ahLst/>
              <a:cxnLst/>
              <a:rect l="l" t="t" r="r" b="b"/>
              <a:pathLst>
                <a:path w="31750" h="1080135">
                  <a:moveTo>
                    <a:pt x="31750" y="0"/>
                  </a:moveTo>
                  <a:lnTo>
                    <a:pt x="0" y="0"/>
                  </a:lnTo>
                  <a:lnTo>
                    <a:pt x="0" y="1079999"/>
                  </a:lnTo>
                  <a:lnTo>
                    <a:pt x="31750" y="107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5" name="object 175"/>
          <p:cNvSpPr txBox="1"/>
          <p:nvPr/>
        </p:nvSpPr>
        <p:spPr>
          <a:xfrm>
            <a:off x="612512" y="1787349"/>
            <a:ext cx="2271395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00C8FF"/>
                </a:solidFill>
                <a:latin typeface="Arial"/>
                <a:cs typeface="Arial"/>
              </a:rPr>
              <a:t>COMPANIES</a:t>
            </a:r>
            <a:endParaRPr sz="850">
              <a:latin typeface="Arial"/>
              <a:cs typeface="Arial"/>
            </a:endParaRPr>
          </a:p>
          <a:p>
            <a:pPr marL="107314" marR="318770">
              <a:lnSpc>
                <a:spcPct val="141700"/>
              </a:lnSpc>
              <a:spcBef>
                <a:spcPts val="685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Staff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cybersecurity awareness and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phishing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resistance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training.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2975824" y="1616825"/>
            <a:ext cx="2337435" cy="1086485"/>
            <a:chOff x="2975824" y="1616825"/>
            <a:chExt cx="2337435" cy="1086485"/>
          </a:xfrm>
        </p:grpSpPr>
        <p:sp>
          <p:nvSpPr>
            <p:cNvPr id="177" name="object 177"/>
            <p:cNvSpPr/>
            <p:nvPr/>
          </p:nvSpPr>
          <p:spPr>
            <a:xfrm>
              <a:off x="2978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5" h="1080135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2978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5" h="1080135">
                  <a:moveTo>
                    <a:pt x="38100" y="1079999"/>
                  </a:move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2978999" y="1619999"/>
              <a:ext cx="31750" cy="1080135"/>
            </a:xfrm>
            <a:custGeom>
              <a:avLst/>
              <a:gdLst/>
              <a:ahLst/>
              <a:cxnLst/>
              <a:rect l="l" t="t" r="r" b="b"/>
              <a:pathLst>
                <a:path w="31750" h="1080135">
                  <a:moveTo>
                    <a:pt x="31750" y="0"/>
                  </a:moveTo>
                  <a:lnTo>
                    <a:pt x="0" y="0"/>
                  </a:lnTo>
                  <a:lnTo>
                    <a:pt x="0" y="1079999"/>
                  </a:lnTo>
                  <a:lnTo>
                    <a:pt x="31750" y="107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0" name="object 180"/>
          <p:cNvSpPr txBox="1"/>
          <p:nvPr/>
        </p:nvSpPr>
        <p:spPr>
          <a:xfrm>
            <a:off x="3015512" y="1787349"/>
            <a:ext cx="2271395" cy="404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A854F6"/>
                </a:solidFill>
                <a:latin typeface="Arial"/>
                <a:cs typeface="Arial"/>
              </a:rPr>
              <a:t>SCHOOLS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850">
              <a:latin typeface="Arial"/>
              <a:cs typeface="Arial"/>
            </a:endParaRPr>
          </a:p>
          <a:p>
            <a:pPr marL="107314">
              <a:lnSpc>
                <a:spcPct val="100000"/>
              </a:lnSpc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Digital safety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education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integrated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into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curricula.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1" name="object 181"/>
          <p:cNvGrpSpPr/>
          <p:nvPr/>
        </p:nvGrpSpPr>
        <p:grpSpPr>
          <a:xfrm>
            <a:off x="5378824" y="1616825"/>
            <a:ext cx="2337435" cy="1086485"/>
            <a:chOff x="5378824" y="1616825"/>
            <a:chExt cx="2337435" cy="1086485"/>
          </a:xfrm>
        </p:grpSpPr>
        <p:sp>
          <p:nvSpPr>
            <p:cNvPr id="182" name="object 182"/>
            <p:cNvSpPr/>
            <p:nvPr/>
          </p:nvSpPr>
          <p:spPr>
            <a:xfrm>
              <a:off x="5381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4" h="1080135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5381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4" h="1080135">
                  <a:moveTo>
                    <a:pt x="38100" y="1079999"/>
                  </a:move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381999" y="1619999"/>
              <a:ext cx="31750" cy="1080135"/>
            </a:xfrm>
            <a:custGeom>
              <a:avLst/>
              <a:gdLst/>
              <a:ahLst/>
              <a:cxnLst/>
              <a:rect l="l" t="t" r="r" b="b"/>
              <a:pathLst>
                <a:path w="31750" h="1080135">
                  <a:moveTo>
                    <a:pt x="31750" y="0"/>
                  </a:moveTo>
                  <a:lnTo>
                    <a:pt x="0" y="0"/>
                  </a:lnTo>
                  <a:lnTo>
                    <a:pt x="0" y="1079999"/>
                  </a:lnTo>
                  <a:lnTo>
                    <a:pt x="31750" y="107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/>
          <p:cNvSpPr txBox="1"/>
          <p:nvPr/>
        </p:nvSpPr>
        <p:spPr>
          <a:xfrm>
            <a:off x="5418512" y="1787349"/>
            <a:ext cx="2271395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05B5D4"/>
                </a:solidFill>
                <a:latin typeface="Arial"/>
                <a:cs typeface="Arial"/>
              </a:rPr>
              <a:t>FAMILIES</a:t>
            </a:r>
            <a:endParaRPr sz="850">
              <a:latin typeface="Arial"/>
              <a:cs typeface="Arial"/>
            </a:endParaRPr>
          </a:p>
          <a:p>
            <a:pPr marL="107314" marR="498475">
              <a:lnSpc>
                <a:spcPct val="141700"/>
              </a:lnSpc>
              <a:spcBef>
                <a:spcPts val="685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Child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online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protection</a:t>
            </a:r>
            <a:r>
              <a:rPr dirty="0" sz="750" spc="1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&amp;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parental</a:t>
            </a:r>
            <a:r>
              <a:rPr dirty="0" sz="750" spc="1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667787"/>
                </a:solidFill>
                <a:latin typeface="Arial"/>
                <a:cs typeface="Arial"/>
              </a:rPr>
              <a:t>scam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 guidance.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7781825" y="1616825"/>
            <a:ext cx="2337435" cy="1086485"/>
            <a:chOff x="7781825" y="1616825"/>
            <a:chExt cx="2337435" cy="1086485"/>
          </a:xfrm>
        </p:grpSpPr>
        <p:sp>
          <p:nvSpPr>
            <p:cNvPr id="187" name="object 187"/>
            <p:cNvSpPr/>
            <p:nvPr/>
          </p:nvSpPr>
          <p:spPr>
            <a:xfrm>
              <a:off x="7785000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4" h="1080135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7785000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4" h="1080135">
                  <a:moveTo>
                    <a:pt x="38100" y="1079999"/>
                  </a:move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close/>
                </a:path>
              </a:pathLst>
            </a:custGeom>
            <a:ln w="6350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7785000" y="1619999"/>
              <a:ext cx="31750" cy="1080135"/>
            </a:xfrm>
            <a:custGeom>
              <a:avLst/>
              <a:gdLst/>
              <a:ahLst/>
              <a:cxnLst/>
              <a:rect l="l" t="t" r="r" b="b"/>
              <a:pathLst>
                <a:path w="31750" h="1080135">
                  <a:moveTo>
                    <a:pt x="31750" y="0"/>
                  </a:moveTo>
                  <a:lnTo>
                    <a:pt x="0" y="0"/>
                  </a:lnTo>
                  <a:lnTo>
                    <a:pt x="0" y="1079999"/>
                  </a:lnTo>
                  <a:lnTo>
                    <a:pt x="31750" y="107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0" name="object 190"/>
          <p:cNvSpPr txBox="1"/>
          <p:nvPr/>
        </p:nvSpPr>
        <p:spPr>
          <a:xfrm>
            <a:off x="7821512" y="1787349"/>
            <a:ext cx="2271395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21C45D"/>
                </a:solidFill>
                <a:latin typeface="Arial"/>
                <a:cs typeface="Arial"/>
              </a:rPr>
              <a:t>ELDERLY</a:t>
            </a:r>
            <a:endParaRPr sz="850">
              <a:latin typeface="Arial"/>
              <a:cs typeface="Arial"/>
            </a:endParaRPr>
          </a:p>
          <a:p>
            <a:pPr marL="107314" marR="429895">
              <a:lnSpc>
                <a:spcPct val="141700"/>
              </a:lnSpc>
              <a:spcBef>
                <a:spcPts val="685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Accessible scam awareness for the </a:t>
            </a:r>
            <a:r>
              <a:rPr dirty="0" sz="750" spc="-20">
                <a:solidFill>
                  <a:srgbClr val="667787"/>
                </a:solidFill>
                <a:latin typeface="Arial"/>
                <a:cs typeface="Arial"/>
              </a:rPr>
              <a:t>most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 vulnerable.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571554" y="2983554"/>
            <a:ext cx="3141345" cy="1017269"/>
            <a:chOff x="571554" y="2983554"/>
            <a:chExt cx="3141345" cy="1017269"/>
          </a:xfrm>
        </p:grpSpPr>
        <p:sp>
          <p:nvSpPr>
            <p:cNvPr id="192" name="object 192"/>
            <p:cNvSpPr/>
            <p:nvPr/>
          </p:nvSpPr>
          <p:spPr>
            <a:xfrm>
              <a:off x="575999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093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3093899" y="1008000"/>
                  </a:lnTo>
                  <a:lnTo>
                    <a:pt x="3108738" y="1005008"/>
                  </a:lnTo>
                  <a:lnTo>
                    <a:pt x="3120848" y="996848"/>
                  </a:lnTo>
                  <a:lnTo>
                    <a:pt x="3129008" y="984738"/>
                  </a:lnTo>
                  <a:lnTo>
                    <a:pt x="3131999" y="969900"/>
                  </a:lnTo>
                  <a:lnTo>
                    <a:pt x="3131999" y="38100"/>
                  </a:lnTo>
                  <a:lnTo>
                    <a:pt x="3129008" y="23261"/>
                  </a:lnTo>
                  <a:lnTo>
                    <a:pt x="3120848" y="11151"/>
                  </a:lnTo>
                  <a:lnTo>
                    <a:pt x="3108738" y="2991"/>
                  </a:lnTo>
                  <a:lnTo>
                    <a:pt x="3093899" y="0"/>
                  </a:lnTo>
                  <a:close/>
                </a:path>
              </a:pathLst>
            </a:custGeom>
            <a:solidFill>
              <a:srgbClr val="05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575999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8100" y="1008000"/>
                  </a:moveTo>
                  <a:lnTo>
                    <a:pt x="3093899" y="1008000"/>
                  </a:lnTo>
                  <a:lnTo>
                    <a:pt x="3108738" y="1005008"/>
                  </a:lnTo>
                  <a:lnTo>
                    <a:pt x="3120848" y="996848"/>
                  </a:lnTo>
                  <a:lnTo>
                    <a:pt x="3129008" y="984738"/>
                  </a:lnTo>
                  <a:lnTo>
                    <a:pt x="3131999" y="969900"/>
                  </a:lnTo>
                  <a:lnTo>
                    <a:pt x="3131999" y="38100"/>
                  </a:lnTo>
                  <a:lnTo>
                    <a:pt x="3129008" y="23261"/>
                  </a:lnTo>
                  <a:lnTo>
                    <a:pt x="3120848" y="11151"/>
                  </a:lnTo>
                  <a:lnTo>
                    <a:pt x="3108738" y="2991"/>
                  </a:lnTo>
                  <a:lnTo>
                    <a:pt x="3093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889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4" name="object 194"/>
          <p:cNvSpPr txBox="1"/>
          <p:nvPr/>
        </p:nvSpPr>
        <p:spPr>
          <a:xfrm>
            <a:off x="707299" y="3193499"/>
            <a:ext cx="1103630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C8FF"/>
                </a:solidFill>
                <a:latin typeface="Arial"/>
                <a:cs typeface="Arial"/>
              </a:rPr>
              <a:t>SDG</a:t>
            </a:r>
            <a:r>
              <a:rPr dirty="0" sz="1400" spc="-35" b="1">
                <a:solidFill>
                  <a:srgbClr val="00C8FF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00C8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800" b="1">
                <a:solidFill>
                  <a:srgbClr val="00C8FF"/>
                </a:solidFill>
                <a:latin typeface="Arial"/>
                <a:cs typeface="Arial"/>
              </a:rPr>
              <a:t>QUALITY</a:t>
            </a:r>
            <a:r>
              <a:rPr dirty="0" sz="800" spc="-40" b="1">
                <a:solidFill>
                  <a:srgbClr val="00C8FF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C8FF"/>
                </a:solidFill>
                <a:latin typeface="Arial"/>
                <a:cs typeface="Arial"/>
              </a:rPr>
              <a:t>EDUCATION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707299" y="3744049"/>
            <a:ext cx="22332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Digital literacy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through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interactive,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gamified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learning.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3775555" y="2983554"/>
            <a:ext cx="3141345" cy="1017269"/>
            <a:chOff x="3775555" y="2983554"/>
            <a:chExt cx="3141345" cy="1017269"/>
          </a:xfrm>
        </p:grpSpPr>
        <p:sp>
          <p:nvSpPr>
            <p:cNvPr id="197" name="object 197"/>
            <p:cNvSpPr/>
            <p:nvPr/>
          </p:nvSpPr>
          <p:spPr>
            <a:xfrm>
              <a:off x="3780000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093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3093900" y="1008000"/>
                  </a:lnTo>
                  <a:lnTo>
                    <a:pt x="3108738" y="1005008"/>
                  </a:lnTo>
                  <a:lnTo>
                    <a:pt x="3120848" y="996848"/>
                  </a:lnTo>
                  <a:lnTo>
                    <a:pt x="3129009" y="984738"/>
                  </a:lnTo>
                  <a:lnTo>
                    <a:pt x="3132000" y="969900"/>
                  </a:lnTo>
                  <a:lnTo>
                    <a:pt x="3132000" y="38100"/>
                  </a:lnTo>
                  <a:lnTo>
                    <a:pt x="3129009" y="23261"/>
                  </a:lnTo>
                  <a:lnTo>
                    <a:pt x="3120848" y="11151"/>
                  </a:lnTo>
                  <a:lnTo>
                    <a:pt x="3108738" y="2991"/>
                  </a:lnTo>
                  <a:lnTo>
                    <a:pt x="3093900" y="0"/>
                  </a:lnTo>
                  <a:close/>
                </a:path>
              </a:pathLst>
            </a:custGeom>
            <a:solidFill>
              <a:srgbClr val="05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3780000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8100" y="1008000"/>
                  </a:moveTo>
                  <a:lnTo>
                    <a:pt x="3093900" y="1008000"/>
                  </a:lnTo>
                  <a:lnTo>
                    <a:pt x="3108738" y="1005008"/>
                  </a:lnTo>
                  <a:lnTo>
                    <a:pt x="3120848" y="996848"/>
                  </a:lnTo>
                  <a:lnTo>
                    <a:pt x="3129009" y="984738"/>
                  </a:lnTo>
                  <a:lnTo>
                    <a:pt x="3132000" y="969900"/>
                  </a:lnTo>
                  <a:lnTo>
                    <a:pt x="3132000" y="38100"/>
                  </a:lnTo>
                  <a:lnTo>
                    <a:pt x="3129009" y="23261"/>
                  </a:lnTo>
                  <a:lnTo>
                    <a:pt x="3120848" y="11151"/>
                  </a:lnTo>
                  <a:lnTo>
                    <a:pt x="3108738" y="2991"/>
                  </a:lnTo>
                  <a:lnTo>
                    <a:pt x="3093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889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3911300" y="3193499"/>
            <a:ext cx="663575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A854F6"/>
                </a:solidFill>
                <a:latin typeface="Arial"/>
                <a:cs typeface="Arial"/>
              </a:rPr>
              <a:t>SDG</a:t>
            </a:r>
            <a:r>
              <a:rPr dirty="0" sz="1400" spc="-35" b="1">
                <a:solidFill>
                  <a:srgbClr val="A854F6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A854F6"/>
                </a:solidFill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800" spc="-10" b="1">
                <a:solidFill>
                  <a:srgbClr val="A854F6"/>
                </a:solidFill>
                <a:latin typeface="Arial"/>
                <a:cs typeface="Arial"/>
              </a:rPr>
              <a:t>INNOVATION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3911300" y="3744049"/>
            <a:ext cx="18205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AI-driven cybersecurity training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innovation.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6979555" y="2983554"/>
            <a:ext cx="3141345" cy="1017269"/>
            <a:chOff x="6979555" y="2983554"/>
            <a:chExt cx="3141345" cy="1017269"/>
          </a:xfrm>
        </p:grpSpPr>
        <p:sp>
          <p:nvSpPr>
            <p:cNvPr id="202" name="object 202"/>
            <p:cNvSpPr/>
            <p:nvPr/>
          </p:nvSpPr>
          <p:spPr>
            <a:xfrm>
              <a:off x="6984000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093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3093899" y="1008000"/>
                  </a:lnTo>
                  <a:lnTo>
                    <a:pt x="3108737" y="1005008"/>
                  </a:lnTo>
                  <a:lnTo>
                    <a:pt x="3120847" y="996848"/>
                  </a:lnTo>
                  <a:lnTo>
                    <a:pt x="3129007" y="984738"/>
                  </a:lnTo>
                  <a:lnTo>
                    <a:pt x="3131999" y="969900"/>
                  </a:lnTo>
                  <a:lnTo>
                    <a:pt x="3131999" y="38100"/>
                  </a:lnTo>
                  <a:lnTo>
                    <a:pt x="3129007" y="23261"/>
                  </a:lnTo>
                  <a:lnTo>
                    <a:pt x="3120847" y="11151"/>
                  </a:lnTo>
                  <a:lnTo>
                    <a:pt x="3108737" y="2991"/>
                  </a:lnTo>
                  <a:lnTo>
                    <a:pt x="3093899" y="0"/>
                  </a:lnTo>
                  <a:close/>
                </a:path>
              </a:pathLst>
            </a:custGeom>
            <a:solidFill>
              <a:srgbClr val="05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6984000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8100" y="1008000"/>
                  </a:moveTo>
                  <a:lnTo>
                    <a:pt x="3093899" y="1008000"/>
                  </a:lnTo>
                  <a:lnTo>
                    <a:pt x="3108737" y="1005008"/>
                  </a:lnTo>
                  <a:lnTo>
                    <a:pt x="3120847" y="996848"/>
                  </a:lnTo>
                  <a:lnTo>
                    <a:pt x="3129007" y="984738"/>
                  </a:lnTo>
                  <a:lnTo>
                    <a:pt x="3131999" y="969900"/>
                  </a:lnTo>
                  <a:lnTo>
                    <a:pt x="3131999" y="38100"/>
                  </a:lnTo>
                  <a:lnTo>
                    <a:pt x="3129007" y="23261"/>
                  </a:lnTo>
                  <a:lnTo>
                    <a:pt x="3120847" y="11151"/>
                  </a:lnTo>
                  <a:lnTo>
                    <a:pt x="3108737" y="2991"/>
                  </a:lnTo>
                  <a:lnTo>
                    <a:pt x="3093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889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4" name="object 204"/>
          <p:cNvSpPr txBox="1"/>
          <p:nvPr/>
        </p:nvSpPr>
        <p:spPr>
          <a:xfrm>
            <a:off x="7115299" y="3193499"/>
            <a:ext cx="934719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5B5D4"/>
                </a:solidFill>
                <a:latin typeface="Arial"/>
                <a:cs typeface="Arial"/>
              </a:rPr>
              <a:t>SDG</a:t>
            </a:r>
            <a:r>
              <a:rPr dirty="0" sz="1400" spc="-35" b="1">
                <a:solidFill>
                  <a:srgbClr val="05B5D4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05B5D4"/>
                </a:solidFill>
                <a:latin typeface="Arial"/>
                <a:cs typeface="Arial"/>
              </a:rPr>
              <a:t>16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800" b="1">
                <a:solidFill>
                  <a:srgbClr val="05B5D4"/>
                </a:solidFill>
                <a:latin typeface="Arial"/>
                <a:cs typeface="Arial"/>
              </a:rPr>
              <a:t>PEACE</a:t>
            </a:r>
            <a:r>
              <a:rPr dirty="0" sz="800" spc="-15" b="1">
                <a:solidFill>
                  <a:srgbClr val="05B5D4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5B5D4"/>
                </a:solidFill>
                <a:latin typeface="Arial"/>
                <a:cs typeface="Arial"/>
              </a:rPr>
              <a:t>&amp;</a:t>
            </a:r>
            <a:r>
              <a:rPr dirty="0" sz="800" spc="-15" b="1">
                <a:solidFill>
                  <a:srgbClr val="05B5D4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5B5D4"/>
                </a:solidFill>
                <a:latin typeface="Arial"/>
                <a:cs typeface="Arial"/>
              </a:rPr>
              <a:t>JUSTICE</a:t>
            </a:r>
            <a:endParaRPr sz="800">
              <a:latin typeface="Arial"/>
              <a:cs typeface="Arial"/>
            </a:endParaRPr>
          </a:p>
        </p:txBody>
      </p:sp>
      <p:sp>
        <p:nvSpPr>
          <p:cNvPr id="206" name="object 20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07" name="object 20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205" name="object 205"/>
          <p:cNvSpPr txBox="1"/>
          <p:nvPr/>
        </p:nvSpPr>
        <p:spPr>
          <a:xfrm>
            <a:off x="7115299" y="3744049"/>
            <a:ext cx="240855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Reducing cybercrime by strengthening human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defences.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>08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2684145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35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AI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TOOLS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&amp;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RESEARCH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METHODOLOGY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How We </a:t>
            </a:r>
            <a:r>
              <a:rPr dirty="0" sz="2400" b="1">
                <a:solidFill>
                  <a:srgbClr val="00C8FF"/>
                </a:solidFill>
                <a:latin typeface="Arial"/>
                <a:cs typeface="Arial"/>
              </a:rPr>
              <a:t>Built </a:t>
            </a:r>
            <a:r>
              <a:rPr dirty="0" sz="2400" spc="-20" b="1">
                <a:solidFill>
                  <a:srgbClr val="00C8FF"/>
                </a:solidFill>
                <a:latin typeface="Arial"/>
                <a:cs typeface="Arial"/>
              </a:rPr>
              <a:t>This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46101" y="1127649"/>
            <a:ext cx="1388745" cy="12700"/>
            <a:chOff x="1846101" y="1127649"/>
            <a:chExt cx="1388745" cy="12700"/>
          </a:xfrm>
        </p:grpSpPr>
        <p:sp>
          <p:nvSpPr>
            <p:cNvPr id="10" name="object 10"/>
            <p:cNvSpPr/>
            <p:nvPr/>
          </p:nvSpPr>
          <p:spPr>
            <a:xfrm>
              <a:off x="184610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6345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8081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9817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91553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93289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95025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6760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8496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00232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01968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3704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5440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7175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08911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10647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2383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4119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15855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17591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19326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21062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22798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24534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26270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28006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29741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31477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33213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34949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36685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38421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40156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41892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43628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45364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47100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48836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50571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52307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54043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55779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57515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59251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60986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62722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64458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66194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67930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69666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71401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73137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74873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76609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78345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80081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81816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83552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85288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87024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88760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90496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92231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93967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95703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97439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99175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00911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02646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04382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06118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07854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09590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11326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13061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14797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16533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18269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20005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21741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783844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This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project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was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built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using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combination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of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AI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tools,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combined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research,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collaborative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development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—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each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contributing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unique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strength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to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final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product.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2048824"/>
            <a:ext cx="4704715" cy="1014730"/>
            <a:chOff x="572824" y="2048824"/>
            <a:chExt cx="4704715" cy="1014730"/>
          </a:xfrm>
        </p:grpSpPr>
        <p:sp>
          <p:nvSpPr>
            <p:cNvPr id="173" name="object 173"/>
            <p:cNvSpPr/>
            <p:nvPr/>
          </p:nvSpPr>
          <p:spPr>
            <a:xfrm>
              <a:off x="575999" y="2051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80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4659900" y="1008000"/>
                  </a:lnTo>
                  <a:lnTo>
                    <a:pt x="4674738" y="1005008"/>
                  </a:lnTo>
                  <a:lnTo>
                    <a:pt x="4686848" y="996848"/>
                  </a:lnTo>
                  <a:lnTo>
                    <a:pt x="4695008" y="984738"/>
                  </a:lnTo>
                  <a:lnTo>
                    <a:pt x="4698000" y="969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2051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80">
                  <a:moveTo>
                    <a:pt x="38100" y="1008000"/>
                  </a:moveTo>
                  <a:lnTo>
                    <a:pt x="4659900" y="1008000"/>
                  </a:lnTo>
                  <a:lnTo>
                    <a:pt x="4674738" y="1005008"/>
                  </a:lnTo>
                  <a:lnTo>
                    <a:pt x="4686848" y="996848"/>
                  </a:lnTo>
                  <a:lnTo>
                    <a:pt x="4695008" y="984738"/>
                  </a:lnTo>
                  <a:lnTo>
                    <a:pt x="4698000" y="969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2051999"/>
              <a:ext cx="31750" cy="1008380"/>
            </a:xfrm>
            <a:custGeom>
              <a:avLst/>
              <a:gdLst/>
              <a:ahLst/>
              <a:cxnLst/>
              <a:rect l="l" t="t" r="r" b="b"/>
              <a:pathLst>
                <a:path w="31750" h="1008380">
                  <a:moveTo>
                    <a:pt x="31750" y="0"/>
                  </a:moveTo>
                  <a:lnTo>
                    <a:pt x="0" y="0"/>
                  </a:lnTo>
                  <a:lnTo>
                    <a:pt x="0" y="1008000"/>
                  </a:lnTo>
                  <a:lnTo>
                    <a:pt x="31750" y="1008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612512" y="2183349"/>
            <a:ext cx="463867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C8FF"/>
                </a:solidFill>
                <a:latin typeface="Arial"/>
                <a:cs typeface="Arial"/>
              </a:rPr>
              <a:t>CLAUDE </a:t>
            </a:r>
            <a:r>
              <a:rPr dirty="0" sz="850" spc="-10" b="1">
                <a:solidFill>
                  <a:srgbClr val="00C8FF"/>
                </a:solidFill>
                <a:latin typeface="Arial"/>
                <a:cs typeface="Arial"/>
              </a:rPr>
              <a:t>(ANTHROPIC)</a:t>
            </a:r>
            <a:endParaRPr sz="85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880"/>
              </a:spcBef>
            </a:pPr>
            <a:r>
              <a:rPr dirty="0" sz="650">
                <a:solidFill>
                  <a:srgbClr val="445466"/>
                </a:solidFill>
                <a:latin typeface="Courier New"/>
                <a:cs typeface="Courier New"/>
              </a:rPr>
              <a:t>PRIMARY DEVELOPMENT </a:t>
            </a:r>
            <a:r>
              <a:rPr dirty="0" sz="650" spc="-25">
                <a:solidFill>
                  <a:srgbClr val="445466"/>
                </a:solidFill>
                <a:latin typeface="Courier New"/>
                <a:cs typeface="Courier New"/>
              </a:rPr>
              <a:t>AI</a:t>
            </a:r>
            <a:endParaRPr sz="650">
              <a:latin typeface="Courier New"/>
              <a:cs typeface="Courier New"/>
            </a:endParaRPr>
          </a:p>
          <a:p>
            <a:pPr marL="142875" marR="256540">
              <a:lnSpc>
                <a:spcPct val="132300"/>
              </a:lnSpc>
              <a:spcBef>
                <a:spcPts val="53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Frontend development, game logic, Behavioural Analysis Engine, UI/UX design, documentation, </a:t>
            </a:r>
            <a:r>
              <a:rPr dirty="0" sz="750" spc="-25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 presentation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structure.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5414825" y="2048824"/>
            <a:ext cx="4704715" cy="1014730"/>
            <a:chOff x="5414825" y="2048824"/>
            <a:chExt cx="4704715" cy="1014730"/>
          </a:xfrm>
        </p:grpSpPr>
        <p:sp>
          <p:nvSpPr>
            <p:cNvPr id="178" name="object 178"/>
            <p:cNvSpPr/>
            <p:nvPr/>
          </p:nvSpPr>
          <p:spPr>
            <a:xfrm>
              <a:off x="5418000" y="2051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80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4659899" y="1008000"/>
                  </a:lnTo>
                  <a:lnTo>
                    <a:pt x="4674737" y="1005008"/>
                  </a:lnTo>
                  <a:lnTo>
                    <a:pt x="4686847" y="996848"/>
                  </a:lnTo>
                  <a:lnTo>
                    <a:pt x="4695007" y="984738"/>
                  </a:lnTo>
                  <a:lnTo>
                    <a:pt x="4697999" y="969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418000" y="2051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80">
                  <a:moveTo>
                    <a:pt x="38100" y="1008000"/>
                  </a:moveTo>
                  <a:lnTo>
                    <a:pt x="4659899" y="1008000"/>
                  </a:lnTo>
                  <a:lnTo>
                    <a:pt x="4674737" y="1005008"/>
                  </a:lnTo>
                  <a:lnTo>
                    <a:pt x="4686847" y="996848"/>
                  </a:lnTo>
                  <a:lnTo>
                    <a:pt x="4695007" y="984738"/>
                  </a:lnTo>
                  <a:lnTo>
                    <a:pt x="4697999" y="969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634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418000" y="2051999"/>
              <a:ext cx="31750" cy="1008380"/>
            </a:xfrm>
            <a:custGeom>
              <a:avLst/>
              <a:gdLst/>
              <a:ahLst/>
              <a:cxnLst/>
              <a:rect l="l" t="t" r="r" b="b"/>
              <a:pathLst>
                <a:path w="31750" h="1008380">
                  <a:moveTo>
                    <a:pt x="31750" y="0"/>
                  </a:moveTo>
                  <a:lnTo>
                    <a:pt x="0" y="0"/>
                  </a:lnTo>
                  <a:lnTo>
                    <a:pt x="0" y="1008000"/>
                  </a:lnTo>
                  <a:lnTo>
                    <a:pt x="31750" y="1008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5454512" y="2183349"/>
            <a:ext cx="463867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21C45D"/>
                </a:solidFill>
                <a:latin typeface="Arial"/>
                <a:cs typeface="Arial"/>
              </a:rPr>
              <a:t>CHATGPT</a:t>
            </a:r>
            <a:r>
              <a:rPr dirty="0" sz="850" spc="-45" b="1">
                <a:solidFill>
                  <a:srgbClr val="21C45D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21C45D"/>
                </a:solidFill>
                <a:latin typeface="Arial"/>
                <a:cs typeface="Arial"/>
              </a:rPr>
              <a:t>(OPENAI)</a:t>
            </a:r>
            <a:endParaRPr sz="85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880"/>
              </a:spcBef>
            </a:pPr>
            <a:r>
              <a:rPr dirty="0" sz="650">
                <a:solidFill>
                  <a:srgbClr val="445466"/>
                </a:solidFill>
                <a:latin typeface="Courier New"/>
                <a:cs typeface="Courier New"/>
              </a:rPr>
              <a:t>CONTENT &amp; </a:t>
            </a:r>
            <a:r>
              <a:rPr dirty="0" sz="650" spc="-10">
                <a:solidFill>
                  <a:srgbClr val="445466"/>
                </a:solidFill>
                <a:latin typeface="Courier New"/>
                <a:cs typeface="Courier New"/>
              </a:rPr>
              <a:t>IDEATION</a:t>
            </a:r>
            <a:endParaRPr sz="650">
              <a:latin typeface="Courier New"/>
              <a:cs typeface="Courier New"/>
            </a:endParaRPr>
          </a:p>
          <a:p>
            <a:pPr marL="142875" marR="187960">
              <a:lnSpc>
                <a:spcPct val="132300"/>
              </a:lnSpc>
              <a:spcBef>
                <a:spcPts val="53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Brainstorming scam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scenarios, refining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problem statements,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drafting initial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proposal content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and </a:t>
            </a:r>
            <a:r>
              <a:rPr dirty="0" sz="750" spc="-20">
                <a:solidFill>
                  <a:srgbClr val="667787"/>
                </a:solidFill>
                <a:latin typeface="Arial"/>
                <a:cs typeface="Arial"/>
              </a:rPr>
              <a:t>game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 narrative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ideas.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572824" y="3164824"/>
            <a:ext cx="4704715" cy="1014730"/>
            <a:chOff x="572824" y="3164824"/>
            <a:chExt cx="4704715" cy="1014730"/>
          </a:xfrm>
        </p:grpSpPr>
        <p:sp>
          <p:nvSpPr>
            <p:cNvPr id="183" name="object 183"/>
            <p:cNvSpPr/>
            <p:nvPr/>
          </p:nvSpPr>
          <p:spPr>
            <a:xfrm>
              <a:off x="575999" y="3167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79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4659900" y="1008000"/>
                  </a:lnTo>
                  <a:lnTo>
                    <a:pt x="4674738" y="1005008"/>
                  </a:lnTo>
                  <a:lnTo>
                    <a:pt x="4686848" y="996848"/>
                  </a:lnTo>
                  <a:lnTo>
                    <a:pt x="4695008" y="984738"/>
                  </a:lnTo>
                  <a:lnTo>
                    <a:pt x="4698000" y="969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75999" y="3167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79">
                  <a:moveTo>
                    <a:pt x="38100" y="1008000"/>
                  </a:moveTo>
                  <a:lnTo>
                    <a:pt x="4659900" y="1008000"/>
                  </a:lnTo>
                  <a:lnTo>
                    <a:pt x="4674738" y="1005008"/>
                  </a:lnTo>
                  <a:lnTo>
                    <a:pt x="4686848" y="996848"/>
                  </a:lnTo>
                  <a:lnTo>
                    <a:pt x="4695008" y="984738"/>
                  </a:lnTo>
                  <a:lnTo>
                    <a:pt x="4698000" y="969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75999" y="3167999"/>
              <a:ext cx="31750" cy="1008380"/>
            </a:xfrm>
            <a:custGeom>
              <a:avLst/>
              <a:gdLst/>
              <a:ahLst/>
              <a:cxnLst/>
              <a:rect l="l" t="t" r="r" b="b"/>
              <a:pathLst>
                <a:path w="31750" h="1008379">
                  <a:moveTo>
                    <a:pt x="31750" y="0"/>
                  </a:moveTo>
                  <a:lnTo>
                    <a:pt x="0" y="0"/>
                  </a:lnTo>
                  <a:lnTo>
                    <a:pt x="0" y="1008000"/>
                  </a:lnTo>
                  <a:lnTo>
                    <a:pt x="31750" y="1008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612512" y="3299348"/>
            <a:ext cx="463867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A854F6"/>
                </a:solidFill>
                <a:latin typeface="Arial"/>
                <a:cs typeface="Arial"/>
              </a:rPr>
              <a:t>GOOGLE</a:t>
            </a:r>
            <a:r>
              <a:rPr dirty="0" sz="850" spc="-40" b="1">
                <a:solidFill>
                  <a:srgbClr val="A854F6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A854F6"/>
                </a:solidFill>
                <a:latin typeface="Arial"/>
                <a:cs typeface="Arial"/>
              </a:rPr>
              <a:t>GEMINI</a:t>
            </a:r>
            <a:endParaRPr sz="85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880"/>
              </a:spcBef>
            </a:pPr>
            <a:r>
              <a:rPr dirty="0" sz="650">
                <a:solidFill>
                  <a:srgbClr val="445466"/>
                </a:solidFill>
                <a:latin typeface="Courier New"/>
                <a:cs typeface="Courier New"/>
              </a:rPr>
              <a:t>RESEARCH &amp; </a:t>
            </a:r>
            <a:r>
              <a:rPr dirty="0" sz="650" spc="-10">
                <a:solidFill>
                  <a:srgbClr val="445466"/>
                </a:solidFill>
                <a:latin typeface="Courier New"/>
                <a:cs typeface="Courier New"/>
              </a:rPr>
              <a:t>VALIDATION</a:t>
            </a:r>
            <a:endParaRPr sz="650">
              <a:latin typeface="Courier New"/>
              <a:cs typeface="Courier New"/>
            </a:endParaRPr>
          </a:p>
          <a:p>
            <a:pPr marL="142875" marR="314960">
              <a:lnSpc>
                <a:spcPct val="132300"/>
              </a:lnSpc>
              <a:spcBef>
                <a:spcPts val="53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Cross-referencing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cybersecurity statistics,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validating scam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patterns, and supporting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SDG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alignment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research across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Africa.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414825" y="3164824"/>
            <a:ext cx="4704715" cy="1014730"/>
            <a:chOff x="5414825" y="3164824"/>
            <a:chExt cx="4704715" cy="1014730"/>
          </a:xfrm>
        </p:grpSpPr>
        <p:sp>
          <p:nvSpPr>
            <p:cNvPr id="188" name="object 188"/>
            <p:cNvSpPr/>
            <p:nvPr/>
          </p:nvSpPr>
          <p:spPr>
            <a:xfrm>
              <a:off x="5418000" y="3167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79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4659899" y="1008000"/>
                  </a:lnTo>
                  <a:lnTo>
                    <a:pt x="4674737" y="1005008"/>
                  </a:lnTo>
                  <a:lnTo>
                    <a:pt x="4686847" y="996848"/>
                  </a:lnTo>
                  <a:lnTo>
                    <a:pt x="4695007" y="984738"/>
                  </a:lnTo>
                  <a:lnTo>
                    <a:pt x="4697999" y="969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418000" y="3167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79">
                  <a:moveTo>
                    <a:pt x="38100" y="1008000"/>
                  </a:moveTo>
                  <a:lnTo>
                    <a:pt x="4659899" y="1008000"/>
                  </a:lnTo>
                  <a:lnTo>
                    <a:pt x="4674737" y="1005008"/>
                  </a:lnTo>
                  <a:lnTo>
                    <a:pt x="4686847" y="996848"/>
                  </a:lnTo>
                  <a:lnTo>
                    <a:pt x="4695007" y="984738"/>
                  </a:lnTo>
                  <a:lnTo>
                    <a:pt x="4697999" y="969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6350">
              <a:solidFill>
                <a:srgbClr val="F9CC1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418000" y="3167999"/>
              <a:ext cx="31750" cy="1008380"/>
            </a:xfrm>
            <a:custGeom>
              <a:avLst/>
              <a:gdLst/>
              <a:ahLst/>
              <a:cxnLst/>
              <a:rect l="l" t="t" r="r" b="b"/>
              <a:pathLst>
                <a:path w="31750" h="1008379">
                  <a:moveTo>
                    <a:pt x="31750" y="0"/>
                  </a:moveTo>
                  <a:lnTo>
                    <a:pt x="0" y="0"/>
                  </a:lnTo>
                  <a:lnTo>
                    <a:pt x="0" y="1008000"/>
                  </a:lnTo>
                  <a:lnTo>
                    <a:pt x="31750" y="1008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9CC1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5454512" y="3299348"/>
            <a:ext cx="463867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9CC15"/>
                </a:solidFill>
                <a:latin typeface="Arial"/>
                <a:cs typeface="Arial"/>
              </a:rPr>
              <a:t>GOOGLE</a:t>
            </a:r>
            <a:r>
              <a:rPr dirty="0" sz="850" spc="-40" b="1">
                <a:solidFill>
                  <a:srgbClr val="F9CC15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F9CC15"/>
                </a:solidFill>
                <a:latin typeface="Arial"/>
                <a:cs typeface="Arial"/>
              </a:rPr>
              <a:t>RESEARCH</a:t>
            </a:r>
            <a:endParaRPr sz="85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880"/>
              </a:spcBef>
            </a:pPr>
            <a:r>
              <a:rPr dirty="0" sz="650">
                <a:solidFill>
                  <a:srgbClr val="445466"/>
                </a:solidFill>
                <a:latin typeface="Courier New"/>
                <a:cs typeface="Courier New"/>
              </a:rPr>
              <a:t>DATA &amp; </a:t>
            </a:r>
            <a:r>
              <a:rPr dirty="0" sz="650" spc="-10">
                <a:solidFill>
                  <a:srgbClr val="445466"/>
                </a:solidFill>
                <a:latin typeface="Courier New"/>
                <a:cs typeface="Courier New"/>
              </a:rPr>
              <a:t>STATISTICS</a:t>
            </a:r>
            <a:endParaRPr sz="650">
              <a:latin typeface="Courier New"/>
              <a:cs typeface="Courier New"/>
            </a:endParaRPr>
          </a:p>
          <a:p>
            <a:pPr marL="142875" marR="553720">
              <a:lnSpc>
                <a:spcPct val="132300"/>
              </a:lnSpc>
              <a:spcBef>
                <a:spcPts val="53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Sourcing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cybercrime statistics, real-world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scam examples, and best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practices in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cybersecurity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awareness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training.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72824" y="4424824"/>
            <a:ext cx="9546590" cy="510540"/>
            <a:chOff x="572824" y="4424824"/>
            <a:chExt cx="9546590" cy="510540"/>
          </a:xfrm>
        </p:grpSpPr>
        <p:sp>
          <p:nvSpPr>
            <p:cNvPr id="193" name="object 193"/>
            <p:cNvSpPr/>
            <p:nvPr/>
          </p:nvSpPr>
          <p:spPr>
            <a:xfrm>
              <a:off x="575999" y="4427999"/>
              <a:ext cx="9540240" cy="504190"/>
            </a:xfrm>
            <a:custGeom>
              <a:avLst/>
              <a:gdLst/>
              <a:ahLst/>
              <a:cxnLst/>
              <a:rect l="l" t="t" r="r" b="b"/>
              <a:pathLst>
                <a:path w="9540240" h="50418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099"/>
                  </a:lnTo>
                  <a:lnTo>
                    <a:pt x="0" y="465900"/>
                  </a:lnTo>
                  <a:lnTo>
                    <a:pt x="2991" y="480739"/>
                  </a:lnTo>
                  <a:lnTo>
                    <a:pt x="11151" y="492848"/>
                  </a:lnTo>
                  <a:lnTo>
                    <a:pt x="23261" y="501009"/>
                  </a:lnTo>
                  <a:lnTo>
                    <a:pt x="38100" y="504000"/>
                  </a:lnTo>
                  <a:lnTo>
                    <a:pt x="9501899" y="504000"/>
                  </a:lnTo>
                  <a:lnTo>
                    <a:pt x="9516738" y="501009"/>
                  </a:lnTo>
                  <a:lnTo>
                    <a:pt x="9528847" y="492848"/>
                  </a:lnTo>
                  <a:lnTo>
                    <a:pt x="9537008" y="480739"/>
                  </a:lnTo>
                  <a:lnTo>
                    <a:pt x="9539999" y="465900"/>
                  </a:lnTo>
                  <a:lnTo>
                    <a:pt x="9539999" y="38099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75999" y="4427999"/>
              <a:ext cx="9540240" cy="504190"/>
            </a:xfrm>
            <a:custGeom>
              <a:avLst/>
              <a:gdLst/>
              <a:ahLst/>
              <a:cxnLst/>
              <a:rect l="l" t="t" r="r" b="b"/>
              <a:pathLst>
                <a:path w="9540240" h="504189">
                  <a:moveTo>
                    <a:pt x="38100" y="504000"/>
                  </a:moveTo>
                  <a:lnTo>
                    <a:pt x="9501899" y="504000"/>
                  </a:lnTo>
                  <a:lnTo>
                    <a:pt x="9516738" y="501009"/>
                  </a:lnTo>
                  <a:lnTo>
                    <a:pt x="9528847" y="492848"/>
                  </a:lnTo>
                  <a:lnTo>
                    <a:pt x="9537008" y="480739"/>
                  </a:lnTo>
                  <a:lnTo>
                    <a:pt x="9539999" y="465900"/>
                  </a:lnTo>
                  <a:lnTo>
                    <a:pt x="9539999" y="38099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099"/>
                  </a:lnTo>
                  <a:lnTo>
                    <a:pt x="0" y="465900"/>
                  </a:lnTo>
                  <a:lnTo>
                    <a:pt x="2991" y="480739"/>
                  </a:lnTo>
                  <a:lnTo>
                    <a:pt x="11151" y="492848"/>
                  </a:lnTo>
                  <a:lnTo>
                    <a:pt x="23261" y="501009"/>
                  </a:lnTo>
                  <a:lnTo>
                    <a:pt x="38100" y="504000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575999" y="4428000"/>
              <a:ext cx="31750" cy="504190"/>
            </a:xfrm>
            <a:custGeom>
              <a:avLst/>
              <a:gdLst/>
              <a:ahLst/>
              <a:cxnLst/>
              <a:rect l="l" t="t" r="r" b="b"/>
              <a:pathLst>
                <a:path w="31750" h="504189">
                  <a:moveTo>
                    <a:pt x="31750" y="0"/>
                  </a:moveTo>
                  <a:lnTo>
                    <a:pt x="0" y="0"/>
                  </a:lnTo>
                  <a:lnTo>
                    <a:pt x="0" y="504000"/>
                  </a:lnTo>
                  <a:lnTo>
                    <a:pt x="31750" y="50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6" name="object 196"/>
          <p:cNvSpPr txBox="1"/>
          <p:nvPr/>
        </p:nvSpPr>
        <p:spPr>
          <a:xfrm>
            <a:off x="612512" y="4506400"/>
            <a:ext cx="9480550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COMBINED</a:t>
            </a:r>
            <a:r>
              <a:rPr dirty="0" sz="700" spc="-50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AI</a:t>
            </a:r>
            <a:r>
              <a:rPr dirty="0" sz="700" spc="-50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+</a:t>
            </a:r>
            <a:r>
              <a:rPr dirty="0" sz="700" spc="-45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HUMAN</a:t>
            </a:r>
            <a:r>
              <a:rPr dirty="0" sz="700" spc="-50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INTELLIGENCE</a:t>
            </a:r>
            <a:r>
              <a:rPr dirty="0" sz="700" spc="-45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00C8FF"/>
                </a:solidFill>
                <a:latin typeface="Courier New"/>
                <a:cs typeface="Courier New"/>
              </a:rPr>
              <a:t>APPROACH</a:t>
            </a:r>
            <a:endParaRPr sz="700">
              <a:latin typeface="Courier New"/>
              <a:cs typeface="Courier New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Multiple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AI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tools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were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used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collaboratively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alongside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team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research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human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insight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—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ensuring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accuracy,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realism,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impact.</a:t>
            </a:r>
            <a:endParaRPr sz="800">
              <a:latin typeface="Arial"/>
              <a:cs typeface="Arial"/>
            </a:endParaRPr>
          </a:p>
        </p:txBody>
      </p:sp>
      <p:sp>
        <p:nvSpPr>
          <p:cNvPr id="197" name="object 19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198" name="object 19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>09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1944370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35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FUTURE</a:t>
            </a:r>
            <a:r>
              <a:rPr dirty="0" sz="700" spc="-35">
                <a:solidFill>
                  <a:srgbClr val="336687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ROADMAP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What's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Next?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47676" y="1127649"/>
            <a:ext cx="847090" cy="12700"/>
            <a:chOff x="1647676" y="1127649"/>
            <a:chExt cx="847090" cy="12700"/>
          </a:xfrm>
        </p:grpSpPr>
        <p:sp>
          <p:nvSpPr>
            <p:cNvPr id="10" name="object 10"/>
            <p:cNvSpPr/>
            <p:nvPr/>
          </p:nvSpPr>
          <p:spPr>
            <a:xfrm>
              <a:off x="164767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65826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1C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66884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67942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5C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69001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8C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70059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AB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71118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CB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72176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EB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73234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FB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74293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1B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75351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5B8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76410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6B8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77468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8B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78527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AB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79585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CB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0643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B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81702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1B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82760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A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83819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4AE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84877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6A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85935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AA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86994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BA8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88052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DA8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89111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FA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90169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1A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91228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4A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92286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6A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93344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8A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94403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A9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95461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B9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96520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F9C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97578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19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98637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29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99695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9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00753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69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01812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99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02870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B9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03929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D9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04987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F9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06045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8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07104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48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08162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68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09221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78A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10279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98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11338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B8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12396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D8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13454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08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14513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28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15571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48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16630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68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17688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98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18746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B7E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19805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D7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20863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E7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21922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07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22980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27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24039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57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25097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77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26155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97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27214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B7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28272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E7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29331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070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30389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26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31447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36D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32506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56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33564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76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34623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96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235681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C6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236740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E66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37798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06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38856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362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239915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56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240973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76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242032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95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243090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A5D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244148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C5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245207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E5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46265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15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247324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35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248382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556F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1" name="object 171"/>
          <p:cNvGrpSpPr/>
          <p:nvPr/>
        </p:nvGrpSpPr>
        <p:grpSpPr>
          <a:xfrm>
            <a:off x="572824" y="1688825"/>
            <a:ext cx="9546590" cy="618490"/>
            <a:chOff x="572824" y="1688825"/>
            <a:chExt cx="9546590" cy="618490"/>
          </a:xfrm>
        </p:grpSpPr>
        <p:sp>
          <p:nvSpPr>
            <p:cNvPr id="172" name="object 172"/>
            <p:cNvSpPr/>
            <p:nvPr/>
          </p:nvSpPr>
          <p:spPr>
            <a:xfrm>
              <a:off x="575999" y="1692000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899"/>
                  </a:lnTo>
                  <a:lnTo>
                    <a:pt x="2991" y="588737"/>
                  </a:lnTo>
                  <a:lnTo>
                    <a:pt x="11151" y="600847"/>
                  </a:lnTo>
                  <a:lnTo>
                    <a:pt x="23261" y="609007"/>
                  </a:lnTo>
                  <a:lnTo>
                    <a:pt x="38100" y="611999"/>
                  </a:lnTo>
                  <a:lnTo>
                    <a:pt x="9501899" y="611999"/>
                  </a:lnTo>
                  <a:lnTo>
                    <a:pt x="9516738" y="609007"/>
                  </a:lnTo>
                  <a:lnTo>
                    <a:pt x="9528847" y="600847"/>
                  </a:lnTo>
                  <a:lnTo>
                    <a:pt x="9537008" y="588737"/>
                  </a:lnTo>
                  <a:lnTo>
                    <a:pt x="9539999" y="573899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575999" y="1692000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1999"/>
                  </a:moveTo>
                  <a:lnTo>
                    <a:pt x="9501899" y="611999"/>
                  </a:lnTo>
                  <a:lnTo>
                    <a:pt x="9516738" y="609007"/>
                  </a:lnTo>
                  <a:lnTo>
                    <a:pt x="9528847" y="600847"/>
                  </a:lnTo>
                  <a:lnTo>
                    <a:pt x="9537008" y="588737"/>
                  </a:lnTo>
                  <a:lnTo>
                    <a:pt x="9539999" y="573899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899"/>
                  </a:lnTo>
                  <a:lnTo>
                    <a:pt x="2991" y="588737"/>
                  </a:lnTo>
                  <a:lnTo>
                    <a:pt x="11151" y="600847"/>
                  </a:lnTo>
                  <a:lnTo>
                    <a:pt x="23261" y="609007"/>
                  </a:lnTo>
                  <a:lnTo>
                    <a:pt x="38100" y="611999"/>
                  </a:lnTo>
                  <a:close/>
                </a:path>
              </a:pathLst>
            </a:custGeom>
            <a:ln w="6350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1691999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5" name="object 17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00" y="1872000"/>
              <a:ext cx="252000" cy="251999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1116000" y="179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7" name="object 177"/>
          <p:cNvSpPr txBox="1"/>
          <p:nvPr/>
        </p:nvSpPr>
        <p:spPr>
          <a:xfrm>
            <a:off x="587112" y="1924999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21C45D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21C45D"/>
                </a:solidFill>
                <a:latin typeface="Courier New"/>
                <a:cs typeface="Courier New"/>
              </a:rPr>
              <a:t> </a:t>
            </a:r>
            <a:r>
              <a:rPr dirty="0" baseline="-11904" sz="1050" spc="-75" b="1">
                <a:solidFill>
                  <a:srgbClr val="21C45D"/>
                </a:solidFill>
                <a:latin typeface="Courier New"/>
                <a:cs typeface="Courier New"/>
              </a:rPr>
              <a:t>1</a:t>
            </a:r>
            <a:r>
              <a:rPr dirty="0" baseline="-11904" sz="1050" b="1">
                <a:solidFill>
                  <a:srgbClr val="21C45D"/>
                </a:solidFill>
                <a:latin typeface="Courier New"/>
                <a:cs typeface="Courier New"/>
              </a:rPr>
              <a:t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>Current: 5-level game with Behavioural Analysis Engine — fully 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functional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78" name="object 178"/>
          <p:cNvGrpSpPr/>
          <p:nvPr/>
        </p:nvGrpSpPr>
        <p:grpSpPr>
          <a:xfrm>
            <a:off x="572824" y="2408825"/>
            <a:ext cx="9546590" cy="618490"/>
            <a:chOff x="572824" y="2408825"/>
            <a:chExt cx="9546590" cy="618490"/>
          </a:xfrm>
        </p:grpSpPr>
        <p:sp>
          <p:nvSpPr>
            <p:cNvPr id="179" name="object 179"/>
            <p:cNvSpPr/>
            <p:nvPr/>
          </p:nvSpPr>
          <p:spPr>
            <a:xfrm>
              <a:off x="575999" y="2412000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899"/>
                  </a:lnTo>
                  <a:lnTo>
                    <a:pt x="2991" y="588737"/>
                  </a:lnTo>
                  <a:lnTo>
                    <a:pt x="11151" y="600847"/>
                  </a:lnTo>
                  <a:lnTo>
                    <a:pt x="23261" y="609007"/>
                  </a:lnTo>
                  <a:lnTo>
                    <a:pt x="38100" y="611999"/>
                  </a:lnTo>
                  <a:lnTo>
                    <a:pt x="9501899" y="611999"/>
                  </a:lnTo>
                  <a:lnTo>
                    <a:pt x="9516738" y="609007"/>
                  </a:lnTo>
                  <a:lnTo>
                    <a:pt x="9528847" y="600847"/>
                  </a:lnTo>
                  <a:lnTo>
                    <a:pt x="9537008" y="588737"/>
                  </a:lnTo>
                  <a:lnTo>
                    <a:pt x="9539999" y="573899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75999" y="2412000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1999"/>
                  </a:moveTo>
                  <a:lnTo>
                    <a:pt x="9501899" y="611999"/>
                  </a:lnTo>
                  <a:lnTo>
                    <a:pt x="9516738" y="609007"/>
                  </a:lnTo>
                  <a:lnTo>
                    <a:pt x="9528847" y="600847"/>
                  </a:lnTo>
                  <a:lnTo>
                    <a:pt x="9537008" y="588737"/>
                  </a:lnTo>
                  <a:lnTo>
                    <a:pt x="9539999" y="573899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899"/>
                  </a:lnTo>
                  <a:lnTo>
                    <a:pt x="2991" y="588737"/>
                  </a:lnTo>
                  <a:lnTo>
                    <a:pt x="11151" y="600847"/>
                  </a:lnTo>
                  <a:lnTo>
                    <a:pt x="23261" y="609007"/>
                  </a:lnTo>
                  <a:lnTo>
                    <a:pt x="38100" y="611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575999" y="2411999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2" name="object 18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00" y="2591999"/>
              <a:ext cx="252000" cy="251999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1116000" y="251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4" name="object 184"/>
          <p:cNvSpPr txBox="1"/>
          <p:nvPr/>
        </p:nvSpPr>
        <p:spPr>
          <a:xfrm>
            <a:off x="587112" y="2644999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00C8FF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00C8FF"/>
                </a:solidFill>
                <a:latin typeface="Courier New"/>
                <a:cs typeface="Courier New"/>
              </a:rPr>
              <a:t> </a:t>
            </a:r>
            <a:r>
              <a:rPr dirty="0" baseline="-11904" sz="1050" spc="-75" b="1">
                <a:solidFill>
                  <a:srgbClr val="00C8FF"/>
                </a:solidFill>
                <a:latin typeface="Courier New"/>
                <a:cs typeface="Courier New"/>
              </a:rPr>
              <a:t>2</a:t>
            </a:r>
            <a:r>
              <a:rPr dirty="0" baseline="-11904" sz="1050" b="1">
                <a:solidFill>
                  <a:srgbClr val="00C8FF"/>
                </a:solidFill>
                <a:latin typeface="Courier New"/>
                <a:cs typeface="Courier New"/>
              </a:rPr>
              <a:t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>Real-time AI via Claude API for dynamic scenario 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generation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85" name="object 185"/>
          <p:cNvGrpSpPr/>
          <p:nvPr/>
        </p:nvGrpSpPr>
        <p:grpSpPr>
          <a:xfrm>
            <a:off x="572824" y="3128824"/>
            <a:ext cx="9546590" cy="618490"/>
            <a:chOff x="572824" y="3128824"/>
            <a:chExt cx="9546590" cy="618490"/>
          </a:xfrm>
        </p:grpSpPr>
        <p:sp>
          <p:nvSpPr>
            <p:cNvPr id="186" name="object 186"/>
            <p:cNvSpPr/>
            <p:nvPr/>
          </p:nvSpPr>
          <p:spPr>
            <a:xfrm>
              <a:off x="575999" y="313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575999" y="313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2000"/>
                  </a:move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575999" y="3132000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8000" y="3311999"/>
              <a:ext cx="252000" cy="251999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1116000" y="323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587112" y="3364999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A854F6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A854F6"/>
                </a:solidFill>
                <a:latin typeface="Courier New"/>
                <a:cs typeface="Courier New"/>
              </a:rPr>
              <a:t> </a:t>
            </a:r>
            <a:r>
              <a:rPr dirty="0" baseline="-11904" sz="1050" spc="-75" b="1">
                <a:solidFill>
                  <a:srgbClr val="A854F6"/>
                </a:solidFill>
                <a:latin typeface="Courier New"/>
                <a:cs typeface="Courier New"/>
              </a:rPr>
              <a:t>3</a:t>
            </a:r>
            <a:r>
              <a:rPr dirty="0" baseline="-11904" sz="1050" b="1">
                <a:solidFill>
                  <a:srgbClr val="A854F6"/>
                </a:solidFill>
                <a:latin typeface="Courier New"/>
                <a:cs typeface="Courier New"/>
              </a:rPr>
              <a:t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>Multiplayer competitive mode — teams compete in real </a:t>
            </a:r>
            <a:r>
              <a:rPr dirty="0" sz="900" spc="-20">
                <a:solidFill>
                  <a:srgbClr val="E9E9E9"/>
                </a:solidFill>
                <a:latin typeface="Arial"/>
                <a:cs typeface="Arial"/>
              </a:rPr>
              <a:t>time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72824" y="3848824"/>
            <a:ext cx="9546590" cy="618490"/>
            <a:chOff x="572824" y="3848824"/>
            <a:chExt cx="9546590" cy="618490"/>
          </a:xfrm>
        </p:grpSpPr>
        <p:sp>
          <p:nvSpPr>
            <p:cNvPr id="193" name="object 193"/>
            <p:cNvSpPr/>
            <p:nvPr/>
          </p:nvSpPr>
          <p:spPr>
            <a:xfrm>
              <a:off x="575999" y="385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75999" y="385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2000"/>
                  </a:move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close/>
                </a:path>
              </a:pathLst>
            </a:custGeom>
            <a:ln w="6349">
              <a:solidFill>
                <a:srgbClr val="F9CC1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575999" y="3852000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9CC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8000" y="4031999"/>
              <a:ext cx="252000" cy="251999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1116000" y="395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8" name="object 198"/>
          <p:cNvSpPr txBox="1"/>
          <p:nvPr/>
        </p:nvSpPr>
        <p:spPr>
          <a:xfrm>
            <a:off x="587112" y="4085000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F9CC15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F9CC15"/>
                </a:solidFill>
                <a:latin typeface="Courier New"/>
                <a:cs typeface="Courier New"/>
              </a:rPr>
              <a:t> </a:t>
            </a:r>
            <a:r>
              <a:rPr dirty="0" baseline="-11904" sz="1050" spc="-75" b="1">
                <a:solidFill>
                  <a:srgbClr val="F9CC15"/>
                </a:solidFill>
                <a:latin typeface="Courier New"/>
                <a:cs typeface="Courier New"/>
              </a:rPr>
              <a:t>4</a:t>
            </a:r>
            <a:r>
              <a:rPr dirty="0" baseline="-11904" sz="1050" b="1">
                <a:solidFill>
                  <a:srgbClr val="F9CC15"/>
                </a:solidFill>
                <a:latin typeface="Courier New"/>
                <a:cs typeface="Courier New"/>
              </a:rPr>
              <a:t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>School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>curriculum integration + digital certificate 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system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9" name="object 199"/>
          <p:cNvGrpSpPr/>
          <p:nvPr/>
        </p:nvGrpSpPr>
        <p:grpSpPr>
          <a:xfrm>
            <a:off x="572824" y="4568824"/>
            <a:ext cx="9546590" cy="618490"/>
            <a:chOff x="572824" y="4568824"/>
            <a:chExt cx="9546590" cy="618490"/>
          </a:xfrm>
        </p:grpSpPr>
        <p:sp>
          <p:nvSpPr>
            <p:cNvPr id="200" name="object 200"/>
            <p:cNvSpPr/>
            <p:nvPr/>
          </p:nvSpPr>
          <p:spPr>
            <a:xfrm>
              <a:off x="575999" y="457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575999" y="457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2000"/>
                  </a:move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close/>
                </a:path>
              </a:pathLst>
            </a:custGeom>
            <a:ln w="6349">
              <a:solidFill>
                <a:srgbClr val="FF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575999" y="4571999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F3B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8000" y="4751999"/>
              <a:ext cx="252000" cy="252001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1116000" y="467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587112" y="4805000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FF3B3B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FF3B3B"/>
                </a:solidFill>
                <a:latin typeface="Courier New"/>
                <a:cs typeface="Courier New"/>
              </a:rPr>
              <a:t> </a:t>
            </a:r>
            <a:r>
              <a:rPr dirty="0" baseline="-11904" sz="1050" spc="-75" b="1">
                <a:solidFill>
                  <a:srgbClr val="FF3B3B"/>
                </a:solidFill>
                <a:latin typeface="Courier New"/>
                <a:cs typeface="Courier New"/>
              </a:rPr>
              <a:t>5</a:t>
            </a:r>
            <a:r>
              <a:rPr dirty="0" baseline="-11904" sz="1050" b="1">
                <a:solidFill>
                  <a:srgbClr val="FF3B3B"/>
                </a:solidFill>
                <a:latin typeface="Courier New"/>
                <a:cs typeface="Courier New"/>
              </a:rPr>
              <a:t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>React Native mobile app — available on iOS &amp; 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Android</a:t>
            </a:r>
            <a:endParaRPr sz="900">
              <a:latin typeface="Arial"/>
              <a:cs typeface="Arial"/>
            </a:endParaRPr>
          </a:p>
        </p:txBody>
      </p:sp>
      <p:sp>
        <p:nvSpPr>
          <p:cNvPr id="206" name="object 20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07" name="object 20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>10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1999" y="2267999"/>
            <a:ext cx="1367999" cy="13679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470972" y="3737699"/>
            <a:ext cx="3750310" cy="875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800" spc="20">
                <a:solidFill>
                  <a:srgbClr val="33445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334454"/>
                </a:solidFill>
                <a:latin typeface="Courier New"/>
                <a:cs typeface="Courier New"/>
              </a:rPr>
              <a:t>CLOSING</a:t>
            </a:r>
            <a:r>
              <a:rPr dirty="0" sz="800" spc="20">
                <a:solidFill>
                  <a:srgbClr val="33445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334454"/>
                </a:solidFill>
                <a:latin typeface="Courier New"/>
                <a:cs typeface="Courier New"/>
              </a:rPr>
              <a:t>STATEMENT</a:t>
            </a:r>
            <a:endParaRPr sz="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3200" b="1">
                <a:solidFill>
                  <a:srgbClr val="00C8FF"/>
                </a:solidFill>
                <a:latin typeface="Arial"/>
                <a:cs typeface="Arial"/>
              </a:rPr>
              <a:t>HUMAN</a:t>
            </a:r>
            <a:r>
              <a:rPr dirty="0" sz="3200" spc="-120" b="1">
                <a:solidFill>
                  <a:srgbClr val="00C8FF"/>
                </a:solidFill>
                <a:latin typeface="Arial"/>
                <a:cs typeface="Arial"/>
              </a:rPr>
              <a:t> </a:t>
            </a:r>
            <a:r>
              <a:rPr dirty="0" sz="3200" spc="-10" b="1">
                <a:solidFill>
                  <a:srgbClr val="00C8FF"/>
                </a:solidFill>
                <a:latin typeface="Arial"/>
                <a:cs typeface="Arial"/>
              </a:rPr>
              <a:t>FIREWALL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dirty="0" sz="1100">
                <a:solidFill>
                  <a:srgbClr val="A78AF9"/>
                </a:solidFill>
                <a:latin typeface="Arial"/>
                <a:cs typeface="Arial"/>
              </a:rPr>
              <a:t>CHALLENGE</a:t>
            </a:r>
            <a:r>
              <a:rPr dirty="0" sz="1100" spc="-70">
                <a:solidFill>
                  <a:srgbClr val="A78AF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A78AF9"/>
                </a:solidFill>
                <a:latin typeface="Arial"/>
                <a:cs typeface="Arial"/>
              </a:rPr>
              <a:t>ACCEPTED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45999" y="4708380"/>
            <a:ext cx="3600450" cy="15240"/>
            <a:chOff x="3545999" y="4708380"/>
            <a:chExt cx="3600450" cy="15240"/>
          </a:xfrm>
        </p:grpSpPr>
        <p:sp>
          <p:nvSpPr>
            <p:cNvPr id="11" name="object 11"/>
            <p:cNvSpPr/>
            <p:nvPr/>
          </p:nvSpPr>
          <p:spPr>
            <a:xfrm>
              <a:off x="354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59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63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68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72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77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81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6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90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95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99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04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08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13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17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22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26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31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35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40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44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49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53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58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62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67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71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76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80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85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89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94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98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03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07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12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16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21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25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30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34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39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43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48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52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57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61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66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70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75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79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84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88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93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97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602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06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11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15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20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24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29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33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38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42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47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51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56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60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65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69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74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678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83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87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92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696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701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705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710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1" name="object 91"/>
          <p:cNvGrpSpPr/>
          <p:nvPr/>
        </p:nvGrpSpPr>
        <p:grpSpPr>
          <a:xfrm>
            <a:off x="1291554" y="4783554"/>
            <a:ext cx="8108950" cy="728980"/>
            <a:chOff x="1291554" y="4783554"/>
            <a:chExt cx="8108950" cy="728980"/>
          </a:xfrm>
        </p:grpSpPr>
        <p:sp>
          <p:nvSpPr>
            <p:cNvPr id="92" name="object 92"/>
            <p:cNvSpPr/>
            <p:nvPr/>
          </p:nvSpPr>
          <p:spPr>
            <a:xfrm>
              <a:off x="1295999" y="4787999"/>
              <a:ext cx="8100059" cy="720090"/>
            </a:xfrm>
            <a:custGeom>
              <a:avLst/>
              <a:gdLst/>
              <a:ahLst/>
              <a:cxnLst/>
              <a:rect l="l" t="t" r="r" b="b"/>
              <a:pathLst>
                <a:path w="8100059" h="720089">
                  <a:moveTo>
                    <a:pt x="80492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669199"/>
                  </a:lnTo>
                  <a:lnTo>
                    <a:pt x="3988" y="688984"/>
                  </a:lnTo>
                  <a:lnTo>
                    <a:pt x="14869" y="705130"/>
                  </a:lnTo>
                  <a:lnTo>
                    <a:pt x="31015" y="716011"/>
                  </a:lnTo>
                  <a:lnTo>
                    <a:pt x="50800" y="719999"/>
                  </a:lnTo>
                  <a:lnTo>
                    <a:pt x="8049200" y="719999"/>
                  </a:lnTo>
                  <a:lnTo>
                    <a:pt x="8068985" y="716011"/>
                  </a:lnTo>
                  <a:lnTo>
                    <a:pt x="8085131" y="705130"/>
                  </a:lnTo>
                  <a:lnTo>
                    <a:pt x="8096011" y="688984"/>
                  </a:lnTo>
                  <a:lnTo>
                    <a:pt x="8100000" y="669199"/>
                  </a:lnTo>
                  <a:lnTo>
                    <a:pt x="8100000" y="50800"/>
                  </a:lnTo>
                  <a:lnTo>
                    <a:pt x="8096011" y="31015"/>
                  </a:lnTo>
                  <a:lnTo>
                    <a:pt x="8085131" y="14869"/>
                  </a:lnTo>
                  <a:lnTo>
                    <a:pt x="8068985" y="3988"/>
                  </a:lnTo>
                  <a:lnTo>
                    <a:pt x="8049200" y="0"/>
                  </a:lnTo>
                  <a:close/>
                </a:path>
              </a:pathLst>
            </a:custGeom>
            <a:solidFill>
              <a:srgbClr val="030E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295999" y="4787999"/>
              <a:ext cx="8100059" cy="720090"/>
            </a:xfrm>
            <a:custGeom>
              <a:avLst/>
              <a:gdLst/>
              <a:ahLst/>
              <a:cxnLst/>
              <a:rect l="l" t="t" r="r" b="b"/>
              <a:pathLst>
                <a:path w="8100059" h="720089">
                  <a:moveTo>
                    <a:pt x="50800" y="719999"/>
                  </a:moveTo>
                  <a:lnTo>
                    <a:pt x="8049200" y="719999"/>
                  </a:lnTo>
                  <a:lnTo>
                    <a:pt x="8068985" y="716011"/>
                  </a:lnTo>
                  <a:lnTo>
                    <a:pt x="8085131" y="705130"/>
                  </a:lnTo>
                  <a:lnTo>
                    <a:pt x="8096011" y="688984"/>
                  </a:lnTo>
                  <a:lnTo>
                    <a:pt x="8100000" y="669199"/>
                  </a:lnTo>
                  <a:lnTo>
                    <a:pt x="8100000" y="50800"/>
                  </a:lnTo>
                  <a:lnTo>
                    <a:pt x="8096011" y="31015"/>
                  </a:lnTo>
                  <a:lnTo>
                    <a:pt x="8085131" y="14869"/>
                  </a:lnTo>
                  <a:lnTo>
                    <a:pt x="8068985" y="3988"/>
                  </a:lnTo>
                  <a:lnTo>
                    <a:pt x="8049200" y="0"/>
                  </a:ln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669199"/>
                  </a:lnTo>
                  <a:lnTo>
                    <a:pt x="3988" y="688984"/>
                  </a:lnTo>
                  <a:lnTo>
                    <a:pt x="14869" y="705130"/>
                  </a:lnTo>
                  <a:lnTo>
                    <a:pt x="31015" y="716011"/>
                  </a:lnTo>
                  <a:lnTo>
                    <a:pt x="50800" y="719999"/>
                  </a:lnTo>
                  <a:close/>
                </a:path>
              </a:pathLst>
            </a:custGeom>
            <a:ln w="8890">
              <a:solidFill>
                <a:srgbClr val="00FF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/>
          <p:cNvSpPr txBox="1"/>
          <p:nvPr/>
        </p:nvSpPr>
        <p:spPr>
          <a:xfrm>
            <a:off x="1302438" y="4923599"/>
            <a:ext cx="8087359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"Cyber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Shield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doesn't</a:t>
            </a:r>
            <a:r>
              <a:rPr dirty="0" sz="1100" spc="-5" b="1" i="1">
                <a:solidFill>
                  <a:srgbClr val="00FF9C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just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detect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scams</a:t>
            </a:r>
            <a:r>
              <a:rPr dirty="0" sz="1100" spc="-5" b="1" i="1">
                <a:solidFill>
                  <a:srgbClr val="00FF9C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—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it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trains</a:t>
            </a:r>
            <a:r>
              <a:rPr dirty="0" sz="1100" spc="-5" b="1" i="1">
                <a:solidFill>
                  <a:srgbClr val="00FF9C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users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to</a:t>
            </a:r>
            <a:r>
              <a:rPr dirty="0" sz="1100" spc="-5" b="1" i="1">
                <a:solidFill>
                  <a:srgbClr val="00FF9C"/>
                </a:solidFill>
                <a:latin typeface="Arial"/>
                <a:cs typeface="Arial"/>
              </a:rPr>
              <a:t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resist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> them."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—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TEAM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CYBER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SHIELD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·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GROUP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45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·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WOMEN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TECHSTERS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BOOTCAMP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·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COHORT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5.0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·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> </a:t>
            </a:r>
            <a:r>
              <a:rPr dirty="0" sz="700" spc="-20">
                <a:solidFill>
                  <a:srgbClr val="214433"/>
                </a:solidFill>
                <a:latin typeface="Courier New"/>
                <a:cs typeface="Courier New"/>
              </a:rPr>
              <a:t>2026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63299" y="7352575"/>
            <a:ext cx="2849245" cy="119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z="650" spc="-10">
                <a:solidFill>
                  <a:srgbClr val="1D2F4F"/>
                </a:solidFill>
                <a:latin typeface="Courier New"/>
                <a:cs typeface="Courier New"/>
              </a:rPr>
              <a:t>github.com/ftlcollective/Cybershield_project_WTB5.0_grp45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ACCE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2026-03-18T07:59:05Z</dcterms:created>
  <dcterms:modified xsi:type="dcterms:W3CDTF">2026-03-18T07:59:05Z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2026-03-18T00:00:00Z</vt:filetime>
  </property>
  <property fmtid="{D5CDD505-2E9C-101B-9397-08002B2CF9AE}" pid="3" name="Producer">
    <vt:lpwstr>pypdf</vt:lpwstr>
  </property>
  <property fmtid="{D5CDD505-2E9C-101B-9397-08002B2CF9AE}" pid="4" name="LastSaved">
    <vt:filetime>2026-03-18T00:00:00Z</vt:filetime>
  </property>
</Properties>
</file>